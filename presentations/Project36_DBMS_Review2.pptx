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aa86e6f-9fcf-a999-94a3-615040ec5521}">
          <p14:sldIdLst>
            <p14:sldId id="256"/>
            <p14:sldId id="257"/>
          </p14:sldIdLst>
        </p14:section>
        <p14:section name="Architecture" id="{f1d0c536-cdb4-bdb3-64b9-7f09b629a004}">
          <p14:sldIdLst>
            <p14:sldId id="258"/>
            <p14:sldId id="259"/>
          </p14:sldIdLst>
        </p14:section>
        <p14:section name="Database" id="{e03853e5-b786-08e5-0be2-b40957837f72}">
          <p14:sldIdLst>
            <p14:sldId id="260"/>
            <p14:sldId id="261"/>
            <p14:sldId id="262"/>
            <p14:sldId id="263"/>
            <p14:sldId id="264"/>
            <p14:sldId id="265"/>
            <p14:sldId id="266"/>
            <p14:sldId id="267"/>
          </p14:sldIdLst>
        </p14:section>
        <p14:section name="Application" id="{92b7b058-79e3-a012-2c8a-626c8a2b2cde}">
          <p14:sldIdLst>
            <p14:sldId id="268"/>
            <p14:sldId id="269"/>
          </p14:sldIdLst>
        </p14:section>
        <p14:section name="Prototype" id="{02e1ba13-6e86-9029-b5bb-0a7f0c6fb809}">
          <p14:sldIdLst>
            <p14:sldId id="270"/>
            <p14:sldId id="271"/>
            <p14:sldId id="272"/>
            <p14:sldId id="273"/>
            <p14:sldId id="274"/>
          </p14:sldIdLst>
        </p14:section>
        <p14:section name="Testing" id="{2e9f4f3f-89bd-14fe-7d8b-88a8522a35dd}">
          <p14:sldIdLst>
            <p14:sldId id="275"/>
            <p14:sldId id="276"/>
          </p14:sldIdLst>
        </p14:section>
        <p14:section name="Next steps" id="{c43b7b20-049f-8ed3-32d9-eaf824fa3ed5}">
          <p14:sldIdLst>
            <p14:sldId id="277"/>
          </p14:sldIdLst>
        </p14:section>
        <p14:section name="Closing" id="{0598b27b-297c-671f-0bf6-901feb0c45e4}">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B41"/>
                </a:solidFill>
                <a:latin typeface="+mn-lt"/>
              </a:defRPr>
            </a:pPr>
            <a:r>
              <a:rPr sz="1300" b="0" i="0" u="none" strike="noStrike">
                <a:solidFill>
                  <a:srgbClr val="141B41"/>
                </a:solidFill>
                <a:latin typeface="+mn-lt"/>
              </a:rPr>
              <a:t>Automated tests by suite</a:t>
            </a:r>
          </a:p>
        </c:rich>
      </c:tx>
      <c:layout/>
      <c:overlay val="0"/>
    </c:title>
    <c:autoTitleDeleted val="0"/>
    <c:plotArea>
      <c:layout/>
      <c:barChart>
        <c:barDir val="bar"/>
        <c:grouping val="clustered"/>
        <c:varyColors val="0"/>
        <c:ser>
          <c:idx val="0"/>
          <c:order val="0"/>
          <c:tx>
            <c:strRef>
              <c:f>Sheet1!$B$1</c:f>
              <c:strCache>
                <c:ptCount val="1"/>
                <c:pt idx="0">
                  <c:v>Tests passed</c:v>
                </c:pt>
              </c:strCache>
            </c:strRef>
          </c:tx>
          <c:spPr>
            <a:solidFill>
              <a:srgbClr val="3D5A9B"/>
            </a:solidFill>
            <a:effectLst/>
          </c:spPr>
          <c:invertIfNegative val="0"/>
          <c:dLbls>
            <c:numFmt formatCode="#,##0" sourceLinked="0"/>
            <c:txPr>
              <a:bodyPr/>
              <a:lstStyle/>
              <a:p>
                <a:pPr>
                  <a:defRPr b="0" i="0" strike="noStrike" sz="1200" u="none">
                    <a:solidFill>
                      <a:srgbClr val="1B2146"/>
                    </a:solidFill>
                    <a:latin typeface="+mn-lt"/>
                  </a:defRPr>
                </a:pPr>
              </a:p>
            </c:txPr>
            <c:showLegendKey val="0"/>
            <c:showVal val="1"/>
            <c:showCatName val="0"/>
            <c:showSerName val="0"/>
            <c:showPercent val="0"/>
            <c:showBubbleSize val="0"/>
            <c:showLeaderLines val="0"/>
          </c:dLbls>
          <c:cat>
            <c:multiLvlStrRef>
              <c:f>Sheet1!$A$2:$A$5</c:f>
              <c:multiLvlStrCache>
                <c:ptCount val="4"/>
                <c:lvl>
                  <c:pt idx="0">
                    <c:v>Web / CRUD</c:v>
                  </c:pt>
                  <c:pt idx="1">
                    <c:v>Payroll processing</c:v>
                  </c:pt>
                  <c:pt idx="2">
                    <c:v>Database</c:v>
                  </c:pt>
                  <c:pt idx="3">
                    <c:v>Calculation</c:v>
                  </c:pt>
                </c:lvl>
              </c:multiLvlStrCache>
            </c:multiLvlStrRef>
          </c:cat>
          <c:val>
            <c:numRef>
              <c:f>Sheet1!$B$2:$B$5</c:f>
              <c:numCache>
                <c:formatCode>General</c:formatCode>
                <c:ptCount val="4"/>
                <c:pt idx="0">
                  <c:v>17</c:v>
                </c:pt>
                <c:pt idx="1">
                  <c:v>9</c:v>
                </c:pt>
                <c:pt idx="2">
                  <c:v>9</c:v>
                </c:pt>
                <c:pt idx="3">
                  <c:v>5</c:v>
                </c:pt>
              </c:numCache>
            </c:numRef>
          </c:val>
        </c:ser>
        <c:dLbls>
          <c:numFmt formatCode="#,##0" sourceLinked="0"/>
          <c:txPr>
            <a:bodyPr/>
            <a:lstStyle/>
            <a:p>
              <a:pPr>
                <a:defRPr b="0" i="0" strike="noStrike" sz="1200" u="none">
                  <a:solidFill>
                    <a:srgbClr val="1B214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146"/>
                </a:solidFill>
                <a:latin typeface="+mn-lt"/>
              </a:defRPr>
            </a:pPr>
            <a:endParaRPr lang="en-US"/>
          </a:p>
        </c:txPr>
        <c:crossAx val="2094734552"/>
        <c:crosses val="autoZero"/>
        <c:auto val="1"/>
        <c:lblAlgn val="ctr"/>
        <c:noMultiLvlLbl val="1"/>
      </c:catAx>
      <c:valAx>
        <c:axId val="2094734552"/>
        <c:scaling>
          <c:orientation val="minMax"/>
          <c:max val="20"/>
          <c:min val="0"/>
        </c:scaling>
        <c:delete val="0"/>
        <c:axPos val="b"/>
        <c:majorGridlines>
          <c:spPr>
            <a:ln w="6350" cap="flat">
              <a:solidFill>
                <a:srgbClr val="D9E2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694"/>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G Madhan from AI ML Rhinos, and this is DBMS Review 2 for Project 36, the Employee Payroll and Statutory Deduction Management System. In Review 1 I presented the problem, objectives, scope, ER diagram and the initial relational schema. Today I will show how that design became a working database and a running web application, with real screenshots and real test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1 was about analysis and design: the problem, objectives, users, twelve functional requirements, a conceptual ER diagram and a skeleton schema with only primary and foreign keys. Review 2 is about implementation. I kept the same project and the same twelve entities, and extended them where implementation showed a gap: I added a loan repayment table so repayments can really be tracked, and a configuration table so the illustrative deduction rates are editable instead of hard-coded. Review 3 will cover the final demo and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has five simple layers. The browser shows Bootstrap pages and a Chart.js dashboard. Flask routes receive requests; one generic set of views handles add, edit, delete and list for most tables, driven by a configuration file. The business logic lives in two small modules: payroll.py, which calculates and processes payroll, and reports.py, which holds the seven report queries as plain SQL. The data access layer db.py hides the differences between SQLite and MySQL, so all SQL is written once. By default the database is SQLite so the project runs with no setup; MySQL is supported through environment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I used. Python with Flask gives the web layer, and Jinja2 renders the pages. Bootstrap 5 and Bootstrap Icons are stored inside the project, so the app works offline. Chart.js draws the dashboard charts. SQLite is the default database so the prototype runs anywhere; the same SQL and an equivalent MySQL 8 schema are included. I want to be clear that I have written and syntax-checked the MySQL scripts, but in my development environment there was no MySQL server, so the live MySQL run is still on my to-do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has 14 tables, 14 primary keys, 16 foreign keys, 13 unique constraints, 21 check constraints and 7 indexes. For normalisation: every table has a single-column primary key and atomic values, so it is in first normal form. Non-key columns depend on the whole key. For example, the number of loss-of-pay days is not stored in attendance, because it can be derived from working days, days present and paid leave, which avoids update anomalies. Department and designation names live only in their own tables. The one deliberate exception is payroll_detail, which stores the computed results as a snapshot so that old payslips never change when rates or salaries change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Review 1 conceptual diagram turned into the implemented one. Employee is still the centre: one department and one designation per employee, a one-to-one salary structure, and many attendance, earnings, deductions and loan rows. Payroll detail links an employee to a payroll period; each payroll detail has exactly one payslip and one bank transfer. The two additions are loan repayment, which hangs off both loan and payroll detail, and the payroll config table at top left, which holds the editable rates and has no foreign keys. Attendance, earnings and deductions also reference the payroll period, which I did not draw to keep the diagram 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master tables. Department and designation are small lookup tables with unique names. Employee holds personal and bank details and two foreign keys. All bank data is synthetic. Salary structure is one row per employee, enforced by a unique foreign key. Payroll period has a unique name and a unique month and year, and a status that moves from open to processed to paid. Payroll config stores the eight illustrative rates and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tables are the monthly inputs the payroll officer enters. Attendance stores working days, days present and paid leave; a check constraint makes sure present plus leave never exceeds working days. Earnings holds extra pay like bonus and overtime. Deductions holds both manual deductions typed by the officer and automatic rows, which the payroll engine writes for provident fund, ESI, professional tax, income tax and loan EMI; the source column tells them apart. Loan keeps the amount, EMI and the outstanding balance. Employee inputs cascade on delete, but they always restrict deletion of a payroll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tables are written by payroll processing. Payroll detail is the heart of the output: for each employee and period it stores the earnings components, loss of pay, gross, the three deduction groups, total deductions and net salary. I store these values deliberately so a payslip from August stays exactly as it was even if I change a rate in September. Payslip and bank transfer each have a unique foreign key to payroll detail, which makes both one-to-one. Loan repayment records each EMI, linked to the payroll row that deducted it, or to nothing when it is a manual repayment.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excerpt from schema.sql for the payroll detail table; the dots stand for columns I left out to fit the slide. You can see all four kinds of constraint: the primary key, a unique constraint on employee plus period so nobody can be paid twice for the same month, a check constraint that net salary can never be negative, and two foreign keys with RESTRICT so paid history can never be orphaned. The same file also exists in a SQLite version, which a small script generates from the MySQL one, so the two never drift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running init_db.py the database holds thirty synthetic employees across six departments, three payroll periods, ninety attendance records, loans and so on. All data is fictitious: names are random combinations, e-mails use the reserved example.com domain, and bank accounts are made up. Importantly, the payroll rows, payslips, bank transfers, automatic deductions and loan repayments for August and September were not typed in; they were produced by running the application's own payroll engine, so the demo data exercises the real logic. October is left open so I can process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simplified excerpts from database/queries.sql, and the test suite executes the whole file against a copy of the database, so every statement is known to run. Top left is CRUD: insert, update, delete. Top right is a three-table join for the employee directory. Bottom left is group by with a having clause: department payroll cost, only for departments with more than two people. Bottom right is a correlated subquery that compares each employee's gross salary to the average of their own department. The file also contains left joins, not-exists, scalar and derived-table subqueries, a view, and consistency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Calculation follows a simple chain. Fixed gross is basic plus HRA plus DA plus special allowance. Each day of unpaid leave cuts one working day's share of fixed gross. Bonus or overtime for the month is added to give gross salary. Then five deductions are applied: provident fund, ESI, professional tax, an illustrative income tax, and loan EMI, plus any manual deductions. Net salary is gross minus total deductions. I must stress that every rate shown here is illustrative for a university project; they are not official statutory rates, and they can be edited on the settings page and are stored in the payroll_config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honest status of the Review 1 requirements. Every functional requirement from Review 1 is implemented and covered by at least one automated test or screenshot. Bank transfers are simulated: the system records transfer details and status, but it does not connect to a real bank. One thing is not done yet: Review 1 listed four user roles, HR, payroll officer, employee and management, but there is no login or role-based access in this prototype. That is the first item under future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screenshot of the running application. The dashboard shows active employees, the gross, deductions and net totals for the latest processed period, open periods, pending bank transfers and outstanding loans. The bar chart compares gross, deductions and net for each processed month, and the doughnut shows headcount per department. All of these numbers come from SQL aggregate queries on the live database. Customer Support has no employees in the demo data, which is why it shows as an empty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 management supports add, view, update and delete. On the left is the employee list with live search. On the right is the add form: required fields are marked, dropdowns are loaded from the department and designation tables, and the database constraints are checked on save. A duplicate employee code, for example, is rejected by the unique constraint and shown as a friendly message. An employee who already has payroll cannot be deleted; the app tells the user to set the status to inactive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salary structure page: each employee has basic, HRA, DA and special allowance, and fixed gross is calculated by a SQL expression. On the right is attendance for October 2026, with the loss-of-pay column derived in the query from working days, present days and paid leave. Earnings and deductions pages work the same way, and rows in a period that has been processed are locked, so history cannot be edited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loans page lists each loan with its EMI and outstanding balance. Opening a loan shows its repayment history. EMIs are deducted automatically when payroll is processed: the engine writes a repayment row, reduces the outstanding balance, and closes the loan when the balance reaches zero. A payroll officer can also record a manual repayment. In the screenshot on the right you can see loan one with two payroll EMIs, for August and September, each reducing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feature. On the left, October 2026 is open and ready. I click Process payroll and the engine runs for all active employees. On the right is the result: payroll processed for twenty-nine employees with the totals shown, and the period status changes to processed. The twenty-ninth employee count is because one employee in the data is inactive and is skipped. The whole run is one database transaction: if anything fails, nothing is saved. Processing the same period twice is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forty automated tests and all forty pass. Five calculation tests check the payroll formulas against numbers I computed by hand, including a case with loss of pay, a loan and a bonus, and a low-salary case where ESI applies. Nine database tests prove that foreign keys, unique and check constraints really reject bad data. Nine payroll tests check processing end to end: totals are consistent, loans reduce correctly, double processing is refused, and a failed run rolls back completely. Seventeen web tests load all pages and exercise add, edit and delete flows. The full results are saved in tests/test_results.txt. What I have not tested yet: a live MySQL server and browsers other than headless Chromium.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design challenges shaped the implementation. First, MySQL and SQLite differ in small ways, such as auto-increment syntax. I wrote the schema once for MySQL and generate the SQLite file with a script, and I wrote all SQL in a portable subset. Second, rounding: payroll must be exact, so the engine uses decimal arithmetic rounded to paise, and SQLite cannot bind decimals, so the data layer converts them. Third, data consistency: once a month is processed, editing its inputs would make payslips wrong, so processed periods lock their inputs, and processing runs in one transaction. Fourth, Review 1 had no way to record loan repayments, so I added the loan repayment table. Each solution has an automated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planned improvements. The most important is login and roles, because Review 1 defined four user types and the prototype currently has no authentication. Second, I want to run and test the project against a real MySQL 8 server, since so far only the scripts exist. Third, replace the illustrative rates with proper statutory slabs. Others: PDF payslips with e-mail, an audit log of changes, bank file export, and a tax declaration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Review 1 design is now a working system. There is a fourteen-table database with enforced constraints, a Flask application covering every functional requirement, synthetic data, a payroll engine that I verified by hand and by forty automated tests. For Review 3 I will demonstrate the complete payroll workflow live, show the reports and the final results, and discuss limitations.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846320"/>
            <a:ext cx="7680960" cy="201168"/>
          </a:xfrm>
          <a:prstGeom prst="rect">
            <a:avLst/>
          </a:prstGeom>
          <a:noFill/>
          <a:ln/>
        </p:spPr>
        <p:txBody>
          <a:bodyPr wrap="square" lIns="0" tIns="0" rIns="0" bIns="0" rtlCol="0" anchor="ctr"/>
          <a:lstStyle/>
          <a:p>
            <a:pPr indent="0" marL="0">
              <a:buNone/>
            </a:pPr>
            <a:r>
              <a:rPr lang="en-US" sz="900" dirty="0">
                <a:solidFill>
                  <a:schemeClr val="tx1">
                    <a:alpha val="65000"/>
                  </a:schemeClr>
                </a:solidFill>
              </a:rPr>
              <a:t>PROJECT 36  |  EMPLOYEE PAYROLL AND STATUTORY DEDUCTION MANAGEMENT SYSTEM  |  DBMS REVIEW 2</a:t>
            </a:r>
            <a:endParaRPr lang="en-US" sz="9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846320"/>
            <a:ext cx="7680960" cy="201168"/>
          </a:xfrm>
          <a:prstGeom prst="rect">
            <a:avLst/>
          </a:prstGeom>
          <a:noFill/>
          <a:ln/>
        </p:spPr>
        <p:txBody>
          <a:bodyPr wrap="square" lIns="0" tIns="0" rIns="0" bIns="0" rtlCol="0" anchor="ctr"/>
          <a:lstStyle/>
          <a:p>
            <a:pPr indent="0" marL="0">
              <a:buNone/>
            </a:pPr>
            <a:r>
              <a:rPr lang="en-US" sz="900" dirty="0">
                <a:solidFill>
                  <a:schemeClr val="bg1">
                    <a:alpha val="55000"/>
                  </a:schemeClr>
                </a:solidFill>
              </a:rPr>
              <a:t>PROJECT 36  |  EMPLOYEE PAYROLL AND STATUTORY DEDUCTION MANAGEMENT SYSTEM  |  DBMS REVIEW 2</a:t>
            </a:r>
            <a:endParaRPr lang="en-US" sz="9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4.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2.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400800" y="-1828800"/>
            <a:ext cx="4206240" cy="4206240"/>
          </a:xfrm>
          <a:prstGeom prst="ellipse">
            <a:avLst/>
          </a:prstGeom>
          <a:solidFill>
            <a:schemeClr val="accent3"/>
          </a:solidFill>
          <a:ln w="12700">
            <a:solidFill>
              <a:schemeClr val="accent3"/>
            </a:solidFill>
            <a:prstDash val="solid"/>
          </a:ln>
        </p:spPr>
      </p:sp>
      <p:sp>
        <p:nvSpPr>
          <p:cNvPr id="4" name="Shape 1"/>
          <p:cNvSpPr/>
          <p:nvPr/>
        </p:nvSpPr>
        <p:spPr>
          <a:xfrm>
            <a:off x="-1463040" y="3291840"/>
            <a:ext cx="3291840" cy="3291840"/>
          </a:xfrm>
          <a:prstGeom prst="ellipse">
            <a:avLst/>
          </a:prstGeom>
          <a:solidFill>
            <a:schemeClr val="accent3"/>
          </a:solidFill>
          <a:ln w="12700">
            <a:solidFill>
              <a:schemeClr val="accent3"/>
            </a:solidFill>
            <a:prstDash val="solid"/>
          </a:ln>
        </p:spPr>
      </p:sp>
      <p:sp>
        <p:nvSpPr>
          <p:cNvPr id="5" name="Text 2"/>
          <p:cNvSpPr txBox="1"/>
          <p:nvPr/>
        </p:nvSpPr>
        <p:spPr>
          <a:xfrm>
            <a:off x="2743200" y="411480"/>
            <a:ext cx="3657600" cy="329184"/>
          </a:xfrm>
          <a:prstGeom prst="roundRect">
            <a:avLst>
              <a:gd name="adj" fmla="val 41667"/>
            </a:avLst>
          </a:prstGeom>
          <a:solidFill>
            <a:schemeClr val="accent1"/>
          </a:solidFill>
          <a:ln/>
        </p:spPr>
        <p:txBody>
          <a:bodyPr wrap="square" lIns="0" tIns="0" rIns="0" bIns="0" rtlCol="0" anchor="ctr"/>
          <a:lstStyle/>
          <a:p>
            <a:pPr algn="ctr" indent="0" marL="0">
              <a:buNone/>
            </a:pPr>
            <a:r>
              <a:rPr lang="en-US" sz="1100" b="1" dirty="0">
                <a:solidFill>
                  <a:schemeClr val="bg1"/>
                </a:solidFill>
              </a:rPr>
              <a:t>PROJECT 36   |   DBMS REVIEW 2</a:t>
            </a:r>
            <a:endParaRPr lang="en-US" sz="1100" dirty="0"/>
          </a:p>
        </p:txBody>
      </p:sp>
      <p:sp>
        <p:nvSpPr>
          <p:cNvPr id="6" name="Text 3"/>
          <p:cNvSpPr txBox="1"/>
          <p:nvPr/>
        </p:nvSpPr>
        <p:spPr>
          <a:xfrm>
            <a:off x="914400" y="914400"/>
            <a:ext cx="7315200" cy="137160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EMPLOYEE PAYROLL AND STATUTORY DEDUCTION MANAGEMENT SYSTEM</a:t>
            </a:r>
            <a:endParaRPr lang="en-US" sz="3200" dirty="0"/>
          </a:p>
        </p:txBody>
      </p:sp>
      <p:sp>
        <p:nvSpPr>
          <p:cNvPr id="7" name="Text 4"/>
          <p:cNvSpPr txBox="1"/>
          <p:nvPr/>
        </p:nvSpPr>
        <p:spPr>
          <a:xfrm>
            <a:off x="914400" y="2331720"/>
            <a:ext cx="7315200" cy="365760"/>
          </a:xfrm>
          <a:prstGeom prst="rect">
            <a:avLst/>
          </a:prstGeom>
          <a:noFill/>
          <a:ln/>
        </p:spPr>
        <p:txBody>
          <a:bodyPr wrap="square" lIns="0" tIns="0" rIns="0" bIns="0" rtlCol="0" anchor="t"/>
          <a:lstStyle/>
          <a:p>
            <a:pPr algn="ctr" indent="0" marL="0">
              <a:buNone/>
            </a:pPr>
            <a:r>
              <a:rPr lang="en-US" sz="1600" i="1" dirty="0">
                <a:solidFill>
                  <a:schemeClr val="accent4"/>
                </a:solidFill>
              </a:rPr>
              <a:t>Design, database implementation and working prototype</a:t>
            </a:r>
            <a:endParaRPr lang="en-US" sz="1600" dirty="0"/>
          </a:p>
        </p:txBody>
      </p:sp>
      <p:sp>
        <p:nvSpPr>
          <p:cNvPr id="8" name="Shape 5"/>
          <p:cNvSpPr/>
          <p:nvPr/>
        </p:nvSpPr>
        <p:spPr>
          <a:xfrm>
            <a:off x="868680" y="2880360"/>
            <a:ext cx="548640" cy="548640"/>
          </a:xfrm>
          <a:prstGeom prst="ellipse">
            <a:avLst/>
          </a:prstGeom>
          <a:solidFill>
            <a:schemeClr val="bg1"/>
          </a:solidFill>
          <a:ln w="12700">
            <a:solidFill>
              <a:schemeClr val="bg1"/>
            </a:solidFill>
            <a:prstDash val="solid"/>
          </a:ln>
        </p:spPr>
      </p:sp>
      <p:pic>
        <p:nvPicPr>
          <p:cNvPr id="9" name="Image 0" descr="preencoded.png">    </p:cNvPr>
          <p:cNvPicPr>
            <a:picLocks noChangeAspect="1"/>
          </p:cNvPicPr>
          <p:nvPr/>
        </p:nvPicPr>
        <p:blipFill>
          <a:blip r:embed="rId1"/>
          <a:stretch>
            <a:fillRect/>
          </a:stretch>
        </p:blipFill>
        <p:spPr>
          <a:xfrm>
            <a:off x="1011326" y="3023006"/>
            <a:ext cx="263347" cy="263347"/>
          </a:xfrm>
          <a:prstGeom prst="rect">
            <a:avLst/>
          </a:prstGeom>
        </p:spPr>
      </p:pic>
      <p:sp>
        <p:nvSpPr>
          <p:cNvPr id="10" name="Text 6"/>
          <p:cNvSpPr txBox="1"/>
          <p:nvPr/>
        </p:nvSpPr>
        <p:spPr>
          <a:xfrm>
            <a:off x="640080" y="3474720"/>
            <a:ext cx="1005840" cy="228600"/>
          </a:xfrm>
          <a:prstGeom prst="rect">
            <a:avLst/>
          </a:prstGeom>
          <a:noFill/>
          <a:ln/>
        </p:spPr>
        <p:txBody>
          <a:bodyPr wrap="square" lIns="0" tIns="0" rIns="0" bIns="0" rtlCol="0" anchor="t"/>
          <a:lstStyle/>
          <a:p>
            <a:pPr algn="ctr" indent="0" marL="0">
              <a:buNone/>
            </a:pPr>
            <a:r>
              <a:rPr lang="en-US" sz="1100" dirty="0">
                <a:solidFill>
                  <a:schemeClr val="accent4"/>
                </a:solidFill>
              </a:rPr>
              <a:t>Payslip</a:t>
            </a:r>
            <a:endParaRPr lang="en-US" sz="1100" dirty="0"/>
          </a:p>
        </p:txBody>
      </p:sp>
      <p:sp>
        <p:nvSpPr>
          <p:cNvPr id="11" name="Shape 7"/>
          <p:cNvSpPr/>
          <p:nvPr/>
        </p:nvSpPr>
        <p:spPr>
          <a:xfrm>
            <a:off x="1947672" y="2880360"/>
            <a:ext cx="548640" cy="548640"/>
          </a:xfrm>
          <a:prstGeom prst="ellipse">
            <a:avLst/>
          </a:prstGeom>
          <a:solidFill>
            <a:schemeClr val="bg1"/>
          </a:solidFill>
          <a:ln w="12700">
            <a:solidFill>
              <a:schemeClr val="bg1"/>
            </a:solidFill>
            <a:prstDash val="solid"/>
          </a:ln>
        </p:spPr>
      </p:sp>
      <p:pic>
        <p:nvPicPr>
          <p:cNvPr id="12" name="Image 1" descr="preencoded.png">    </p:cNvPr>
          <p:cNvPicPr>
            <a:picLocks noChangeAspect="1"/>
          </p:cNvPicPr>
          <p:nvPr/>
        </p:nvPicPr>
        <p:blipFill>
          <a:blip r:embed="rId2"/>
          <a:stretch>
            <a:fillRect/>
          </a:stretch>
        </p:blipFill>
        <p:spPr>
          <a:xfrm>
            <a:off x="2090318" y="3023006"/>
            <a:ext cx="263347" cy="263347"/>
          </a:xfrm>
          <a:prstGeom prst="rect">
            <a:avLst/>
          </a:prstGeom>
        </p:spPr>
      </p:pic>
      <p:sp>
        <p:nvSpPr>
          <p:cNvPr id="13" name="Text 8"/>
          <p:cNvSpPr txBox="1"/>
          <p:nvPr/>
        </p:nvSpPr>
        <p:spPr>
          <a:xfrm>
            <a:off x="1719072" y="3474720"/>
            <a:ext cx="1005840" cy="228600"/>
          </a:xfrm>
          <a:prstGeom prst="rect">
            <a:avLst/>
          </a:prstGeom>
          <a:noFill/>
          <a:ln/>
        </p:spPr>
        <p:txBody>
          <a:bodyPr wrap="square" lIns="0" tIns="0" rIns="0" bIns="0" rtlCol="0" anchor="t"/>
          <a:lstStyle/>
          <a:p>
            <a:pPr algn="ctr" indent="0" marL="0">
              <a:buNone/>
            </a:pPr>
            <a:r>
              <a:rPr lang="en-US" sz="1100" dirty="0">
                <a:solidFill>
                  <a:schemeClr val="accent4"/>
                </a:solidFill>
              </a:rPr>
              <a:t>Salary</a:t>
            </a:r>
            <a:endParaRPr lang="en-US" sz="1100" dirty="0"/>
          </a:p>
        </p:txBody>
      </p:sp>
      <p:sp>
        <p:nvSpPr>
          <p:cNvPr id="14" name="Shape 9"/>
          <p:cNvSpPr/>
          <p:nvPr/>
        </p:nvSpPr>
        <p:spPr>
          <a:xfrm>
            <a:off x="3026664" y="2880360"/>
            <a:ext cx="548640" cy="548640"/>
          </a:xfrm>
          <a:prstGeom prst="ellipse">
            <a:avLst/>
          </a:prstGeom>
          <a:solidFill>
            <a:schemeClr val="bg1"/>
          </a:solidFill>
          <a:ln w="12700">
            <a:solidFill>
              <a:schemeClr val="bg1"/>
            </a:solidFill>
            <a:prstDash val="solid"/>
          </a:ln>
        </p:spPr>
      </p:sp>
      <p:pic>
        <p:nvPicPr>
          <p:cNvPr id="15" name="Image 2" descr="preencoded.png">    </p:cNvPr>
          <p:cNvPicPr>
            <a:picLocks noChangeAspect="1"/>
          </p:cNvPicPr>
          <p:nvPr/>
        </p:nvPicPr>
        <p:blipFill>
          <a:blip r:embed="rId3"/>
          <a:stretch>
            <a:fillRect/>
          </a:stretch>
        </p:blipFill>
        <p:spPr>
          <a:xfrm>
            <a:off x="3169310" y="3023006"/>
            <a:ext cx="263347" cy="263347"/>
          </a:xfrm>
          <a:prstGeom prst="rect">
            <a:avLst/>
          </a:prstGeom>
        </p:spPr>
      </p:pic>
      <p:sp>
        <p:nvSpPr>
          <p:cNvPr id="16" name="Text 10"/>
          <p:cNvSpPr txBox="1"/>
          <p:nvPr/>
        </p:nvSpPr>
        <p:spPr>
          <a:xfrm>
            <a:off x="2798064" y="3474720"/>
            <a:ext cx="1005840" cy="228600"/>
          </a:xfrm>
          <a:prstGeom prst="rect">
            <a:avLst/>
          </a:prstGeom>
          <a:noFill/>
          <a:ln/>
        </p:spPr>
        <p:txBody>
          <a:bodyPr wrap="square" lIns="0" tIns="0" rIns="0" bIns="0" rtlCol="0" anchor="t"/>
          <a:lstStyle/>
          <a:p>
            <a:pPr algn="ctr" indent="0" marL="0">
              <a:buNone/>
            </a:pPr>
            <a:r>
              <a:rPr lang="en-US" sz="1100" dirty="0">
                <a:solidFill>
                  <a:schemeClr val="accent4"/>
                </a:solidFill>
              </a:rPr>
              <a:t>Calculations</a:t>
            </a:r>
            <a:endParaRPr lang="en-US" sz="1100" dirty="0"/>
          </a:p>
        </p:txBody>
      </p:sp>
      <p:sp>
        <p:nvSpPr>
          <p:cNvPr id="17" name="Shape 11"/>
          <p:cNvSpPr/>
          <p:nvPr/>
        </p:nvSpPr>
        <p:spPr>
          <a:xfrm>
            <a:off x="4105656" y="2880360"/>
            <a:ext cx="548640" cy="548640"/>
          </a:xfrm>
          <a:prstGeom prst="ellipse">
            <a:avLst/>
          </a:prstGeom>
          <a:solidFill>
            <a:schemeClr val="bg1"/>
          </a:solidFill>
          <a:ln w="12700">
            <a:solidFill>
              <a:schemeClr val="bg1"/>
            </a:solidFill>
            <a:prstDash val="solid"/>
          </a:ln>
        </p:spPr>
      </p:sp>
      <p:pic>
        <p:nvPicPr>
          <p:cNvPr id="18" name="Image 3" descr="preencoded.png">    </p:cNvPr>
          <p:cNvPicPr>
            <a:picLocks noChangeAspect="1"/>
          </p:cNvPicPr>
          <p:nvPr/>
        </p:nvPicPr>
        <p:blipFill>
          <a:blip r:embed="rId4"/>
          <a:stretch>
            <a:fillRect/>
          </a:stretch>
        </p:blipFill>
        <p:spPr>
          <a:xfrm>
            <a:off x="4248302" y="3023006"/>
            <a:ext cx="263347" cy="263347"/>
          </a:xfrm>
          <a:prstGeom prst="rect">
            <a:avLst/>
          </a:prstGeom>
        </p:spPr>
      </p:pic>
      <p:sp>
        <p:nvSpPr>
          <p:cNvPr id="19" name="Text 12"/>
          <p:cNvSpPr txBox="1"/>
          <p:nvPr/>
        </p:nvSpPr>
        <p:spPr>
          <a:xfrm>
            <a:off x="3877056" y="3474720"/>
            <a:ext cx="1005840" cy="228600"/>
          </a:xfrm>
          <a:prstGeom prst="rect">
            <a:avLst/>
          </a:prstGeom>
          <a:noFill/>
          <a:ln/>
        </p:spPr>
        <p:txBody>
          <a:bodyPr wrap="square" lIns="0" tIns="0" rIns="0" bIns="0" rtlCol="0" anchor="t"/>
          <a:lstStyle/>
          <a:p>
            <a:pPr algn="ctr" indent="0" marL="0">
              <a:buNone/>
            </a:pPr>
            <a:r>
              <a:rPr lang="en-US" sz="1100" dirty="0">
                <a:solidFill>
                  <a:schemeClr val="accent4"/>
                </a:solidFill>
              </a:rPr>
              <a:t>Attendance</a:t>
            </a:r>
            <a:endParaRPr lang="en-US" sz="1100" dirty="0"/>
          </a:p>
        </p:txBody>
      </p:sp>
      <p:sp>
        <p:nvSpPr>
          <p:cNvPr id="20" name="Shape 13"/>
          <p:cNvSpPr/>
          <p:nvPr/>
        </p:nvSpPr>
        <p:spPr>
          <a:xfrm>
            <a:off x="5184648" y="2880360"/>
            <a:ext cx="548640" cy="548640"/>
          </a:xfrm>
          <a:prstGeom prst="ellipse">
            <a:avLst/>
          </a:prstGeom>
          <a:solidFill>
            <a:schemeClr val="bg1"/>
          </a:solidFill>
          <a:ln w="12700">
            <a:solidFill>
              <a:schemeClr val="bg1"/>
            </a:solidFill>
            <a:prstDash val="solid"/>
          </a:ln>
        </p:spPr>
      </p:sp>
      <p:pic>
        <p:nvPicPr>
          <p:cNvPr id="21" name="Image 4" descr="preencoded.png">    </p:cNvPr>
          <p:cNvPicPr>
            <a:picLocks noChangeAspect="1"/>
          </p:cNvPicPr>
          <p:nvPr/>
        </p:nvPicPr>
        <p:blipFill>
          <a:blip r:embed="rId5"/>
          <a:stretch>
            <a:fillRect/>
          </a:stretch>
        </p:blipFill>
        <p:spPr>
          <a:xfrm>
            <a:off x="5327294" y="3023006"/>
            <a:ext cx="263347" cy="263347"/>
          </a:xfrm>
          <a:prstGeom prst="rect">
            <a:avLst/>
          </a:prstGeom>
        </p:spPr>
      </p:pic>
      <p:sp>
        <p:nvSpPr>
          <p:cNvPr id="22" name="Text 14"/>
          <p:cNvSpPr txBox="1"/>
          <p:nvPr/>
        </p:nvSpPr>
        <p:spPr>
          <a:xfrm>
            <a:off x="4956048" y="3474720"/>
            <a:ext cx="1005840" cy="228600"/>
          </a:xfrm>
          <a:prstGeom prst="rect">
            <a:avLst/>
          </a:prstGeom>
          <a:noFill/>
          <a:ln/>
        </p:spPr>
        <p:txBody>
          <a:bodyPr wrap="square" lIns="0" tIns="0" rIns="0" bIns="0" rtlCol="0" anchor="t"/>
          <a:lstStyle/>
          <a:p>
            <a:pPr algn="ctr" indent="0" marL="0">
              <a:buNone/>
            </a:pPr>
            <a:r>
              <a:rPr lang="en-US" sz="1100" dirty="0">
                <a:solidFill>
                  <a:schemeClr val="accent4"/>
                </a:solidFill>
              </a:rPr>
              <a:t>Deductions</a:t>
            </a:r>
            <a:endParaRPr lang="en-US" sz="1100" dirty="0"/>
          </a:p>
        </p:txBody>
      </p:sp>
      <p:sp>
        <p:nvSpPr>
          <p:cNvPr id="23" name="Shape 15"/>
          <p:cNvSpPr/>
          <p:nvPr/>
        </p:nvSpPr>
        <p:spPr>
          <a:xfrm>
            <a:off x="6263640" y="2880360"/>
            <a:ext cx="548640" cy="548640"/>
          </a:xfrm>
          <a:prstGeom prst="ellipse">
            <a:avLst/>
          </a:prstGeom>
          <a:solidFill>
            <a:schemeClr val="bg1"/>
          </a:solidFill>
          <a:ln w="12700">
            <a:solidFill>
              <a:schemeClr val="bg1"/>
            </a:solidFill>
            <a:prstDash val="solid"/>
          </a:ln>
        </p:spPr>
      </p:sp>
      <p:pic>
        <p:nvPicPr>
          <p:cNvPr id="24" name="Image 5" descr="preencoded.png">    </p:cNvPr>
          <p:cNvPicPr>
            <a:picLocks noChangeAspect="1"/>
          </p:cNvPicPr>
          <p:nvPr/>
        </p:nvPicPr>
        <p:blipFill>
          <a:blip r:embed="rId6"/>
          <a:stretch>
            <a:fillRect/>
          </a:stretch>
        </p:blipFill>
        <p:spPr>
          <a:xfrm>
            <a:off x="6406286" y="3023006"/>
            <a:ext cx="263347" cy="263347"/>
          </a:xfrm>
          <a:prstGeom prst="rect">
            <a:avLst/>
          </a:prstGeom>
        </p:spPr>
      </p:pic>
      <p:sp>
        <p:nvSpPr>
          <p:cNvPr id="25" name="Text 16"/>
          <p:cNvSpPr txBox="1"/>
          <p:nvPr/>
        </p:nvSpPr>
        <p:spPr>
          <a:xfrm>
            <a:off x="6035040" y="3474720"/>
            <a:ext cx="1005840" cy="228600"/>
          </a:xfrm>
          <a:prstGeom prst="rect">
            <a:avLst/>
          </a:prstGeom>
          <a:noFill/>
          <a:ln/>
        </p:spPr>
        <p:txBody>
          <a:bodyPr wrap="square" lIns="0" tIns="0" rIns="0" bIns="0" rtlCol="0" anchor="t"/>
          <a:lstStyle/>
          <a:p>
            <a:pPr algn="ctr" indent="0" marL="0">
              <a:buNone/>
            </a:pPr>
            <a:r>
              <a:rPr lang="en-US" sz="1100" dirty="0">
                <a:solidFill>
                  <a:schemeClr val="accent4"/>
                </a:solidFill>
              </a:rPr>
              <a:t>Database</a:t>
            </a:r>
            <a:endParaRPr lang="en-US" sz="1100" dirty="0"/>
          </a:p>
        </p:txBody>
      </p:sp>
      <p:sp>
        <p:nvSpPr>
          <p:cNvPr id="26" name="Shape 17"/>
          <p:cNvSpPr/>
          <p:nvPr/>
        </p:nvSpPr>
        <p:spPr>
          <a:xfrm>
            <a:off x="7342632" y="2880360"/>
            <a:ext cx="548640" cy="548640"/>
          </a:xfrm>
          <a:prstGeom prst="ellipse">
            <a:avLst/>
          </a:prstGeom>
          <a:solidFill>
            <a:schemeClr val="bg1"/>
          </a:solidFill>
          <a:ln w="12700">
            <a:solidFill>
              <a:schemeClr val="bg1"/>
            </a:solidFill>
            <a:prstDash val="solid"/>
          </a:ln>
        </p:spPr>
      </p:sp>
      <p:pic>
        <p:nvPicPr>
          <p:cNvPr id="27" name="Image 6" descr="preencoded.png">    </p:cNvPr>
          <p:cNvPicPr>
            <a:picLocks noChangeAspect="1"/>
          </p:cNvPicPr>
          <p:nvPr/>
        </p:nvPicPr>
        <p:blipFill>
          <a:blip r:embed="rId7"/>
          <a:stretch>
            <a:fillRect/>
          </a:stretch>
        </p:blipFill>
        <p:spPr>
          <a:xfrm>
            <a:off x="7485278" y="3023006"/>
            <a:ext cx="263347" cy="263347"/>
          </a:xfrm>
          <a:prstGeom prst="rect">
            <a:avLst/>
          </a:prstGeom>
        </p:spPr>
      </p:pic>
      <p:sp>
        <p:nvSpPr>
          <p:cNvPr id="28" name="Text 18"/>
          <p:cNvSpPr txBox="1"/>
          <p:nvPr/>
        </p:nvSpPr>
        <p:spPr>
          <a:xfrm>
            <a:off x="7114032" y="3474720"/>
            <a:ext cx="1005840" cy="228600"/>
          </a:xfrm>
          <a:prstGeom prst="rect">
            <a:avLst/>
          </a:prstGeom>
          <a:noFill/>
          <a:ln/>
        </p:spPr>
        <p:txBody>
          <a:bodyPr wrap="square" lIns="0" tIns="0" rIns="0" bIns="0" rtlCol="0" anchor="t"/>
          <a:lstStyle/>
          <a:p>
            <a:pPr algn="ctr" indent="0" marL="0">
              <a:buNone/>
            </a:pPr>
            <a:r>
              <a:rPr lang="en-US" sz="1100" dirty="0">
                <a:solidFill>
                  <a:schemeClr val="accent4"/>
                </a:solidFill>
              </a:rPr>
              <a:t>Bank Transfer</a:t>
            </a:r>
            <a:endParaRPr lang="en-US" sz="1100" dirty="0"/>
          </a:p>
        </p:txBody>
      </p:sp>
      <p:sp>
        <p:nvSpPr>
          <p:cNvPr id="29" name="Shape 19"/>
          <p:cNvSpPr/>
          <p:nvPr/>
        </p:nvSpPr>
        <p:spPr>
          <a:xfrm>
            <a:off x="914400" y="3931920"/>
            <a:ext cx="7315200" cy="777240"/>
          </a:xfrm>
          <a:prstGeom prst="roundRect">
            <a:avLst>
              <a:gd name="adj" fmla="val 9412"/>
            </a:avLst>
          </a:prstGeom>
          <a:solidFill>
            <a:schemeClr val="accent3"/>
          </a:solidFill>
          <a:ln w="12700">
            <a:solidFill>
              <a:schemeClr val="accent3"/>
            </a:solidFill>
            <a:prstDash val="solid"/>
          </a:ln>
        </p:spPr>
      </p:sp>
      <p:sp>
        <p:nvSpPr>
          <p:cNvPr id="30" name="Text 20"/>
          <p:cNvSpPr txBox="1"/>
          <p:nvPr/>
        </p:nvSpPr>
        <p:spPr>
          <a:xfrm>
            <a:off x="1188720" y="4041648"/>
            <a:ext cx="5029200" cy="548640"/>
          </a:xfrm>
          <a:prstGeom prst="rect">
            <a:avLst/>
          </a:prstGeom>
          <a:noFill/>
          <a:ln/>
        </p:spPr>
        <p:txBody>
          <a:bodyPr wrap="square" lIns="0" tIns="0" rIns="0" bIns="0" rtlCol="0" anchor="ctr"/>
          <a:lstStyle/>
          <a:p>
            <a:pPr indent="0" marL="0">
              <a:buNone/>
            </a:pPr>
            <a:r>
              <a:rPr lang="en-US" sz="1100" b="1" dirty="0">
                <a:solidFill>
                  <a:schemeClr val="accent2"/>
                </a:solidFill>
              </a:rPr>
              <a:t>PRESENTED BY   </a:t>
            </a:r>
            <a:pPr indent="0" marL="0">
              <a:buNone/>
            </a:pPr>
            <a:r>
              <a:rPr lang="en-US" sz="1800" b="1" dirty="0">
                <a:solidFill>
                  <a:schemeClr val="accent2"/>
                </a:solidFill>
              </a:rPr>
              <a:t>G MADHAN   25WU0102344</a:t>
            </a:r>
            <a:endParaRPr lang="en-US" sz="1100" dirty="0"/>
          </a:p>
        </p:txBody>
      </p:sp>
      <p:sp>
        <p:nvSpPr>
          <p:cNvPr id="31" name="Text 21"/>
          <p:cNvSpPr txBox="1"/>
          <p:nvPr/>
        </p:nvSpPr>
        <p:spPr>
          <a:xfrm>
            <a:off x="6583680" y="4041648"/>
            <a:ext cx="1554480" cy="548640"/>
          </a:xfrm>
          <a:prstGeom prst="rect">
            <a:avLst/>
          </a:prstGeom>
          <a:noFill/>
          <a:ln/>
        </p:spPr>
        <p:txBody>
          <a:bodyPr wrap="square" lIns="0" tIns="0" rIns="0" bIns="0" rtlCol="0" anchor="ctr"/>
          <a:lstStyle/>
          <a:p>
            <a:pPr indent="0" marL="0">
              <a:buNone/>
            </a:pPr>
            <a:r>
              <a:rPr lang="en-US" sz="1100" b="1" dirty="0">
                <a:solidFill>
                  <a:schemeClr val="accent2"/>
                </a:solidFill>
              </a:rPr>
              <a:t>Department</a:t>
            </a:r>
            <a:endParaRPr lang="en-US" sz="1100" dirty="0"/>
          </a:p>
          <a:p>
            <a:pPr indent="0" marL="0">
              <a:buNone/>
            </a:pPr>
            <a:r>
              <a:rPr lang="en-US" sz="1400" dirty="0">
                <a:solidFill>
                  <a:schemeClr val="bg1"/>
                </a:solidFill>
              </a:rPr>
              <a:t>AI ML RHINOS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From Review 1 to Review 2</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88720"/>
            <a:ext cx="2560320" cy="777240"/>
          </a:xfrm>
          <a:prstGeom prst="roundRect">
            <a:avLst>
              <a:gd name="adj" fmla="val 9412"/>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Shape 3"/>
          <p:cNvSpPr/>
          <p:nvPr/>
        </p:nvSpPr>
        <p:spPr>
          <a:xfrm>
            <a:off x="594360" y="1371600"/>
            <a:ext cx="411480" cy="411480"/>
          </a:xfrm>
          <a:prstGeom prst="ellipse">
            <a:avLst/>
          </a:prstGeom>
          <a:solidFill>
            <a:schemeClr val="accent5"/>
          </a:solidFill>
          <a:ln w="12700">
            <a:solidFill>
              <a:schemeClr val="accent5"/>
            </a:solidFill>
            <a:prstDash val="solid"/>
          </a:ln>
        </p:spPr>
      </p:sp>
      <p:sp>
        <p:nvSpPr>
          <p:cNvPr id="8" name="Text 4"/>
          <p:cNvSpPr txBox="1"/>
          <p:nvPr/>
        </p:nvSpPr>
        <p:spPr>
          <a:xfrm>
            <a:off x="594360" y="13716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5"/>
          <p:cNvSpPr txBox="1"/>
          <p:nvPr/>
        </p:nvSpPr>
        <p:spPr>
          <a:xfrm>
            <a:off x="1115568" y="1261872"/>
            <a:ext cx="1737360" cy="274320"/>
          </a:xfrm>
          <a:prstGeom prst="rect">
            <a:avLst/>
          </a:prstGeom>
          <a:noFill/>
          <a:ln/>
        </p:spPr>
        <p:txBody>
          <a:bodyPr wrap="square" lIns="0" tIns="0" rIns="0" bIns="0" rtlCol="0" anchor="t"/>
          <a:lstStyle/>
          <a:p>
            <a:pPr indent="0" marL="0">
              <a:buNone/>
            </a:pPr>
            <a:r>
              <a:rPr lang="en-US" sz="1500" b="1" dirty="0">
                <a:solidFill>
                  <a:schemeClr val="tx2"/>
                </a:solidFill>
              </a:rPr>
              <a:t>Review 1</a:t>
            </a:r>
            <a:endParaRPr lang="en-US" sz="1500" dirty="0"/>
          </a:p>
        </p:txBody>
      </p:sp>
      <p:sp>
        <p:nvSpPr>
          <p:cNvPr id="10" name="Text 6"/>
          <p:cNvSpPr txBox="1"/>
          <p:nvPr/>
        </p:nvSpPr>
        <p:spPr>
          <a:xfrm>
            <a:off x="1115568" y="1554480"/>
            <a:ext cx="1828800" cy="347472"/>
          </a:xfrm>
          <a:prstGeom prst="rect">
            <a:avLst/>
          </a:prstGeom>
          <a:noFill/>
          <a:ln/>
        </p:spPr>
        <p:txBody>
          <a:bodyPr wrap="square" lIns="0" tIns="0" rIns="0" bIns="0" rtlCol="0" anchor="t"/>
          <a:lstStyle/>
          <a:p>
            <a:pPr indent="0" marL="0">
              <a:buNone/>
            </a:pPr>
            <a:r>
              <a:rPr lang="en-US" sz="1100" dirty="0">
                <a:solidFill>
                  <a:schemeClr val="tx1"/>
                </a:solidFill>
              </a:rPr>
              <a:t>Analysis &amp; design  ·  Completed</a:t>
            </a:r>
            <a:endParaRPr lang="en-US" sz="1100" dirty="0"/>
          </a:p>
        </p:txBody>
      </p:sp>
      <p:sp>
        <p:nvSpPr>
          <p:cNvPr id="11" name="Shape 7"/>
          <p:cNvSpPr/>
          <p:nvPr/>
        </p:nvSpPr>
        <p:spPr>
          <a:xfrm>
            <a:off x="3035808" y="1572768"/>
            <a:ext cx="237744" cy="0"/>
          </a:xfrm>
          <a:prstGeom prst="line">
            <a:avLst/>
          </a:prstGeom>
          <a:noFill/>
          <a:ln w="25400">
            <a:solidFill>
              <a:schemeClr val="accent4"/>
            </a:solidFill>
            <a:prstDash val="solid"/>
            <a:tailEnd type="triangle"/>
          </a:ln>
        </p:spPr>
      </p:sp>
      <p:sp>
        <p:nvSpPr>
          <p:cNvPr id="12" name="Shape 8"/>
          <p:cNvSpPr/>
          <p:nvPr/>
        </p:nvSpPr>
        <p:spPr>
          <a:xfrm>
            <a:off x="3291840" y="1188720"/>
            <a:ext cx="2560320" cy="777240"/>
          </a:xfrm>
          <a:prstGeom prst="roundRect">
            <a:avLst>
              <a:gd name="adj" fmla="val 9412"/>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3" name="Shape 9"/>
          <p:cNvSpPr/>
          <p:nvPr/>
        </p:nvSpPr>
        <p:spPr>
          <a:xfrm>
            <a:off x="3429000" y="1371600"/>
            <a:ext cx="411480" cy="411480"/>
          </a:xfrm>
          <a:prstGeom prst="ellipse">
            <a:avLst/>
          </a:prstGeom>
          <a:solidFill>
            <a:schemeClr val="accent2"/>
          </a:solidFill>
          <a:ln w="12700">
            <a:solidFill>
              <a:schemeClr val="accent2"/>
            </a:solidFill>
            <a:prstDash val="solid"/>
          </a:ln>
        </p:spPr>
      </p:sp>
      <p:sp>
        <p:nvSpPr>
          <p:cNvPr id="14" name="Text 10"/>
          <p:cNvSpPr txBox="1"/>
          <p:nvPr/>
        </p:nvSpPr>
        <p:spPr>
          <a:xfrm>
            <a:off x="3429000" y="13716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 11"/>
          <p:cNvSpPr txBox="1"/>
          <p:nvPr/>
        </p:nvSpPr>
        <p:spPr>
          <a:xfrm>
            <a:off x="3950208" y="1261872"/>
            <a:ext cx="1737360" cy="274320"/>
          </a:xfrm>
          <a:prstGeom prst="rect">
            <a:avLst/>
          </a:prstGeom>
          <a:noFill/>
          <a:ln/>
        </p:spPr>
        <p:txBody>
          <a:bodyPr wrap="square" lIns="0" tIns="0" rIns="0" bIns="0" rtlCol="0" anchor="t"/>
          <a:lstStyle/>
          <a:p>
            <a:pPr indent="0" marL="0">
              <a:buNone/>
            </a:pPr>
            <a:r>
              <a:rPr lang="en-US" sz="1500" b="1" dirty="0">
                <a:solidFill>
                  <a:schemeClr val="tx2"/>
                </a:solidFill>
              </a:rPr>
              <a:t>Review 2</a:t>
            </a:r>
            <a:endParaRPr lang="en-US" sz="1500" dirty="0"/>
          </a:p>
        </p:txBody>
      </p:sp>
      <p:sp>
        <p:nvSpPr>
          <p:cNvPr id="16" name="Text 12"/>
          <p:cNvSpPr txBox="1"/>
          <p:nvPr/>
        </p:nvSpPr>
        <p:spPr>
          <a:xfrm>
            <a:off x="3950208" y="1554480"/>
            <a:ext cx="1828800" cy="347472"/>
          </a:xfrm>
          <a:prstGeom prst="rect">
            <a:avLst/>
          </a:prstGeom>
          <a:noFill/>
          <a:ln/>
        </p:spPr>
        <p:txBody>
          <a:bodyPr wrap="square" lIns="0" tIns="0" rIns="0" bIns="0" rtlCol="0" anchor="t"/>
          <a:lstStyle/>
          <a:p>
            <a:pPr indent="0" marL="0">
              <a:buNone/>
            </a:pPr>
            <a:r>
              <a:rPr lang="en-US" sz="1100" dirty="0">
                <a:solidFill>
                  <a:schemeClr val="tx1"/>
                </a:solidFill>
              </a:rPr>
              <a:t>Implementation &amp; prototype  ·  Today</a:t>
            </a:r>
            <a:endParaRPr lang="en-US" sz="1100" dirty="0"/>
          </a:p>
        </p:txBody>
      </p:sp>
      <p:sp>
        <p:nvSpPr>
          <p:cNvPr id="17" name="Shape 13"/>
          <p:cNvSpPr/>
          <p:nvPr/>
        </p:nvSpPr>
        <p:spPr>
          <a:xfrm>
            <a:off x="5870448" y="1572768"/>
            <a:ext cx="237744" cy="0"/>
          </a:xfrm>
          <a:prstGeom prst="line">
            <a:avLst/>
          </a:prstGeom>
          <a:noFill/>
          <a:ln w="25400">
            <a:solidFill>
              <a:schemeClr val="accent4"/>
            </a:solidFill>
            <a:prstDash val="solid"/>
            <a:tailEnd type="triangle"/>
          </a:ln>
        </p:spPr>
      </p:sp>
      <p:sp>
        <p:nvSpPr>
          <p:cNvPr id="18" name="Shape 14"/>
          <p:cNvSpPr/>
          <p:nvPr/>
        </p:nvSpPr>
        <p:spPr>
          <a:xfrm>
            <a:off x="6126480" y="1188720"/>
            <a:ext cx="2560320" cy="777240"/>
          </a:xfrm>
          <a:prstGeom prst="roundRect">
            <a:avLst>
              <a:gd name="adj" fmla="val 9412"/>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9" name="Shape 15"/>
          <p:cNvSpPr/>
          <p:nvPr/>
        </p:nvSpPr>
        <p:spPr>
          <a:xfrm>
            <a:off x="6263640" y="1371600"/>
            <a:ext cx="411480" cy="411480"/>
          </a:xfrm>
          <a:prstGeom prst="ellipse">
            <a:avLst/>
          </a:prstGeom>
          <a:solidFill>
            <a:schemeClr val="accent4"/>
          </a:solidFill>
          <a:ln w="12700">
            <a:solidFill>
              <a:schemeClr val="accent4"/>
            </a:solidFill>
            <a:prstDash val="solid"/>
          </a:ln>
        </p:spPr>
      </p:sp>
      <p:sp>
        <p:nvSpPr>
          <p:cNvPr id="20" name="Text 16"/>
          <p:cNvSpPr txBox="1"/>
          <p:nvPr/>
        </p:nvSpPr>
        <p:spPr>
          <a:xfrm>
            <a:off x="6263640" y="13716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1" name="Text 17"/>
          <p:cNvSpPr txBox="1"/>
          <p:nvPr/>
        </p:nvSpPr>
        <p:spPr>
          <a:xfrm>
            <a:off x="6784848" y="1261872"/>
            <a:ext cx="1737360" cy="274320"/>
          </a:xfrm>
          <a:prstGeom prst="rect">
            <a:avLst/>
          </a:prstGeom>
          <a:noFill/>
          <a:ln/>
        </p:spPr>
        <p:txBody>
          <a:bodyPr wrap="square" lIns="0" tIns="0" rIns="0" bIns="0" rtlCol="0" anchor="t"/>
          <a:lstStyle/>
          <a:p>
            <a:pPr indent="0" marL="0">
              <a:buNone/>
            </a:pPr>
            <a:r>
              <a:rPr lang="en-US" sz="1500" b="1" dirty="0">
                <a:solidFill>
                  <a:schemeClr val="tx2"/>
                </a:solidFill>
              </a:rPr>
              <a:t>Review 3</a:t>
            </a:r>
            <a:endParaRPr lang="en-US" sz="1500" dirty="0"/>
          </a:p>
        </p:txBody>
      </p:sp>
      <p:sp>
        <p:nvSpPr>
          <p:cNvPr id="22" name="Text 18"/>
          <p:cNvSpPr txBox="1"/>
          <p:nvPr/>
        </p:nvSpPr>
        <p:spPr>
          <a:xfrm>
            <a:off x="6784848" y="1554480"/>
            <a:ext cx="1828800" cy="347472"/>
          </a:xfrm>
          <a:prstGeom prst="rect">
            <a:avLst/>
          </a:prstGeom>
          <a:noFill/>
          <a:ln/>
        </p:spPr>
        <p:txBody>
          <a:bodyPr wrap="square" lIns="0" tIns="0" rIns="0" bIns="0" rtlCol="0" anchor="t"/>
          <a:lstStyle/>
          <a:p>
            <a:pPr indent="0" marL="0">
              <a:buNone/>
            </a:pPr>
            <a:r>
              <a:rPr lang="en-US" sz="1100" dirty="0">
                <a:solidFill>
                  <a:schemeClr val="tx1"/>
                </a:solidFill>
              </a:rPr>
              <a:t>Final demo &amp; results  ·  Next</a:t>
            </a:r>
            <a:endParaRPr lang="en-US" sz="1100" dirty="0"/>
          </a:p>
        </p:txBody>
      </p:sp>
      <p:sp>
        <p:nvSpPr>
          <p:cNvPr id="23" name="Shape 19"/>
          <p:cNvSpPr/>
          <p:nvPr/>
        </p:nvSpPr>
        <p:spPr>
          <a:xfrm>
            <a:off x="457200" y="2194560"/>
            <a:ext cx="4023360" cy="2468880"/>
          </a:xfrm>
          <a:prstGeom prst="roundRect">
            <a:avLst>
              <a:gd name="adj" fmla="val 296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4" name="Text 20"/>
          <p:cNvSpPr txBox="1"/>
          <p:nvPr/>
        </p:nvSpPr>
        <p:spPr>
          <a:xfrm>
            <a:off x="640080" y="2286000"/>
            <a:ext cx="3657600" cy="274320"/>
          </a:xfrm>
          <a:prstGeom prst="rect">
            <a:avLst/>
          </a:prstGeom>
          <a:noFill/>
          <a:ln/>
        </p:spPr>
        <p:txBody>
          <a:bodyPr wrap="square" lIns="0" tIns="0" rIns="0" bIns="0" rtlCol="0" anchor="t"/>
          <a:lstStyle/>
          <a:p>
            <a:pPr indent="0" marL="0">
              <a:buNone/>
            </a:pPr>
            <a:r>
              <a:rPr lang="en-US" sz="1500" b="1" dirty="0">
                <a:solidFill>
                  <a:schemeClr val="tx2"/>
                </a:solidFill>
              </a:rPr>
              <a:t>Carried over from Review 1</a:t>
            </a:r>
            <a:endParaRPr lang="en-US" sz="1500" dirty="0"/>
          </a:p>
        </p:txBody>
      </p:sp>
      <p:sp>
        <p:nvSpPr>
          <p:cNvPr id="25" name="Text 21"/>
          <p:cNvSpPr txBox="1"/>
          <p:nvPr/>
        </p:nvSpPr>
        <p:spPr>
          <a:xfrm>
            <a:off x="640080" y="2606040"/>
            <a:ext cx="3657600" cy="2011680"/>
          </a:xfrm>
          <a:prstGeom prst="rect">
            <a:avLst/>
          </a:prstGeom>
          <a:noFill/>
          <a:ln/>
        </p:spPr>
        <p:txBody>
          <a:bodyPr wrap="square" lIns="0" tIns="0" rIns="0" bIns="0" rtlCol="0" anchor="t"/>
          <a:lstStyle/>
          <a:p>
            <a:pPr marL="177800" indent="-177800">
              <a:spcAft>
                <a:spcPts val="700"/>
              </a:spcAft>
              <a:buSzPct val="100000"/>
              <a:buChar char="•"/>
            </a:pPr>
            <a:r>
              <a:rPr lang="en-US" sz="1300" b="1" dirty="0">
                <a:solidFill>
                  <a:schemeClr val="tx2"/>
                </a:solidFill>
              </a:rPr>
              <a:t>Same project: </a:t>
            </a:r>
            <a:pPr indent="0" marL="0">
              <a:spcAft>
                <a:spcPts val="700"/>
              </a:spcAft>
              <a:buNone/>
            </a:pPr>
            <a:r>
              <a:rPr lang="en-US" sz="1300" dirty="0">
                <a:solidFill>
                  <a:schemeClr val="tx1"/>
                </a:solidFill>
              </a:rPr>
              <a:t>Project 36, same title and scope</a:t>
            </a:r>
            <a:endParaRPr lang="en-US" sz="1300" dirty="0"/>
          </a:p>
          <a:p>
            <a:pPr marL="177800" indent="-177800">
              <a:spcAft>
                <a:spcPts val="700"/>
              </a:spcAft>
              <a:buSzPct val="100000"/>
              <a:buChar char="•"/>
            </a:pPr>
            <a:r>
              <a:rPr lang="en-US" sz="1300" b="1" dirty="0">
                <a:solidFill>
                  <a:schemeClr val="tx2"/>
                </a:solidFill>
              </a:rPr>
              <a:t>12 entities </a:t>
            </a:r>
            <a:pPr indent="0" marL="0">
              <a:spcAft>
                <a:spcPts val="700"/>
              </a:spcAft>
              <a:buNone/>
            </a:pPr>
            <a:r>
              <a:rPr lang="en-US" sz="1300" dirty="0">
                <a:solidFill>
                  <a:schemeClr val="tx1"/>
                </a:solidFill>
              </a:rPr>
              <a:t>Employee, Department, Designation, Salary Structure, Attendance, Earnings, Deductions, Loan, Payroll Period, Payroll Detail, Payslip, Bank Transfer</a:t>
            </a:r>
            <a:endParaRPr lang="en-US" sz="1300" dirty="0"/>
          </a:p>
          <a:p>
            <a:pPr marL="177800" indent="-177800">
              <a:spcAft>
                <a:spcPts val="700"/>
              </a:spcAft>
              <a:buSzPct val="100000"/>
              <a:buChar char="•"/>
            </a:pPr>
            <a:r>
              <a:rPr lang="en-US" sz="1300" b="1" dirty="0">
                <a:solidFill>
                  <a:schemeClr val="tx2"/>
                </a:solidFill>
              </a:rPr>
              <a:t>All 12 requirements </a:t>
            </a:r>
            <a:pPr indent="0" marL="0">
              <a:spcAft>
                <a:spcPts val="700"/>
              </a:spcAft>
              <a:buNone/>
            </a:pPr>
            <a:r>
              <a:rPr lang="en-US" sz="1300" dirty="0">
                <a:solidFill>
                  <a:schemeClr val="tx1"/>
                </a:solidFill>
              </a:rPr>
              <a:t>kept as the build checklist</a:t>
            </a:r>
            <a:endParaRPr lang="en-US" sz="1300" dirty="0"/>
          </a:p>
        </p:txBody>
      </p:sp>
      <p:sp>
        <p:nvSpPr>
          <p:cNvPr id="26" name="Shape 22"/>
          <p:cNvSpPr/>
          <p:nvPr/>
        </p:nvSpPr>
        <p:spPr>
          <a:xfrm>
            <a:off x="4663440" y="2194560"/>
            <a:ext cx="4023360" cy="2468880"/>
          </a:xfrm>
          <a:prstGeom prst="roundRect">
            <a:avLst>
              <a:gd name="adj" fmla="val 2963"/>
            </a:avLst>
          </a:prstGeom>
          <a:solidFill>
            <a:schemeClr val="accent3"/>
          </a:solidFill>
          <a:ln w="12700">
            <a:solidFill>
              <a:schemeClr val="accent3"/>
            </a:solidFill>
            <a:prstDash val="solid"/>
          </a:ln>
        </p:spPr>
      </p:sp>
      <p:sp>
        <p:nvSpPr>
          <p:cNvPr id="27" name="Text 23"/>
          <p:cNvSpPr txBox="1"/>
          <p:nvPr/>
        </p:nvSpPr>
        <p:spPr>
          <a:xfrm>
            <a:off x="4846320" y="2286000"/>
            <a:ext cx="3657600" cy="274320"/>
          </a:xfrm>
          <a:prstGeom prst="rect">
            <a:avLst/>
          </a:prstGeom>
          <a:noFill/>
          <a:ln/>
        </p:spPr>
        <p:txBody>
          <a:bodyPr wrap="square" lIns="0" tIns="0" rIns="0" bIns="0" rtlCol="0" anchor="t"/>
          <a:lstStyle/>
          <a:p>
            <a:pPr indent="0" marL="0">
              <a:buNone/>
            </a:pPr>
            <a:r>
              <a:rPr lang="en-US" sz="1500" b="1" dirty="0">
                <a:solidFill>
                  <a:schemeClr val="accent2"/>
                </a:solidFill>
              </a:rPr>
              <a:t>Added in Review 2</a:t>
            </a:r>
            <a:endParaRPr lang="en-US" sz="1500" dirty="0"/>
          </a:p>
        </p:txBody>
      </p:sp>
      <p:sp>
        <p:nvSpPr>
          <p:cNvPr id="28" name="Text 24"/>
          <p:cNvSpPr txBox="1"/>
          <p:nvPr/>
        </p:nvSpPr>
        <p:spPr>
          <a:xfrm>
            <a:off x="4846320" y="2606040"/>
            <a:ext cx="3657600" cy="2011680"/>
          </a:xfrm>
          <a:prstGeom prst="rect">
            <a:avLst/>
          </a:prstGeom>
          <a:noFill/>
          <a:ln/>
        </p:spPr>
        <p:txBody>
          <a:bodyPr wrap="square" lIns="0" tIns="0" rIns="0" bIns="0" rtlCol="0" anchor="t"/>
          <a:lstStyle/>
          <a:p>
            <a:pPr marL="177800" indent="-177800">
              <a:spcAft>
                <a:spcPts val="700"/>
              </a:spcAft>
              <a:buSzPct val="100000"/>
              <a:buChar char="•"/>
            </a:pPr>
            <a:r>
              <a:rPr lang="en-US" sz="1300" b="1" dirty="0">
                <a:solidFill>
                  <a:schemeClr val="accent2"/>
                </a:solidFill>
              </a:rPr>
              <a:t>loan_repayment </a:t>
            </a:r>
            <a:pPr indent="0" marL="0">
              <a:spcAft>
                <a:spcPts val="700"/>
              </a:spcAft>
              <a:buNone/>
            </a:pPr>
            <a:r>
              <a:rPr lang="en-US" sz="1300" dirty="0">
                <a:solidFill>
                  <a:schemeClr val="bg1"/>
                </a:solidFill>
              </a:rPr>
              <a:t>table so EMIs and manual repayments are recorded</a:t>
            </a:r>
            <a:endParaRPr lang="en-US" sz="1300" dirty="0"/>
          </a:p>
          <a:p>
            <a:pPr marL="177800" indent="-177800">
              <a:spcAft>
                <a:spcPts val="700"/>
              </a:spcAft>
              <a:buSzPct val="100000"/>
              <a:buChar char="•"/>
            </a:pPr>
            <a:r>
              <a:rPr lang="en-US" sz="1300" b="1" dirty="0">
                <a:solidFill>
                  <a:schemeClr val="accent2"/>
                </a:solidFill>
              </a:rPr>
              <a:t>payroll_config </a:t>
            </a:r>
            <a:pPr indent="0" marL="0">
              <a:spcAft>
                <a:spcPts val="700"/>
              </a:spcAft>
              <a:buNone/>
            </a:pPr>
            <a:r>
              <a:rPr lang="en-US" sz="1300" dirty="0">
                <a:solidFill>
                  <a:schemeClr val="bg1"/>
                </a:solidFill>
              </a:rPr>
              <a:t>table for editable illustrative rates</a:t>
            </a:r>
            <a:endParaRPr lang="en-US" sz="1300" dirty="0"/>
          </a:p>
          <a:p>
            <a:pPr marL="177800" indent="-177800">
              <a:spcAft>
                <a:spcPts val="700"/>
              </a:spcAft>
              <a:buSzPct val="100000"/>
              <a:buChar char="•"/>
            </a:pPr>
            <a:r>
              <a:rPr lang="en-US" sz="1300" b="1" dirty="0">
                <a:solidFill>
                  <a:schemeClr val="accent2"/>
                </a:solidFill>
              </a:rPr>
              <a:t>Period links: </a:t>
            </a:r>
            <a:pPr indent="0" marL="0">
              <a:spcAft>
                <a:spcPts val="700"/>
              </a:spcAft>
              <a:buNone/>
            </a:pPr>
            <a:r>
              <a:rPr lang="en-US" sz="1300" dirty="0">
                <a:solidFill>
                  <a:schemeClr val="bg1"/>
                </a:solidFill>
              </a:rPr>
              <a:t>attendance, earnings and deductions reference a payroll period</a:t>
            </a:r>
            <a:endParaRPr lang="en-US" sz="1300" dirty="0"/>
          </a:p>
          <a:p>
            <a:pPr marL="177800" indent="-177800">
              <a:spcAft>
                <a:spcPts val="700"/>
              </a:spcAft>
              <a:buSzPct val="100000"/>
              <a:buChar char="•"/>
            </a:pPr>
            <a:r>
              <a:rPr lang="en-US" sz="1300" b="1" dirty="0">
                <a:solidFill>
                  <a:schemeClr val="accent2"/>
                </a:solidFill>
              </a:rPr>
              <a:t>Working app: </a:t>
            </a:r>
            <a:pPr indent="0" marL="0">
              <a:spcAft>
                <a:spcPts val="700"/>
              </a:spcAft>
              <a:buNone/>
            </a:pPr>
            <a:r>
              <a:rPr lang="en-US" sz="1300" dirty="0">
                <a:solidFill>
                  <a:schemeClr val="bg1"/>
                </a:solidFill>
              </a:rPr>
              <a:t>Flask + SQL, 40 automated tests</a:t>
            </a:r>
            <a:endParaRPr lang="en-US" sz="13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System Architecture</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365760" y="1234440"/>
            <a:ext cx="1481328" cy="2514600"/>
          </a:xfrm>
          <a:prstGeom prst="roundRect">
            <a:avLst>
              <a:gd name="adj" fmla="val 4938"/>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Shape 3"/>
          <p:cNvSpPr/>
          <p:nvPr/>
        </p:nvSpPr>
        <p:spPr>
          <a:xfrm>
            <a:off x="832104" y="1371600"/>
            <a:ext cx="548640" cy="548640"/>
          </a:xfrm>
          <a:prstGeom prst="ellipse">
            <a:avLst/>
          </a:prstGeom>
          <a:solidFill>
            <a:schemeClr val="accent3"/>
          </a:solidFill>
          <a:ln w="12700">
            <a:solidFill>
              <a:schemeClr val="accent3"/>
            </a:solidFill>
            <a:prstDash val="solid"/>
          </a:ln>
        </p:spPr>
      </p:sp>
      <p:pic>
        <p:nvPicPr>
          <p:cNvPr id="8" name="Image 1" descr="preencoded.png">    </p:cNvPr>
          <p:cNvPicPr>
            <a:picLocks noChangeAspect="1"/>
          </p:cNvPicPr>
          <p:nvPr/>
        </p:nvPicPr>
        <p:blipFill>
          <a:blip r:embed="rId2"/>
          <a:stretch>
            <a:fillRect/>
          </a:stretch>
        </p:blipFill>
        <p:spPr>
          <a:xfrm>
            <a:off x="974750" y="1514246"/>
            <a:ext cx="263347" cy="263347"/>
          </a:xfrm>
          <a:prstGeom prst="rect">
            <a:avLst/>
          </a:prstGeom>
        </p:spPr>
      </p:pic>
      <p:sp>
        <p:nvSpPr>
          <p:cNvPr id="9" name="Text 4"/>
          <p:cNvSpPr txBox="1"/>
          <p:nvPr/>
        </p:nvSpPr>
        <p:spPr>
          <a:xfrm>
            <a:off x="411480" y="2011680"/>
            <a:ext cx="1389888" cy="274320"/>
          </a:xfrm>
          <a:prstGeom prst="rect">
            <a:avLst/>
          </a:prstGeom>
          <a:noFill/>
          <a:ln/>
        </p:spPr>
        <p:txBody>
          <a:bodyPr wrap="square" lIns="0" tIns="0" rIns="0" bIns="0" rtlCol="0" anchor="t"/>
          <a:lstStyle/>
          <a:p>
            <a:pPr algn="ctr" indent="0" marL="0">
              <a:buNone/>
            </a:pPr>
            <a:r>
              <a:rPr lang="en-US" sz="1300" b="1" dirty="0">
                <a:solidFill>
                  <a:schemeClr val="tx2"/>
                </a:solidFill>
                <a:latin typeface="Cambria" pitchFamily="34" charset="0"/>
                <a:ea typeface="Cambria" pitchFamily="34" charset="-122"/>
                <a:cs typeface="Cambria" pitchFamily="34" charset="-120"/>
              </a:rPr>
              <a:t>Browser</a:t>
            </a:r>
            <a:endParaRPr lang="en-US" sz="1300" dirty="0"/>
          </a:p>
        </p:txBody>
      </p:sp>
      <p:sp>
        <p:nvSpPr>
          <p:cNvPr id="10" name="Text 5"/>
          <p:cNvSpPr txBox="1"/>
          <p:nvPr/>
        </p:nvSpPr>
        <p:spPr>
          <a:xfrm>
            <a:off x="457200" y="2331720"/>
            <a:ext cx="1335024" cy="137160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tx1"/>
                </a:solidFill>
              </a:rPr>
              <a:t>HTML5 + CSS3</a:t>
            </a:r>
            <a:endParaRPr lang="en-US" sz="1100" dirty="0"/>
          </a:p>
          <a:p>
            <a:pPr marL="177800" indent="-177800">
              <a:spcAft>
                <a:spcPts val="300"/>
              </a:spcAft>
              <a:buSzPct val="100000"/>
              <a:buChar char="•"/>
            </a:pPr>
            <a:r>
              <a:rPr lang="en-US" sz="1100" dirty="0">
                <a:solidFill>
                  <a:schemeClr val="tx1"/>
                </a:solidFill>
              </a:rPr>
              <a:t>Bootstrap 5 layout</a:t>
            </a:r>
            <a:endParaRPr lang="en-US" sz="1100" dirty="0"/>
          </a:p>
          <a:p>
            <a:pPr marL="177800" indent="-177800">
              <a:spcAft>
                <a:spcPts val="300"/>
              </a:spcAft>
              <a:buSzPct val="100000"/>
              <a:buChar char="•"/>
            </a:pPr>
            <a:r>
              <a:rPr lang="en-US" sz="1100" dirty="0">
                <a:solidFill>
                  <a:schemeClr val="tx1"/>
                </a:solidFill>
              </a:rPr>
              <a:t>JavaScript: search, confirm</a:t>
            </a:r>
            <a:endParaRPr lang="en-US" sz="1100" dirty="0"/>
          </a:p>
          <a:p>
            <a:pPr marL="177800" indent="-177800">
              <a:spcAft>
                <a:spcPts val="300"/>
              </a:spcAft>
              <a:buSzPct val="100000"/>
              <a:buChar char="•"/>
            </a:pPr>
            <a:r>
              <a:rPr lang="en-US" sz="1100" dirty="0">
                <a:solidFill>
                  <a:schemeClr val="tx1"/>
                </a:solidFill>
              </a:rPr>
              <a:t>Chart.js dashboard</a:t>
            </a:r>
            <a:endParaRPr lang="en-US" sz="1100" dirty="0"/>
          </a:p>
        </p:txBody>
      </p:sp>
      <p:sp>
        <p:nvSpPr>
          <p:cNvPr id="11" name="Shape 6"/>
          <p:cNvSpPr/>
          <p:nvPr/>
        </p:nvSpPr>
        <p:spPr>
          <a:xfrm>
            <a:off x="1865376" y="2468880"/>
            <a:ext cx="201168" cy="0"/>
          </a:xfrm>
          <a:prstGeom prst="line">
            <a:avLst/>
          </a:prstGeom>
          <a:noFill/>
          <a:ln w="25400">
            <a:solidFill>
              <a:schemeClr val="accent2"/>
            </a:solidFill>
            <a:prstDash val="solid"/>
            <a:tailEnd type="triangle"/>
          </a:ln>
        </p:spPr>
      </p:sp>
      <p:sp>
        <p:nvSpPr>
          <p:cNvPr id="12" name="Shape 7"/>
          <p:cNvSpPr/>
          <p:nvPr/>
        </p:nvSpPr>
        <p:spPr>
          <a:xfrm>
            <a:off x="2084832" y="1234440"/>
            <a:ext cx="1481328" cy="2514600"/>
          </a:xfrm>
          <a:prstGeom prst="roundRect">
            <a:avLst>
              <a:gd name="adj" fmla="val 4938"/>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3" name="Shape 8"/>
          <p:cNvSpPr/>
          <p:nvPr/>
        </p:nvSpPr>
        <p:spPr>
          <a:xfrm>
            <a:off x="2551176" y="1371600"/>
            <a:ext cx="548640" cy="548640"/>
          </a:xfrm>
          <a:prstGeom prst="ellipse">
            <a:avLst/>
          </a:prstGeom>
          <a:solidFill>
            <a:schemeClr val="accent3"/>
          </a:solidFill>
          <a:ln w="12700">
            <a:solidFill>
              <a:schemeClr val="accent3"/>
            </a:solidFill>
            <a:prstDash val="solid"/>
          </a:ln>
        </p:spPr>
      </p:sp>
      <p:pic>
        <p:nvPicPr>
          <p:cNvPr id="14" name="Image 2" descr="preencoded.png">    </p:cNvPr>
          <p:cNvPicPr>
            <a:picLocks noChangeAspect="1"/>
          </p:cNvPicPr>
          <p:nvPr/>
        </p:nvPicPr>
        <p:blipFill>
          <a:blip r:embed="rId3"/>
          <a:stretch>
            <a:fillRect/>
          </a:stretch>
        </p:blipFill>
        <p:spPr>
          <a:xfrm>
            <a:off x="2693822" y="1514246"/>
            <a:ext cx="263347" cy="263347"/>
          </a:xfrm>
          <a:prstGeom prst="rect">
            <a:avLst/>
          </a:prstGeom>
        </p:spPr>
      </p:pic>
      <p:sp>
        <p:nvSpPr>
          <p:cNvPr id="15" name="Text 9"/>
          <p:cNvSpPr txBox="1"/>
          <p:nvPr/>
        </p:nvSpPr>
        <p:spPr>
          <a:xfrm>
            <a:off x="2130552" y="2011680"/>
            <a:ext cx="1389888" cy="274320"/>
          </a:xfrm>
          <a:prstGeom prst="rect">
            <a:avLst/>
          </a:prstGeom>
          <a:noFill/>
          <a:ln/>
        </p:spPr>
        <p:txBody>
          <a:bodyPr wrap="square" lIns="0" tIns="0" rIns="0" bIns="0" rtlCol="0" anchor="t"/>
          <a:lstStyle/>
          <a:p>
            <a:pPr algn="ctr" indent="0" marL="0">
              <a:buNone/>
            </a:pPr>
            <a:r>
              <a:rPr lang="en-US" sz="1300" b="1" dirty="0">
                <a:solidFill>
                  <a:schemeClr val="tx2"/>
                </a:solidFill>
                <a:latin typeface="Cambria" pitchFamily="34" charset="0"/>
                <a:ea typeface="Cambria" pitchFamily="34" charset="-122"/>
                <a:cs typeface="Cambria" pitchFamily="34" charset="-120"/>
              </a:rPr>
              <a:t>Flask routes</a:t>
            </a:r>
            <a:endParaRPr lang="en-US" sz="1300" dirty="0"/>
          </a:p>
        </p:txBody>
      </p:sp>
      <p:sp>
        <p:nvSpPr>
          <p:cNvPr id="16" name="Text 10"/>
          <p:cNvSpPr txBox="1"/>
          <p:nvPr/>
        </p:nvSpPr>
        <p:spPr>
          <a:xfrm>
            <a:off x="2176272" y="2331720"/>
            <a:ext cx="1335024" cy="137160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tx1"/>
                </a:solidFill>
              </a:rPr>
              <a:t>Dashboard, periods</a:t>
            </a:r>
            <a:endParaRPr lang="en-US" sz="1100" dirty="0"/>
          </a:p>
          <a:p>
            <a:pPr marL="177800" indent="-177800">
              <a:spcAft>
                <a:spcPts val="300"/>
              </a:spcAft>
              <a:buSzPct val="100000"/>
              <a:buChar char="•"/>
            </a:pPr>
            <a:r>
              <a:rPr lang="en-US" sz="1100" dirty="0">
                <a:solidFill>
                  <a:schemeClr val="tx1"/>
                </a:solidFill>
              </a:rPr>
              <a:t>Generic CRUD views</a:t>
            </a:r>
            <a:endParaRPr lang="en-US" sz="1100" dirty="0"/>
          </a:p>
          <a:p>
            <a:pPr marL="177800" indent="-177800">
              <a:spcAft>
                <a:spcPts val="300"/>
              </a:spcAft>
              <a:buSzPct val="100000"/>
              <a:buChar char="•"/>
            </a:pPr>
            <a:r>
              <a:rPr lang="en-US" sz="1100" dirty="0">
                <a:solidFill>
                  <a:schemeClr val="tx1"/>
                </a:solidFill>
              </a:rPr>
              <a:t>Payslip, transfers</a:t>
            </a:r>
            <a:endParaRPr lang="en-US" sz="1100" dirty="0"/>
          </a:p>
          <a:p>
            <a:pPr marL="177800" indent="-177800">
              <a:spcAft>
                <a:spcPts val="300"/>
              </a:spcAft>
              <a:buSzPct val="100000"/>
              <a:buChar char="•"/>
            </a:pPr>
            <a:r>
              <a:rPr lang="en-US" sz="1100" dirty="0">
                <a:solidFill>
                  <a:schemeClr val="tx1"/>
                </a:solidFill>
              </a:rPr>
              <a:t>Jinja2 templates</a:t>
            </a:r>
            <a:endParaRPr lang="en-US" sz="1100" dirty="0"/>
          </a:p>
        </p:txBody>
      </p:sp>
      <p:sp>
        <p:nvSpPr>
          <p:cNvPr id="17" name="Shape 11"/>
          <p:cNvSpPr/>
          <p:nvPr/>
        </p:nvSpPr>
        <p:spPr>
          <a:xfrm>
            <a:off x="3584448" y="2468880"/>
            <a:ext cx="201168" cy="0"/>
          </a:xfrm>
          <a:prstGeom prst="line">
            <a:avLst/>
          </a:prstGeom>
          <a:noFill/>
          <a:ln w="25400">
            <a:solidFill>
              <a:schemeClr val="accent2"/>
            </a:solidFill>
            <a:prstDash val="solid"/>
            <a:tailEnd type="triangle"/>
          </a:ln>
        </p:spPr>
      </p:sp>
      <p:sp>
        <p:nvSpPr>
          <p:cNvPr id="18" name="Shape 12"/>
          <p:cNvSpPr/>
          <p:nvPr/>
        </p:nvSpPr>
        <p:spPr>
          <a:xfrm>
            <a:off x="3803904" y="1234440"/>
            <a:ext cx="1481328" cy="2514600"/>
          </a:xfrm>
          <a:prstGeom prst="roundRect">
            <a:avLst>
              <a:gd name="adj" fmla="val 4938"/>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9" name="Shape 13"/>
          <p:cNvSpPr/>
          <p:nvPr/>
        </p:nvSpPr>
        <p:spPr>
          <a:xfrm>
            <a:off x="4270248" y="1371600"/>
            <a:ext cx="548640" cy="548640"/>
          </a:xfrm>
          <a:prstGeom prst="ellipse">
            <a:avLst/>
          </a:prstGeom>
          <a:solidFill>
            <a:schemeClr val="accent3"/>
          </a:solidFill>
          <a:ln w="12700">
            <a:solidFill>
              <a:schemeClr val="accent3"/>
            </a:solidFill>
            <a:prstDash val="solid"/>
          </a:ln>
        </p:spPr>
      </p:sp>
      <p:pic>
        <p:nvPicPr>
          <p:cNvPr id="20" name="Image 3" descr="preencoded.png">    </p:cNvPr>
          <p:cNvPicPr>
            <a:picLocks noChangeAspect="1"/>
          </p:cNvPicPr>
          <p:nvPr/>
        </p:nvPicPr>
        <p:blipFill>
          <a:blip r:embed="rId4"/>
          <a:stretch>
            <a:fillRect/>
          </a:stretch>
        </p:blipFill>
        <p:spPr>
          <a:xfrm>
            <a:off x="4412894" y="1514246"/>
            <a:ext cx="263347" cy="263347"/>
          </a:xfrm>
          <a:prstGeom prst="rect">
            <a:avLst/>
          </a:prstGeom>
        </p:spPr>
      </p:pic>
      <p:sp>
        <p:nvSpPr>
          <p:cNvPr id="21" name="Text 14"/>
          <p:cNvSpPr txBox="1"/>
          <p:nvPr/>
        </p:nvSpPr>
        <p:spPr>
          <a:xfrm>
            <a:off x="3849624" y="2011680"/>
            <a:ext cx="1389888" cy="274320"/>
          </a:xfrm>
          <a:prstGeom prst="rect">
            <a:avLst/>
          </a:prstGeom>
          <a:noFill/>
          <a:ln/>
        </p:spPr>
        <p:txBody>
          <a:bodyPr wrap="square" lIns="0" tIns="0" rIns="0" bIns="0" rtlCol="0" anchor="t"/>
          <a:lstStyle/>
          <a:p>
            <a:pPr algn="ctr" indent="0" marL="0">
              <a:buNone/>
            </a:pPr>
            <a:r>
              <a:rPr lang="en-US" sz="1300" b="1" dirty="0">
                <a:solidFill>
                  <a:schemeClr val="tx2"/>
                </a:solidFill>
                <a:latin typeface="Cambria" pitchFamily="34" charset="0"/>
                <a:ea typeface="Cambria" pitchFamily="34" charset="-122"/>
                <a:cs typeface="Cambria" pitchFamily="34" charset="-120"/>
              </a:rPr>
              <a:t>Business logic</a:t>
            </a:r>
            <a:endParaRPr lang="en-US" sz="1300" dirty="0"/>
          </a:p>
        </p:txBody>
      </p:sp>
      <p:sp>
        <p:nvSpPr>
          <p:cNvPr id="22" name="Text 15"/>
          <p:cNvSpPr txBox="1"/>
          <p:nvPr/>
        </p:nvSpPr>
        <p:spPr>
          <a:xfrm>
            <a:off x="3895344" y="2331720"/>
            <a:ext cx="1335024" cy="137160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tx1"/>
                </a:solidFill>
              </a:rPr>
              <a:t>payroll.py: calculate, process, bank transfers</a:t>
            </a:r>
            <a:endParaRPr lang="en-US" sz="1100" dirty="0"/>
          </a:p>
          <a:p>
            <a:pPr marL="177800" indent="-177800">
              <a:spcAft>
                <a:spcPts val="300"/>
              </a:spcAft>
              <a:buSzPct val="100000"/>
              <a:buChar char="•"/>
            </a:pPr>
            <a:r>
              <a:rPr lang="en-US" sz="1100" dirty="0">
                <a:solidFill>
                  <a:schemeClr val="tx1"/>
                </a:solidFill>
              </a:rPr>
              <a:t>reports.py: 7 SQL reports</a:t>
            </a:r>
            <a:endParaRPr lang="en-US" sz="1100" dirty="0"/>
          </a:p>
        </p:txBody>
      </p:sp>
      <p:sp>
        <p:nvSpPr>
          <p:cNvPr id="23" name="Shape 16"/>
          <p:cNvSpPr/>
          <p:nvPr/>
        </p:nvSpPr>
        <p:spPr>
          <a:xfrm>
            <a:off x="5303520" y="2468880"/>
            <a:ext cx="201168" cy="0"/>
          </a:xfrm>
          <a:prstGeom prst="line">
            <a:avLst/>
          </a:prstGeom>
          <a:noFill/>
          <a:ln w="25400">
            <a:solidFill>
              <a:schemeClr val="accent2"/>
            </a:solidFill>
            <a:prstDash val="solid"/>
            <a:tailEnd type="triangle"/>
          </a:ln>
        </p:spPr>
      </p:sp>
      <p:sp>
        <p:nvSpPr>
          <p:cNvPr id="24" name="Shape 17"/>
          <p:cNvSpPr/>
          <p:nvPr/>
        </p:nvSpPr>
        <p:spPr>
          <a:xfrm>
            <a:off x="5522976" y="1234440"/>
            <a:ext cx="1481328" cy="2514600"/>
          </a:xfrm>
          <a:prstGeom prst="roundRect">
            <a:avLst>
              <a:gd name="adj" fmla="val 4938"/>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5" name="Shape 18"/>
          <p:cNvSpPr/>
          <p:nvPr/>
        </p:nvSpPr>
        <p:spPr>
          <a:xfrm>
            <a:off x="5989320" y="1371600"/>
            <a:ext cx="548640" cy="548640"/>
          </a:xfrm>
          <a:prstGeom prst="ellipse">
            <a:avLst/>
          </a:prstGeom>
          <a:solidFill>
            <a:schemeClr val="accent3"/>
          </a:solidFill>
          <a:ln w="12700">
            <a:solidFill>
              <a:schemeClr val="accent3"/>
            </a:solidFill>
            <a:prstDash val="solid"/>
          </a:ln>
        </p:spPr>
      </p:sp>
      <p:pic>
        <p:nvPicPr>
          <p:cNvPr id="26" name="Image 4" descr="preencoded.png">    </p:cNvPr>
          <p:cNvPicPr>
            <a:picLocks noChangeAspect="1"/>
          </p:cNvPicPr>
          <p:nvPr/>
        </p:nvPicPr>
        <p:blipFill>
          <a:blip r:embed="rId5"/>
          <a:stretch>
            <a:fillRect/>
          </a:stretch>
        </p:blipFill>
        <p:spPr>
          <a:xfrm>
            <a:off x="6131966" y="1514246"/>
            <a:ext cx="263347" cy="263347"/>
          </a:xfrm>
          <a:prstGeom prst="rect">
            <a:avLst/>
          </a:prstGeom>
        </p:spPr>
      </p:pic>
      <p:sp>
        <p:nvSpPr>
          <p:cNvPr id="27" name="Text 19"/>
          <p:cNvSpPr txBox="1"/>
          <p:nvPr/>
        </p:nvSpPr>
        <p:spPr>
          <a:xfrm>
            <a:off x="5568696" y="2011680"/>
            <a:ext cx="1389888" cy="274320"/>
          </a:xfrm>
          <a:prstGeom prst="rect">
            <a:avLst/>
          </a:prstGeom>
          <a:noFill/>
          <a:ln/>
        </p:spPr>
        <p:txBody>
          <a:bodyPr wrap="square" lIns="0" tIns="0" rIns="0" bIns="0" rtlCol="0" anchor="t"/>
          <a:lstStyle/>
          <a:p>
            <a:pPr algn="ctr" indent="0" marL="0">
              <a:buNone/>
            </a:pPr>
            <a:r>
              <a:rPr lang="en-US" sz="1300" b="1" dirty="0">
                <a:solidFill>
                  <a:schemeClr val="tx2"/>
                </a:solidFill>
                <a:latin typeface="Cambria" pitchFamily="34" charset="0"/>
                <a:ea typeface="Cambria" pitchFamily="34" charset="-122"/>
                <a:cs typeface="Cambria" pitchFamily="34" charset="-120"/>
              </a:rPr>
              <a:t>Data access</a:t>
            </a:r>
            <a:endParaRPr lang="en-US" sz="1300" dirty="0"/>
          </a:p>
        </p:txBody>
      </p:sp>
      <p:sp>
        <p:nvSpPr>
          <p:cNvPr id="28" name="Text 20"/>
          <p:cNvSpPr txBox="1"/>
          <p:nvPr/>
        </p:nvSpPr>
        <p:spPr>
          <a:xfrm>
            <a:off x="5614416" y="2331720"/>
            <a:ext cx="1335024" cy="137160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tx1"/>
                </a:solidFill>
              </a:rPr>
              <a:t>db.py</a:t>
            </a:r>
            <a:endParaRPr lang="en-US" sz="1100" dirty="0"/>
          </a:p>
          <a:p>
            <a:pPr marL="177800" indent="-177800">
              <a:spcAft>
                <a:spcPts val="300"/>
              </a:spcAft>
              <a:buSzPct val="100000"/>
              <a:buChar char="•"/>
            </a:pPr>
            <a:r>
              <a:rPr lang="en-US" sz="1100" dirty="0">
                <a:solidFill>
                  <a:schemeClr val="tx1"/>
                </a:solidFill>
              </a:rPr>
              <a:t>'?' to '%s' for MySQL</a:t>
            </a:r>
            <a:endParaRPr lang="en-US" sz="1100" dirty="0"/>
          </a:p>
          <a:p>
            <a:pPr marL="177800" indent="-177800">
              <a:spcAft>
                <a:spcPts val="300"/>
              </a:spcAft>
              <a:buSzPct val="100000"/>
              <a:buChar char="•"/>
            </a:pPr>
            <a:r>
              <a:rPr lang="en-US" sz="1100" dirty="0">
                <a:solidFill>
                  <a:schemeClr val="tx1"/>
                </a:solidFill>
              </a:rPr>
              <a:t>Decimal handling</a:t>
            </a:r>
            <a:endParaRPr lang="en-US" sz="1100" dirty="0"/>
          </a:p>
          <a:p>
            <a:pPr marL="177800" indent="-177800">
              <a:spcAft>
                <a:spcPts val="300"/>
              </a:spcAft>
              <a:buSzPct val="100000"/>
              <a:buChar char="•"/>
            </a:pPr>
            <a:r>
              <a:rPr lang="en-US" sz="1100" dirty="0">
                <a:solidFill>
                  <a:schemeClr val="tx1"/>
                </a:solidFill>
              </a:rPr>
              <a:t>Commit / rollback</a:t>
            </a:r>
            <a:endParaRPr lang="en-US" sz="1100" dirty="0"/>
          </a:p>
        </p:txBody>
      </p:sp>
      <p:sp>
        <p:nvSpPr>
          <p:cNvPr id="29" name="Shape 21"/>
          <p:cNvSpPr/>
          <p:nvPr/>
        </p:nvSpPr>
        <p:spPr>
          <a:xfrm>
            <a:off x="7022592" y="2468880"/>
            <a:ext cx="201168" cy="0"/>
          </a:xfrm>
          <a:prstGeom prst="line">
            <a:avLst/>
          </a:prstGeom>
          <a:noFill/>
          <a:ln w="25400">
            <a:solidFill>
              <a:schemeClr val="accent2"/>
            </a:solidFill>
            <a:prstDash val="solid"/>
            <a:tailEnd type="triangle"/>
          </a:ln>
        </p:spPr>
      </p:sp>
      <p:sp>
        <p:nvSpPr>
          <p:cNvPr id="30" name="Shape 22"/>
          <p:cNvSpPr/>
          <p:nvPr/>
        </p:nvSpPr>
        <p:spPr>
          <a:xfrm>
            <a:off x="7242048" y="1234440"/>
            <a:ext cx="1481328" cy="2514600"/>
          </a:xfrm>
          <a:prstGeom prst="roundRect">
            <a:avLst>
              <a:gd name="adj" fmla="val 4938"/>
            </a:avLst>
          </a:prstGeom>
          <a:solidFill>
            <a:schemeClr val="accent3"/>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1" name="Shape 23"/>
          <p:cNvSpPr/>
          <p:nvPr/>
        </p:nvSpPr>
        <p:spPr>
          <a:xfrm>
            <a:off x="7708392" y="1371600"/>
            <a:ext cx="548640" cy="548640"/>
          </a:xfrm>
          <a:prstGeom prst="ellipse">
            <a:avLst/>
          </a:prstGeom>
          <a:solidFill>
            <a:schemeClr val="accent2"/>
          </a:solidFill>
          <a:ln w="12700">
            <a:solidFill>
              <a:schemeClr val="accent2"/>
            </a:solidFill>
            <a:prstDash val="solid"/>
          </a:ln>
        </p:spPr>
      </p:sp>
      <p:pic>
        <p:nvPicPr>
          <p:cNvPr id="32" name="Image 5" descr="preencoded.png">    </p:cNvPr>
          <p:cNvPicPr>
            <a:picLocks noChangeAspect="1"/>
          </p:cNvPicPr>
          <p:nvPr/>
        </p:nvPicPr>
        <p:blipFill>
          <a:blip r:embed="rId6"/>
          <a:stretch>
            <a:fillRect/>
          </a:stretch>
        </p:blipFill>
        <p:spPr>
          <a:xfrm>
            <a:off x="7851038" y="1514246"/>
            <a:ext cx="263347" cy="263347"/>
          </a:xfrm>
          <a:prstGeom prst="rect">
            <a:avLst/>
          </a:prstGeom>
        </p:spPr>
      </p:pic>
      <p:sp>
        <p:nvSpPr>
          <p:cNvPr id="33" name="Text 24"/>
          <p:cNvSpPr txBox="1"/>
          <p:nvPr/>
        </p:nvSpPr>
        <p:spPr>
          <a:xfrm>
            <a:off x="7287768" y="2011680"/>
            <a:ext cx="1389888" cy="274320"/>
          </a:xfrm>
          <a:prstGeom prst="rect">
            <a:avLst/>
          </a:prstGeom>
          <a:noFill/>
          <a:ln/>
        </p:spPr>
        <p:txBody>
          <a:bodyPr wrap="square" lIns="0" tIns="0" rIns="0" bIns="0" rtlCol="0" anchor="t"/>
          <a:lstStyle/>
          <a:p>
            <a:pPr algn="ctr" indent="0" marL="0">
              <a:buNone/>
            </a:pPr>
            <a:r>
              <a:rPr lang="en-US" sz="1300" b="1" dirty="0">
                <a:solidFill>
                  <a:schemeClr val="bg1"/>
                </a:solidFill>
                <a:latin typeface="Cambria" pitchFamily="34" charset="0"/>
                <a:ea typeface="Cambria" pitchFamily="34" charset="-122"/>
                <a:cs typeface="Cambria" pitchFamily="34" charset="-120"/>
              </a:rPr>
              <a:t>Database</a:t>
            </a:r>
            <a:endParaRPr lang="en-US" sz="1300" dirty="0"/>
          </a:p>
        </p:txBody>
      </p:sp>
      <p:sp>
        <p:nvSpPr>
          <p:cNvPr id="34" name="Text 25"/>
          <p:cNvSpPr txBox="1"/>
          <p:nvPr/>
        </p:nvSpPr>
        <p:spPr>
          <a:xfrm>
            <a:off x="7333488" y="2331720"/>
            <a:ext cx="1335024" cy="137160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bg1"/>
                </a:solidFill>
              </a:rPr>
              <a:t>SQLite (default)</a:t>
            </a:r>
            <a:endParaRPr lang="en-US" sz="1100" dirty="0"/>
          </a:p>
          <a:p>
            <a:pPr marL="177800" indent="-177800">
              <a:spcAft>
                <a:spcPts val="300"/>
              </a:spcAft>
              <a:buSzPct val="100000"/>
              <a:buChar char="•"/>
            </a:pPr>
            <a:r>
              <a:rPr lang="en-US" sz="1100" dirty="0">
                <a:solidFill>
                  <a:schemeClr val="bg1"/>
                </a:solidFill>
              </a:rPr>
              <a:t>MySQL 8 (optional)</a:t>
            </a:r>
            <a:endParaRPr lang="en-US" sz="1100" dirty="0"/>
          </a:p>
          <a:p>
            <a:pPr marL="177800" indent="-177800">
              <a:spcAft>
                <a:spcPts val="300"/>
              </a:spcAft>
              <a:buSzPct val="100000"/>
              <a:buChar char="•"/>
            </a:pPr>
            <a:r>
              <a:rPr lang="en-US" sz="1100" dirty="0">
                <a:solidFill>
                  <a:schemeClr val="bg1"/>
                </a:solidFill>
              </a:rPr>
              <a:t>14 tables</a:t>
            </a:r>
            <a:endParaRPr lang="en-US" sz="1100" dirty="0"/>
          </a:p>
          <a:p>
            <a:pPr marL="177800" indent="-177800">
              <a:spcAft>
                <a:spcPts val="300"/>
              </a:spcAft>
              <a:buSzPct val="100000"/>
              <a:buChar char="•"/>
            </a:pPr>
            <a:r>
              <a:rPr lang="en-US" sz="1100" dirty="0">
                <a:solidFill>
                  <a:schemeClr val="bg1"/>
                </a:solidFill>
              </a:rPr>
              <a:t>PK, FK, CHECK, UNIQUE</a:t>
            </a:r>
            <a:endParaRPr lang="en-US" sz="1100" dirty="0"/>
          </a:p>
        </p:txBody>
      </p:sp>
      <p:sp>
        <p:nvSpPr>
          <p:cNvPr id="35" name="Shape 26"/>
          <p:cNvSpPr/>
          <p:nvPr/>
        </p:nvSpPr>
        <p:spPr>
          <a:xfrm>
            <a:off x="365760" y="4114800"/>
            <a:ext cx="8412480" cy="548640"/>
          </a:xfrm>
          <a:prstGeom prst="roundRect">
            <a:avLst>
              <a:gd name="adj" fmla="val 1333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6" name="Text 27"/>
          <p:cNvSpPr txBox="1"/>
          <p:nvPr/>
        </p:nvSpPr>
        <p:spPr>
          <a:xfrm>
            <a:off x="548640" y="4114800"/>
            <a:ext cx="8046720" cy="548640"/>
          </a:xfrm>
          <a:prstGeom prst="rect">
            <a:avLst/>
          </a:prstGeom>
          <a:noFill/>
          <a:ln/>
        </p:spPr>
        <p:txBody>
          <a:bodyPr wrap="square" lIns="0" tIns="0" rIns="0" bIns="0" rtlCol="0" anchor="ctr"/>
          <a:lstStyle/>
          <a:p>
            <a:pPr indent="0" marL="0">
              <a:buNone/>
            </a:pPr>
            <a:r>
              <a:rPr lang="en-US" sz="1200" b="1" dirty="0">
                <a:solidFill>
                  <a:schemeClr val="tx2"/>
                </a:solidFill>
              </a:rPr>
              <a:t>Supporting scripts:  </a:t>
            </a:r>
            <a:pPr indent="0" marL="0">
              <a:buNone/>
            </a:pPr>
            <a:r>
              <a:rPr lang="en-US" sz="1200" dirty="0">
                <a:solidFill>
                  <a:schemeClr val="tx1"/>
                </a:solidFill>
              </a:rPr>
              <a:t>init_db.py (schema + seed + demo payroll)   ·   generate_seed.py (synthetic data)   ·   capture_screenshots.py   ·   tests/test_app.py</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Technology Stack</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88720"/>
            <a:ext cx="2606040" cy="1600200"/>
          </a:xfrm>
          <a:prstGeom prst="roundRect">
            <a:avLst>
              <a:gd name="adj" fmla="val 457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Shape 3"/>
          <p:cNvSpPr/>
          <p:nvPr/>
        </p:nvSpPr>
        <p:spPr>
          <a:xfrm>
            <a:off x="640080" y="1371600"/>
            <a:ext cx="548640" cy="548640"/>
          </a:xfrm>
          <a:prstGeom prst="ellipse">
            <a:avLst/>
          </a:prstGeom>
          <a:solidFill>
            <a:schemeClr val="accent3"/>
          </a:solidFill>
          <a:ln w="12700">
            <a:solidFill>
              <a:schemeClr val="accent3"/>
            </a:solidFill>
            <a:prstDash val="solid"/>
          </a:ln>
        </p:spPr>
      </p:sp>
      <p:pic>
        <p:nvPicPr>
          <p:cNvPr id="8" name="Image 1" descr="preencoded.png">    </p:cNvPr>
          <p:cNvPicPr>
            <a:picLocks noChangeAspect="1"/>
          </p:cNvPicPr>
          <p:nvPr/>
        </p:nvPicPr>
        <p:blipFill>
          <a:blip r:embed="rId2"/>
          <a:stretch>
            <a:fillRect/>
          </a:stretch>
        </p:blipFill>
        <p:spPr>
          <a:xfrm>
            <a:off x="782726" y="1514246"/>
            <a:ext cx="263347" cy="263347"/>
          </a:xfrm>
          <a:prstGeom prst="rect">
            <a:avLst/>
          </a:prstGeom>
        </p:spPr>
      </p:pic>
      <p:sp>
        <p:nvSpPr>
          <p:cNvPr id="9" name="Text 4"/>
          <p:cNvSpPr txBox="1"/>
          <p:nvPr/>
        </p:nvSpPr>
        <p:spPr>
          <a:xfrm>
            <a:off x="1325880" y="137160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Python 3 + Flask</a:t>
            </a:r>
            <a:endParaRPr lang="en-US" sz="1400" dirty="0"/>
          </a:p>
        </p:txBody>
      </p:sp>
      <p:sp>
        <p:nvSpPr>
          <p:cNvPr id="10" name="Text 5"/>
          <p:cNvSpPr txBox="1"/>
          <p:nvPr/>
        </p:nvSpPr>
        <p:spPr>
          <a:xfrm>
            <a:off x="640080" y="2057400"/>
            <a:ext cx="2286000" cy="640080"/>
          </a:xfrm>
          <a:prstGeom prst="rect">
            <a:avLst/>
          </a:prstGeom>
          <a:noFill/>
          <a:ln/>
        </p:spPr>
        <p:txBody>
          <a:bodyPr wrap="square" lIns="0" tIns="0" rIns="0" bIns="0" rtlCol="0" anchor="t"/>
          <a:lstStyle/>
          <a:p>
            <a:pPr indent="0" marL="0">
              <a:buNone/>
            </a:pPr>
            <a:r>
              <a:rPr lang="en-US" sz="1200" dirty="0">
                <a:solidFill>
                  <a:schemeClr val="tx1"/>
                </a:solidFill>
              </a:rPr>
              <a:t>Routes, validation, payroll engine</a:t>
            </a:r>
            <a:endParaRPr lang="en-US" sz="1200" dirty="0"/>
          </a:p>
        </p:txBody>
      </p:sp>
      <p:sp>
        <p:nvSpPr>
          <p:cNvPr id="11" name="Shape 6"/>
          <p:cNvSpPr/>
          <p:nvPr/>
        </p:nvSpPr>
        <p:spPr>
          <a:xfrm>
            <a:off x="3264408" y="1188720"/>
            <a:ext cx="2606040" cy="1600200"/>
          </a:xfrm>
          <a:prstGeom prst="roundRect">
            <a:avLst>
              <a:gd name="adj" fmla="val 457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2" name="Shape 7"/>
          <p:cNvSpPr/>
          <p:nvPr/>
        </p:nvSpPr>
        <p:spPr>
          <a:xfrm>
            <a:off x="3447288" y="1371600"/>
            <a:ext cx="548640" cy="548640"/>
          </a:xfrm>
          <a:prstGeom prst="ellipse">
            <a:avLst/>
          </a:prstGeom>
          <a:solidFill>
            <a:schemeClr val="accent3"/>
          </a:solidFill>
          <a:ln w="12700">
            <a:solidFill>
              <a:schemeClr val="accent3"/>
            </a:solidFill>
            <a:prstDash val="solid"/>
          </a:ln>
        </p:spPr>
      </p:sp>
      <p:pic>
        <p:nvPicPr>
          <p:cNvPr id="13" name="Image 2" descr="preencoded.png">    </p:cNvPr>
          <p:cNvPicPr>
            <a:picLocks noChangeAspect="1"/>
          </p:cNvPicPr>
          <p:nvPr/>
        </p:nvPicPr>
        <p:blipFill>
          <a:blip r:embed="rId3"/>
          <a:stretch>
            <a:fillRect/>
          </a:stretch>
        </p:blipFill>
        <p:spPr>
          <a:xfrm>
            <a:off x="3589934" y="1514246"/>
            <a:ext cx="263347" cy="263347"/>
          </a:xfrm>
          <a:prstGeom prst="rect">
            <a:avLst/>
          </a:prstGeom>
        </p:spPr>
      </p:pic>
      <p:sp>
        <p:nvSpPr>
          <p:cNvPr id="14" name="Text 8"/>
          <p:cNvSpPr txBox="1"/>
          <p:nvPr/>
        </p:nvSpPr>
        <p:spPr>
          <a:xfrm>
            <a:off x="4133088" y="137160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HTML, Jinja2, CSS</a:t>
            </a:r>
            <a:endParaRPr lang="en-US" sz="1400" dirty="0"/>
          </a:p>
        </p:txBody>
      </p:sp>
      <p:sp>
        <p:nvSpPr>
          <p:cNvPr id="15" name="Text 9"/>
          <p:cNvSpPr txBox="1"/>
          <p:nvPr/>
        </p:nvSpPr>
        <p:spPr>
          <a:xfrm>
            <a:off x="3447288" y="2057400"/>
            <a:ext cx="2286000" cy="640080"/>
          </a:xfrm>
          <a:prstGeom prst="rect">
            <a:avLst/>
          </a:prstGeom>
          <a:noFill/>
          <a:ln/>
        </p:spPr>
        <p:txBody>
          <a:bodyPr wrap="square" lIns="0" tIns="0" rIns="0" bIns="0" rtlCol="0" anchor="t"/>
          <a:lstStyle/>
          <a:p>
            <a:pPr indent="0" marL="0">
              <a:buNone/>
            </a:pPr>
            <a:r>
              <a:rPr lang="en-US" sz="1200" dirty="0">
                <a:solidFill>
                  <a:schemeClr val="tx1"/>
                </a:solidFill>
              </a:rPr>
              <a:t>Server-rendered pages, custom navy-gold theme</a:t>
            </a:r>
            <a:endParaRPr lang="en-US" sz="1200" dirty="0"/>
          </a:p>
        </p:txBody>
      </p:sp>
      <p:sp>
        <p:nvSpPr>
          <p:cNvPr id="16" name="Shape 10"/>
          <p:cNvSpPr/>
          <p:nvPr/>
        </p:nvSpPr>
        <p:spPr>
          <a:xfrm>
            <a:off x="6071616" y="1188720"/>
            <a:ext cx="2606040" cy="1600200"/>
          </a:xfrm>
          <a:prstGeom prst="roundRect">
            <a:avLst>
              <a:gd name="adj" fmla="val 457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7" name="Shape 11"/>
          <p:cNvSpPr/>
          <p:nvPr/>
        </p:nvSpPr>
        <p:spPr>
          <a:xfrm>
            <a:off x="6254496" y="1371600"/>
            <a:ext cx="548640" cy="548640"/>
          </a:xfrm>
          <a:prstGeom prst="ellipse">
            <a:avLst/>
          </a:prstGeom>
          <a:solidFill>
            <a:schemeClr val="accent3"/>
          </a:solidFill>
          <a:ln w="12700">
            <a:solidFill>
              <a:schemeClr val="accent3"/>
            </a:solidFill>
            <a:prstDash val="solid"/>
          </a:ln>
        </p:spPr>
      </p:sp>
      <p:pic>
        <p:nvPicPr>
          <p:cNvPr id="18" name="Image 3" descr="preencoded.png">    </p:cNvPr>
          <p:cNvPicPr>
            <a:picLocks noChangeAspect="1"/>
          </p:cNvPicPr>
          <p:nvPr/>
        </p:nvPicPr>
        <p:blipFill>
          <a:blip r:embed="rId4"/>
          <a:stretch>
            <a:fillRect/>
          </a:stretch>
        </p:blipFill>
        <p:spPr>
          <a:xfrm>
            <a:off x="6397142" y="1514246"/>
            <a:ext cx="263347" cy="263347"/>
          </a:xfrm>
          <a:prstGeom prst="rect">
            <a:avLst/>
          </a:prstGeom>
        </p:spPr>
      </p:pic>
      <p:sp>
        <p:nvSpPr>
          <p:cNvPr id="19" name="Text 12"/>
          <p:cNvSpPr txBox="1"/>
          <p:nvPr/>
        </p:nvSpPr>
        <p:spPr>
          <a:xfrm>
            <a:off x="6940296" y="137160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Bootstrap 5 + Icons</a:t>
            </a:r>
            <a:endParaRPr lang="en-US" sz="1400" dirty="0"/>
          </a:p>
        </p:txBody>
      </p:sp>
      <p:sp>
        <p:nvSpPr>
          <p:cNvPr id="20" name="Text 13"/>
          <p:cNvSpPr txBox="1"/>
          <p:nvPr/>
        </p:nvSpPr>
        <p:spPr>
          <a:xfrm>
            <a:off x="6254496" y="2057400"/>
            <a:ext cx="2286000" cy="640080"/>
          </a:xfrm>
          <a:prstGeom prst="rect">
            <a:avLst/>
          </a:prstGeom>
          <a:noFill/>
          <a:ln/>
        </p:spPr>
        <p:txBody>
          <a:bodyPr wrap="square" lIns="0" tIns="0" rIns="0" bIns="0" rtlCol="0" anchor="t"/>
          <a:lstStyle/>
          <a:p>
            <a:pPr indent="0" marL="0">
              <a:buNone/>
            </a:pPr>
            <a:r>
              <a:rPr lang="en-US" sz="1200" dirty="0">
                <a:solidFill>
                  <a:schemeClr val="tx1"/>
                </a:solidFill>
              </a:rPr>
              <a:t>Responsive layout, bundled locally</a:t>
            </a:r>
            <a:endParaRPr lang="en-US" sz="1200" dirty="0"/>
          </a:p>
        </p:txBody>
      </p:sp>
      <p:sp>
        <p:nvSpPr>
          <p:cNvPr id="21" name="Shape 14"/>
          <p:cNvSpPr/>
          <p:nvPr/>
        </p:nvSpPr>
        <p:spPr>
          <a:xfrm>
            <a:off x="457200" y="2971800"/>
            <a:ext cx="2606040" cy="1600200"/>
          </a:xfrm>
          <a:prstGeom prst="roundRect">
            <a:avLst>
              <a:gd name="adj" fmla="val 457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2" name="Shape 15"/>
          <p:cNvSpPr/>
          <p:nvPr/>
        </p:nvSpPr>
        <p:spPr>
          <a:xfrm>
            <a:off x="640080" y="3154680"/>
            <a:ext cx="548640" cy="548640"/>
          </a:xfrm>
          <a:prstGeom prst="ellipse">
            <a:avLst/>
          </a:prstGeom>
          <a:solidFill>
            <a:schemeClr val="accent3"/>
          </a:solidFill>
          <a:ln w="12700">
            <a:solidFill>
              <a:schemeClr val="accent3"/>
            </a:solidFill>
            <a:prstDash val="solid"/>
          </a:ln>
        </p:spPr>
      </p:sp>
      <p:pic>
        <p:nvPicPr>
          <p:cNvPr id="23" name="Image 4" descr="preencoded.png">    </p:cNvPr>
          <p:cNvPicPr>
            <a:picLocks noChangeAspect="1"/>
          </p:cNvPicPr>
          <p:nvPr/>
        </p:nvPicPr>
        <p:blipFill>
          <a:blip r:embed="rId5"/>
          <a:stretch>
            <a:fillRect/>
          </a:stretch>
        </p:blipFill>
        <p:spPr>
          <a:xfrm>
            <a:off x="782726" y="3297326"/>
            <a:ext cx="263347" cy="263347"/>
          </a:xfrm>
          <a:prstGeom prst="rect">
            <a:avLst/>
          </a:prstGeom>
        </p:spPr>
      </p:pic>
      <p:sp>
        <p:nvSpPr>
          <p:cNvPr id="24" name="Text 16"/>
          <p:cNvSpPr txBox="1"/>
          <p:nvPr/>
        </p:nvSpPr>
        <p:spPr>
          <a:xfrm>
            <a:off x="1325880" y="315468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JavaScript + Chart.js</a:t>
            </a:r>
            <a:endParaRPr lang="en-US" sz="1400" dirty="0"/>
          </a:p>
        </p:txBody>
      </p:sp>
      <p:sp>
        <p:nvSpPr>
          <p:cNvPr id="25" name="Text 17"/>
          <p:cNvSpPr txBox="1"/>
          <p:nvPr/>
        </p:nvSpPr>
        <p:spPr>
          <a:xfrm>
            <a:off x="640080" y="3840480"/>
            <a:ext cx="2286000" cy="640080"/>
          </a:xfrm>
          <a:prstGeom prst="rect">
            <a:avLst/>
          </a:prstGeom>
          <a:noFill/>
          <a:ln/>
        </p:spPr>
        <p:txBody>
          <a:bodyPr wrap="square" lIns="0" tIns="0" rIns="0" bIns="0" rtlCol="0" anchor="t"/>
          <a:lstStyle/>
          <a:p>
            <a:pPr indent="0" marL="0">
              <a:buNone/>
            </a:pPr>
            <a:r>
              <a:rPr lang="en-US" sz="1200" dirty="0">
                <a:solidFill>
                  <a:schemeClr val="tx1"/>
                </a:solidFill>
              </a:rPr>
              <a:t>Live table search, confirmations, dashboard charts</a:t>
            </a:r>
            <a:endParaRPr lang="en-US" sz="1200" dirty="0"/>
          </a:p>
        </p:txBody>
      </p:sp>
      <p:sp>
        <p:nvSpPr>
          <p:cNvPr id="26" name="Shape 18"/>
          <p:cNvSpPr/>
          <p:nvPr/>
        </p:nvSpPr>
        <p:spPr>
          <a:xfrm>
            <a:off x="3264408" y="2971800"/>
            <a:ext cx="2606040" cy="1600200"/>
          </a:xfrm>
          <a:prstGeom prst="roundRect">
            <a:avLst>
              <a:gd name="adj" fmla="val 457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7" name="Shape 19"/>
          <p:cNvSpPr/>
          <p:nvPr/>
        </p:nvSpPr>
        <p:spPr>
          <a:xfrm>
            <a:off x="3447288" y="3154680"/>
            <a:ext cx="548640" cy="548640"/>
          </a:xfrm>
          <a:prstGeom prst="ellipse">
            <a:avLst/>
          </a:prstGeom>
          <a:solidFill>
            <a:schemeClr val="accent3"/>
          </a:solidFill>
          <a:ln w="12700">
            <a:solidFill>
              <a:schemeClr val="accent3"/>
            </a:solidFill>
            <a:prstDash val="solid"/>
          </a:ln>
        </p:spPr>
      </p:sp>
      <p:pic>
        <p:nvPicPr>
          <p:cNvPr id="28" name="Image 5" descr="preencoded.png">    </p:cNvPr>
          <p:cNvPicPr>
            <a:picLocks noChangeAspect="1"/>
          </p:cNvPicPr>
          <p:nvPr/>
        </p:nvPicPr>
        <p:blipFill>
          <a:blip r:embed="rId6"/>
          <a:stretch>
            <a:fillRect/>
          </a:stretch>
        </p:blipFill>
        <p:spPr>
          <a:xfrm>
            <a:off x="3589934" y="3297326"/>
            <a:ext cx="263347" cy="263347"/>
          </a:xfrm>
          <a:prstGeom prst="rect">
            <a:avLst/>
          </a:prstGeom>
        </p:spPr>
      </p:pic>
      <p:sp>
        <p:nvSpPr>
          <p:cNvPr id="29" name="Text 20"/>
          <p:cNvSpPr txBox="1"/>
          <p:nvPr/>
        </p:nvSpPr>
        <p:spPr>
          <a:xfrm>
            <a:off x="4133088" y="315468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SQLite / MySQL 8</a:t>
            </a:r>
            <a:endParaRPr lang="en-US" sz="1400" dirty="0"/>
          </a:p>
        </p:txBody>
      </p:sp>
      <p:sp>
        <p:nvSpPr>
          <p:cNvPr id="30" name="Text 21"/>
          <p:cNvSpPr txBox="1"/>
          <p:nvPr/>
        </p:nvSpPr>
        <p:spPr>
          <a:xfrm>
            <a:off x="3447288" y="3840480"/>
            <a:ext cx="2286000" cy="640080"/>
          </a:xfrm>
          <a:prstGeom prst="rect">
            <a:avLst/>
          </a:prstGeom>
          <a:noFill/>
          <a:ln/>
        </p:spPr>
        <p:txBody>
          <a:bodyPr wrap="square" lIns="0" tIns="0" rIns="0" bIns="0" rtlCol="0" anchor="t"/>
          <a:lstStyle/>
          <a:p>
            <a:pPr indent="0" marL="0">
              <a:buNone/>
            </a:pPr>
            <a:r>
              <a:rPr lang="en-US" sz="1200" dirty="0">
                <a:solidFill>
                  <a:schemeClr val="tx1"/>
                </a:solidFill>
              </a:rPr>
              <a:t>SQLite default; MySQL scripts provided, not yet run live</a:t>
            </a:r>
            <a:endParaRPr lang="en-US" sz="1200" dirty="0"/>
          </a:p>
        </p:txBody>
      </p:sp>
      <p:sp>
        <p:nvSpPr>
          <p:cNvPr id="31" name="Shape 22"/>
          <p:cNvSpPr/>
          <p:nvPr/>
        </p:nvSpPr>
        <p:spPr>
          <a:xfrm>
            <a:off x="6071616" y="2971800"/>
            <a:ext cx="2606040" cy="1600200"/>
          </a:xfrm>
          <a:prstGeom prst="roundRect">
            <a:avLst>
              <a:gd name="adj" fmla="val 457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2" name="Shape 23"/>
          <p:cNvSpPr/>
          <p:nvPr/>
        </p:nvSpPr>
        <p:spPr>
          <a:xfrm>
            <a:off x="6254496" y="3154680"/>
            <a:ext cx="548640" cy="548640"/>
          </a:xfrm>
          <a:prstGeom prst="ellipse">
            <a:avLst/>
          </a:prstGeom>
          <a:solidFill>
            <a:schemeClr val="accent3"/>
          </a:solidFill>
          <a:ln w="12700">
            <a:solidFill>
              <a:schemeClr val="accent3"/>
            </a:solidFill>
            <a:prstDash val="solid"/>
          </a:ln>
        </p:spPr>
      </p:sp>
      <p:pic>
        <p:nvPicPr>
          <p:cNvPr id="33" name="Image 6" descr="preencoded.png">    </p:cNvPr>
          <p:cNvPicPr>
            <a:picLocks noChangeAspect="1"/>
          </p:cNvPicPr>
          <p:nvPr/>
        </p:nvPicPr>
        <p:blipFill>
          <a:blip r:embed="rId7"/>
          <a:stretch>
            <a:fillRect/>
          </a:stretch>
        </p:blipFill>
        <p:spPr>
          <a:xfrm>
            <a:off x="6397142" y="3297326"/>
            <a:ext cx="263347" cy="263347"/>
          </a:xfrm>
          <a:prstGeom prst="rect">
            <a:avLst/>
          </a:prstGeom>
        </p:spPr>
      </p:pic>
      <p:sp>
        <p:nvSpPr>
          <p:cNvPr id="34" name="Text 24"/>
          <p:cNvSpPr txBox="1"/>
          <p:nvPr/>
        </p:nvSpPr>
        <p:spPr>
          <a:xfrm>
            <a:off x="6940296" y="315468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unittest + Playwright</a:t>
            </a:r>
            <a:endParaRPr lang="en-US" sz="1400" dirty="0"/>
          </a:p>
        </p:txBody>
      </p:sp>
      <p:sp>
        <p:nvSpPr>
          <p:cNvPr id="35" name="Text 25"/>
          <p:cNvSpPr txBox="1"/>
          <p:nvPr/>
        </p:nvSpPr>
        <p:spPr>
          <a:xfrm>
            <a:off x="6254496" y="3840480"/>
            <a:ext cx="2286000" cy="640080"/>
          </a:xfrm>
          <a:prstGeom prst="rect">
            <a:avLst/>
          </a:prstGeom>
          <a:noFill/>
          <a:ln/>
        </p:spPr>
        <p:txBody>
          <a:bodyPr wrap="square" lIns="0" tIns="0" rIns="0" bIns="0" rtlCol="0" anchor="t"/>
          <a:lstStyle/>
          <a:p>
            <a:pPr indent="0" marL="0">
              <a:buNone/>
            </a:pPr>
            <a:r>
              <a:rPr lang="en-US" sz="1200" dirty="0">
                <a:solidFill>
                  <a:schemeClr val="tx1"/>
                </a:solidFill>
              </a:rPr>
              <a:t>40 automated tests; real screenshots from headless Chromium</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Database Design Principles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43000"/>
            <a:ext cx="1280160" cy="868680"/>
          </a:xfrm>
          <a:prstGeom prst="roundRect">
            <a:avLst>
              <a:gd name="adj" fmla="val 842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Text 3"/>
          <p:cNvSpPr txBox="1"/>
          <p:nvPr/>
        </p:nvSpPr>
        <p:spPr>
          <a:xfrm>
            <a:off x="457200" y="1264615"/>
            <a:ext cx="1280160" cy="43434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14</a:t>
            </a:r>
            <a:endParaRPr lang="en-US" sz="2600" dirty="0"/>
          </a:p>
        </p:txBody>
      </p:sp>
      <p:sp>
        <p:nvSpPr>
          <p:cNvPr id="8" name="Text 4"/>
          <p:cNvSpPr txBox="1"/>
          <p:nvPr/>
        </p:nvSpPr>
        <p:spPr>
          <a:xfrm>
            <a:off x="548640" y="1681582"/>
            <a:ext cx="1097280" cy="260604"/>
          </a:xfrm>
          <a:prstGeom prst="rect">
            <a:avLst/>
          </a:prstGeom>
          <a:noFill/>
          <a:ln/>
        </p:spPr>
        <p:txBody>
          <a:bodyPr wrap="square" lIns="0" tIns="0" rIns="0" bIns="0" rtlCol="0" anchor="t"/>
          <a:lstStyle/>
          <a:p>
            <a:pPr algn="ctr" indent="0" marL="0">
              <a:buNone/>
            </a:pPr>
            <a:r>
              <a:rPr lang="en-US" sz="1200" dirty="0">
                <a:solidFill>
                  <a:schemeClr val="tx1"/>
                </a:solidFill>
              </a:rPr>
              <a:t>tables</a:t>
            </a:r>
            <a:endParaRPr lang="en-US" sz="1200" dirty="0"/>
          </a:p>
        </p:txBody>
      </p:sp>
      <p:sp>
        <p:nvSpPr>
          <p:cNvPr id="9" name="Shape 5"/>
          <p:cNvSpPr/>
          <p:nvPr/>
        </p:nvSpPr>
        <p:spPr>
          <a:xfrm>
            <a:off x="1856232" y="1143000"/>
            <a:ext cx="1280160" cy="868680"/>
          </a:xfrm>
          <a:prstGeom prst="roundRect">
            <a:avLst>
              <a:gd name="adj" fmla="val 842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0" name="Text 6"/>
          <p:cNvSpPr txBox="1"/>
          <p:nvPr/>
        </p:nvSpPr>
        <p:spPr>
          <a:xfrm>
            <a:off x="1856232" y="1264615"/>
            <a:ext cx="1280160" cy="43434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14</a:t>
            </a:r>
            <a:endParaRPr lang="en-US" sz="2600" dirty="0"/>
          </a:p>
        </p:txBody>
      </p:sp>
      <p:sp>
        <p:nvSpPr>
          <p:cNvPr id="11" name="Text 7"/>
          <p:cNvSpPr txBox="1"/>
          <p:nvPr/>
        </p:nvSpPr>
        <p:spPr>
          <a:xfrm>
            <a:off x="1947672" y="1681582"/>
            <a:ext cx="1097280" cy="260604"/>
          </a:xfrm>
          <a:prstGeom prst="rect">
            <a:avLst/>
          </a:prstGeom>
          <a:noFill/>
          <a:ln/>
        </p:spPr>
        <p:txBody>
          <a:bodyPr wrap="square" lIns="0" tIns="0" rIns="0" bIns="0" rtlCol="0" anchor="t"/>
          <a:lstStyle/>
          <a:p>
            <a:pPr algn="ctr" indent="0" marL="0">
              <a:buNone/>
            </a:pPr>
            <a:r>
              <a:rPr lang="en-US" sz="1200" dirty="0">
                <a:solidFill>
                  <a:schemeClr val="tx1"/>
                </a:solidFill>
              </a:rPr>
              <a:t>primary keys</a:t>
            </a:r>
            <a:endParaRPr lang="en-US" sz="1200" dirty="0"/>
          </a:p>
        </p:txBody>
      </p:sp>
      <p:sp>
        <p:nvSpPr>
          <p:cNvPr id="12" name="Shape 8"/>
          <p:cNvSpPr/>
          <p:nvPr/>
        </p:nvSpPr>
        <p:spPr>
          <a:xfrm>
            <a:off x="3255264" y="1143000"/>
            <a:ext cx="1280160" cy="868680"/>
          </a:xfrm>
          <a:prstGeom prst="roundRect">
            <a:avLst>
              <a:gd name="adj" fmla="val 842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3" name="Text 9"/>
          <p:cNvSpPr txBox="1"/>
          <p:nvPr/>
        </p:nvSpPr>
        <p:spPr>
          <a:xfrm>
            <a:off x="3255264" y="1264615"/>
            <a:ext cx="1280160" cy="43434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16</a:t>
            </a:r>
            <a:endParaRPr lang="en-US" sz="2600" dirty="0"/>
          </a:p>
        </p:txBody>
      </p:sp>
      <p:sp>
        <p:nvSpPr>
          <p:cNvPr id="14" name="Text 10"/>
          <p:cNvSpPr txBox="1"/>
          <p:nvPr/>
        </p:nvSpPr>
        <p:spPr>
          <a:xfrm>
            <a:off x="3346704" y="1681582"/>
            <a:ext cx="1097280" cy="260604"/>
          </a:xfrm>
          <a:prstGeom prst="rect">
            <a:avLst/>
          </a:prstGeom>
          <a:noFill/>
          <a:ln/>
        </p:spPr>
        <p:txBody>
          <a:bodyPr wrap="square" lIns="0" tIns="0" rIns="0" bIns="0" rtlCol="0" anchor="t"/>
          <a:lstStyle/>
          <a:p>
            <a:pPr algn="ctr" indent="0" marL="0">
              <a:buNone/>
            </a:pPr>
            <a:r>
              <a:rPr lang="en-US" sz="1200" dirty="0">
                <a:solidFill>
                  <a:schemeClr val="tx1"/>
                </a:solidFill>
              </a:rPr>
              <a:t>foreign keys</a:t>
            </a:r>
            <a:endParaRPr lang="en-US" sz="1200" dirty="0"/>
          </a:p>
        </p:txBody>
      </p:sp>
      <p:sp>
        <p:nvSpPr>
          <p:cNvPr id="15" name="Shape 11"/>
          <p:cNvSpPr/>
          <p:nvPr/>
        </p:nvSpPr>
        <p:spPr>
          <a:xfrm>
            <a:off x="4654296" y="1143000"/>
            <a:ext cx="1280160" cy="868680"/>
          </a:xfrm>
          <a:prstGeom prst="roundRect">
            <a:avLst>
              <a:gd name="adj" fmla="val 842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6" name="Text 12"/>
          <p:cNvSpPr txBox="1"/>
          <p:nvPr/>
        </p:nvSpPr>
        <p:spPr>
          <a:xfrm>
            <a:off x="4654296" y="1264615"/>
            <a:ext cx="1280160" cy="43434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13</a:t>
            </a:r>
            <a:endParaRPr lang="en-US" sz="2600" dirty="0"/>
          </a:p>
        </p:txBody>
      </p:sp>
      <p:sp>
        <p:nvSpPr>
          <p:cNvPr id="17" name="Text 13"/>
          <p:cNvSpPr txBox="1"/>
          <p:nvPr/>
        </p:nvSpPr>
        <p:spPr>
          <a:xfrm>
            <a:off x="4745736" y="1681582"/>
            <a:ext cx="1097280" cy="260604"/>
          </a:xfrm>
          <a:prstGeom prst="rect">
            <a:avLst/>
          </a:prstGeom>
          <a:noFill/>
          <a:ln/>
        </p:spPr>
        <p:txBody>
          <a:bodyPr wrap="square" lIns="0" tIns="0" rIns="0" bIns="0" rtlCol="0" anchor="t"/>
          <a:lstStyle/>
          <a:p>
            <a:pPr algn="ctr" indent="0" marL="0">
              <a:buNone/>
            </a:pPr>
            <a:r>
              <a:rPr lang="en-US" sz="1200" dirty="0">
                <a:solidFill>
                  <a:schemeClr val="tx1"/>
                </a:solidFill>
              </a:rPr>
              <a:t>UNIQUE</a:t>
            </a:r>
            <a:endParaRPr lang="en-US" sz="1200" dirty="0"/>
          </a:p>
        </p:txBody>
      </p:sp>
      <p:sp>
        <p:nvSpPr>
          <p:cNvPr id="18" name="Shape 14"/>
          <p:cNvSpPr/>
          <p:nvPr/>
        </p:nvSpPr>
        <p:spPr>
          <a:xfrm>
            <a:off x="6053328" y="1143000"/>
            <a:ext cx="1280160" cy="868680"/>
          </a:xfrm>
          <a:prstGeom prst="roundRect">
            <a:avLst>
              <a:gd name="adj" fmla="val 842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9" name="Text 15"/>
          <p:cNvSpPr txBox="1"/>
          <p:nvPr/>
        </p:nvSpPr>
        <p:spPr>
          <a:xfrm>
            <a:off x="6053328" y="1264615"/>
            <a:ext cx="1280160" cy="43434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21</a:t>
            </a:r>
            <a:endParaRPr lang="en-US" sz="2600" dirty="0"/>
          </a:p>
        </p:txBody>
      </p:sp>
      <p:sp>
        <p:nvSpPr>
          <p:cNvPr id="20" name="Text 16"/>
          <p:cNvSpPr txBox="1"/>
          <p:nvPr/>
        </p:nvSpPr>
        <p:spPr>
          <a:xfrm>
            <a:off x="6144768" y="1681582"/>
            <a:ext cx="1097280" cy="260604"/>
          </a:xfrm>
          <a:prstGeom prst="rect">
            <a:avLst/>
          </a:prstGeom>
          <a:noFill/>
          <a:ln/>
        </p:spPr>
        <p:txBody>
          <a:bodyPr wrap="square" lIns="0" tIns="0" rIns="0" bIns="0" rtlCol="0" anchor="t"/>
          <a:lstStyle/>
          <a:p>
            <a:pPr algn="ctr" indent="0" marL="0">
              <a:buNone/>
            </a:pPr>
            <a:r>
              <a:rPr lang="en-US" sz="1200" dirty="0">
                <a:solidFill>
                  <a:schemeClr val="tx1"/>
                </a:solidFill>
              </a:rPr>
              <a:t>CHECK</a:t>
            </a:r>
            <a:endParaRPr lang="en-US" sz="1200" dirty="0"/>
          </a:p>
        </p:txBody>
      </p:sp>
      <p:sp>
        <p:nvSpPr>
          <p:cNvPr id="21" name="Shape 17"/>
          <p:cNvSpPr/>
          <p:nvPr/>
        </p:nvSpPr>
        <p:spPr>
          <a:xfrm>
            <a:off x="7452360" y="1143000"/>
            <a:ext cx="1280160" cy="868680"/>
          </a:xfrm>
          <a:prstGeom prst="roundRect">
            <a:avLst>
              <a:gd name="adj" fmla="val 842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2" name="Text 18"/>
          <p:cNvSpPr txBox="1"/>
          <p:nvPr/>
        </p:nvSpPr>
        <p:spPr>
          <a:xfrm>
            <a:off x="7452360" y="1264615"/>
            <a:ext cx="1280160" cy="43434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7</a:t>
            </a:r>
            <a:endParaRPr lang="en-US" sz="2600" dirty="0"/>
          </a:p>
        </p:txBody>
      </p:sp>
      <p:sp>
        <p:nvSpPr>
          <p:cNvPr id="23" name="Text 19"/>
          <p:cNvSpPr txBox="1"/>
          <p:nvPr/>
        </p:nvSpPr>
        <p:spPr>
          <a:xfrm>
            <a:off x="7543800" y="1681582"/>
            <a:ext cx="1097280" cy="260604"/>
          </a:xfrm>
          <a:prstGeom prst="rect">
            <a:avLst/>
          </a:prstGeom>
          <a:noFill/>
          <a:ln/>
        </p:spPr>
        <p:txBody>
          <a:bodyPr wrap="square" lIns="0" tIns="0" rIns="0" bIns="0" rtlCol="0" anchor="t"/>
          <a:lstStyle/>
          <a:p>
            <a:pPr algn="ctr" indent="0" marL="0">
              <a:buNone/>
            </a:pPr>
            <a:r>
              <a:rPr lang="en-US" sz="1200" dirty="0">
                <a:solidFill>
                  <a:schemeClr val="tx1"/>
                </a:solidFill>
              </a:rPr>
              <a:t>indexes</a:t>
            </a:r>
            <a:endParaRPr lang="en-US" sz="1200" dirty="0"/>
          </a:p>
        </p:txBody>
      </p:sp>
      <p:sp>
        <p:nvSpPr>
          <p:cNvPr id="24" name="Shape 20"/>
          <p:cNvSpPr/>
          <p:nvPr/>
        </p:nvSpPr>
        <p:spPr>
          <a:xfrm>
            <a:off x="457200" y="2194560"/>
            <a:ext cx="2606040" cy="2468880"/>
          </a:xfrm>
          <a:prstGeom prst="roundRect">
            <a:avLst>
              <a:gd name="adj" fmla="val 296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5" name="Text 21"/>
          <p:cNvSpPr txBox="1"/>
          <p:nvPr/>
        </p:nvSpPr>
        <p:spPr>
          <a:xfrm>
            <a:off x="594360" y="2286000"/>
            <a:ext cx="2331720" cy="27432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Normalisation (3NF)</a:t>
            </a:r>
            <a:endParaRPr lang="en-US" sz="1400" dirty="0"/>
          </a:p>
        </p:txBody>
      </p:sp>
      <p:sp>
        <p:nvSpPr>
          <p:cNvPr id="26" name="Text 22"/>
          <p:cNvSpPr txBox="1"/>
          <p:nvPr/>
        </p:nvSpPr>
        <p:spPr>
          <a:xfrm>
            <a:off x="594360" y="2633472"/>
            <a:ext cx="2331720" cy="19659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Atomic columns, one PK per table</a:t>
            </a:r>
            <a:endParaRPr lang="en-US" sz="1200" dirty="0"/>
          </a:p>
          <a:p>
            <a:pPr marL="177800" indent="-177800">
              <a:spcAft>
                <a:spcPts val="400"/>
              </a:spcAft>
              <a:buSzPct val="100000"/>
              <a:buChar char="•"/>
            </a:pPr>
            <a:r>
              <a:rPr lang="en-US" sz="1200" dirty="0">
                <a:solidFill>
                  <a:schemeClr val="tx1"/>
                </a:solidFill>
              </a:rPr>
              <a:t>LOP days derived, not stored</a:t>
            </a:r>
            <a:endParaRPr lang="en-US" sz="1200" dirty="0"/>
          </a:p>
          <a:p>
            <a:pPr marL="177800" indent="-177800">
              <a:spcAft>
                <a:spcPts val="400"/>
              </a:spcAft>
              <a:buSzPct val="100000"/>
              <a:buChar char="•"/>
            </a:pPr>
            <a:r>
              <a:rPr lang="en-US" sz="1200" dirty="0">
                <a:solidFill>
                  <a:schemeClr val="tx1"/>
                </a:solidFill>
              </a:rPr>
              <a:t>Names stored once, referenced by ID</a:t>
            </a:r>
            <a:endParaRPr lang="en-US" sz="1200" dirty="0"/>
          </a:p>
          <a:p>
            <a:pPr marL="177800" indent="-177800">
              <a:spcAft>
                <a:spcPts val="400"/>
              </a:spcAft>
              <a:buSzPct val="100000"/>
              <a:buChar char="•"/>
            </a:pPr>
            <a:r>
              <a:rPr lang="en-US" sz="1200" dirty="0">
                <a:solidFill>
                  <a:schemeClr val="tx1"/>
                </a:solidFill>
              </a:rPr>
              <a:t>payroll_detail = intentional snapshot</a:t>
            </a:r>
            <a:endParaRPr lang="en-US" sz="1200" dirty="0"/>
          </a:p>
        </p:txBody>
      </p:sp>
      <p:sp>
        <p:nvSpPr>
          <p:cNvPr id="27" name="Shape 23"/>
          <p:cNvSpPr/>
          <p:nvPr/>
        </p:nvSpPr>
        <p:spPr>
          <a:xfrm>
            <a:off x="3264408" y="2194560"/>
            <a:ext cx="2606040" cy="2468880"/>
          </a:xfrm>
          <a:prstGeom prst="roundRect">
            <a:avLst>
              <a:gd name="adj" fmla="val 296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8" name="Text 24"/>
          <p:cNvSpPr txBox="1"/>
          <p:nvPr/>
        </p:nvSpPr>
        <p:spPr>
          <a:xfrm>
            <a:off x="3401568" y="2286000"/>
            <a:ext cx="2331720" cy="27432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Keys &amp; relationships</a:t>
            </a:r>
            <a:endParaRPr lang="en-US" sz="1400" dirty="0"/>
          </a:p>
        </p:txBody>
      </p:sp>
      <p:sp>
        <p:nvSpPr>
          <p:cNvPr id="29" name="Text 25"/>
          <p:cNvSpPr txBox="1"/>
          <p:nvPr/>
        </p:nvSpPr>
        <p:spPr>
          <a:xfrm>
            <a:off x="3401568" y="2633472"/>
            <a:ext cx="2331720" cy="19659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Every relation uses a foreign key</a:t>
            </a:r>
            <a:endParaRPr lang="en-US" sz="1200" dirty="0"/>
          </a:p>
          <a:p>
            <a:pPr marL="177800" indent="-177800">
              <a:spcAft>
                <a:spcPts val="400"/>
              </a:spcAft>
              <a:buSzPct val="100000"/>
              <a:buChar char="•"/>
            </a:pPr>
            <a:r>
              <a:rPr lang="en-US" sz="1200" dirty="0">
                <a:solidFill>
                  <a:schemeClr val="tx1"/>
                </a:solidFill>
              </a:rPr>
              <a:t>salary_structure.employee_id UNIQUE gives 1:1</a:t>
            </a:r>
            <a:endParaRPr lang="en-US" sz="1200" dirty="0"/>
          </a:p>
          <a:p>
            <a:pPr marL="177800" indent="-177800">
              <a:spcAft>
                <a:spcPts val="400"/>
              </a:spcAft>
              <a:buSzPct val="100000"/>
              <a:buChar char="•"/>
            </a:pPr>
            <a:r>
              <a:rPr lang="en-US" sz="1200" dirty="0">
                <a:solidFill>
                  <a:schemeClr val="tx1"/>
                </a:solidFill>
              </a:rPr>
              <a:t>payslip and bank_transfer 1:1 with payroll_detail</a:t>
            </a:r>
            <a:endParaRPr lang="en-US" sz="1200" dirty="0"/>
          </a:p>
          <a:p>
            <a:pPr marL="177800" indent="-177800">
              <a:spcAft>
                <a:spcPts val="400"/>
              </a:spcAft>
              <a:buSzPct val="100000"/>
              <a:buChar char="•"/>
            </a:pPr>
            <a:r>
              <a:rPr lang="en-US" sz="1200" dirty="0">
                <a:solidFill>
                  <a:schemeClr val="tx1"/>
                </a:solidFill>
              </a:rPr>
              <a:t>UNIQUE(employee, period) stops duplicates</a:t>
            </a:r>
            <a:endParaRPr lang="en-US" sz="1200" dirty="0"/>
          </a:p>
        </p:txBody>
      </p:sp>
      <p:sp>
        <p:nvSpPr>
          <p:cNvPr id="30" name="Shape 26"/>
          <p:cNvSpPr/>
          <p:nvPr/>
        </p:nvSpPr>
        <p:spPr>
          <a:xfrm>
            <a:off x="6071616" y="2194560"/>
            <a:ext cx="2606040" cy="2468880"/>
          </a:xfrm>
          <a:prstGeom prst="roundRect">
            <a:avLst>
              <a:gd name="adj" fmla="val 296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1" name="Text 27"/>
          <p:cNvSpPr txBox="1"/>
          <p:nvPr/>
        </p:nvSpPr>
        <p:spPr>
          <a:xfrm>
            <a:off x="6208776" y="2286000"/>
            <a:ext cx="2331720" cy="27432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Integrity rules</a:t>
            </a:r>
            <a:endParaRPr lang="en-US" sz="1400" dirty="0"/>
          </a:p>
        </p:txBody>
      </p:sp>
      <p:sp>
        <p:nvSpPr>
          <p:cNvPr id="32" name="Text 28"/>
          <p:cNvSpPr txBox="1"/>
          <p:nvPr/>
        </p:nvSpPr>
        <p:spPr>
          <a:xfrm>
            <a:off x="6208776" y="2633472"/>
            <a:ext cx="2331720" cy="19659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CHECK: amounts &gt; 0, grade 1-10, present + leave &lt;= working days</a:t>
            </a:r>
            <a:endParaRPr lang="en-US" sz="1200" dirty="0"/>
          </a:p>
          <a:p>
            <a:pPr marL="177800" indent="-177800">
              <a:spcAft>
                <a:spcPts val="400"/>
              </a:spcAft>
              <a:buSzPct val="100000"/>
              <a:buChar char="•"/>
            </a:pPr>
            <a:r>
              <a:rPr lang="en-US" sz="1200" dirty="0">
                <a:solidFill>
                  <a:schemeClr val="tx1"/>
                </a:solidFill>
              </a:rPr>
              <a:t>RESTRICT: no delete of paid history</a:t>
            </a:r>
            <a:endParaRPr lang="en-US" sz="1200" dirty="0"/>
          </a:p>
          <a:p>
            <a:pPr marL="177800" indent="-177800">
              <a:spcAft>
                <a:spcPts val="400"/>
              </a:spcAft>
              <a:buSzPct val="100000"/>
              <a:buChar char="•"/>
            </a:pPr>
            <a:r>
              <a:rPr lang="en-US" sz="1200" dirty="0">
                <a:solidFill>
                  <a:schemeClr val="tx1"/>
                </a:solidFill>
              </a:rPr>
              <a:t>CASCADE: employee inputs removed with employee</a:t>
            </a:r>
            <a:endParaRPr lang="en-US" sz="1200" dirty="0"/>
          </a:p>
          <a:p>
            <a:pPr marL="177800" indent="-177800">
              <a:spcAft>
                <a:spcPts val="400"/>
              </a:spcAft>
              <a:buSzPct val="100000"/>
              <a:buChar char="•"/>
            </a:pPr>
            <a:r>
              <a:rPr lang="en-US" sz="1200" dirty="0">
                <a:solidFill>
                  <a:schemeClr val="tx1"/>
                </a:solidFill>
              </a:rPr>
              <a:t>Processed periods are locked</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Implemented ER Diagram</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2468880" y="1572768"/>
            <a:ext cx="1463040" cy="758952"/>
          </a:xfrm>
          <a:prstGeom prst="line">
            <a:avLst/>
          </a:prstGeom>
          <a:noFill/>
          <a:ln w="19050">
            <a:solidFill>
              <a:schemeClr val="accent4"/>
            </a:solidFill>
            <a:prstDash val="solid"/>
          </a:ln>
        </p:spPr>
      </p:sp>
      <p:sp>
        <p:nvSpPr>
          <p:cNvPr id="7" name="Shape 3"/>
          <p:cNvSpPr/>
          <p:nvPr/>
        </p:nvSpPr>
        <p:spPr>
          <a:xfrm flipV="1">
            <a:off x="3931920" y="1572768"/>
            <a:ext cx="1280160" cy="758952"/>
          </a:xfrm>
          <a:prstGeom prst="line">
            <a:avLst/>
          </a:prstGeom>
          <a:noFill/>
          <a:ln w="19050">
            <a:solidFill>
              <a:schemeClr val="accent4"/>
            </a:solidFill>
            <a:prstDash val="solid"/>
          </a:ln>
        </p:spPr>
      </p:sp>
      <p:sp>
        <p:nvSpPr>
          <p:cNvPr id="8" name="Shape 4"/>
          <p:cNvSpPr/>
          <p:nvPr/>
        </p:nvSpPr>
        <p:spPr>
          <a:xfrm>
            <a:off x="1691640" y="2569464"/>
            <a:ext cx="1463040" cy="0"/>
          </a:xfrm>
          <a:prstGeom prst="line">
            <a:avLst/>
          </a:prstGeom>
          <a:noFill/>
          <a:ln w="19050">
            <a:solidFill>
              <a:schemeClr val="accent4"/>
            </a:solidFill>
            <a:prstDash val="solid"/>
          </a:ln>
        </p:spPr>
      </p:sp>
      <p:sp>
        <p:nvSpPr>
          <p:cNvPr id="9" name="Shape 5"/>
          <p:cNvSpPr/>
          <p:nvPr/>
        </p:nvSpPr>
        <p:spPr>
          <a:xfrm>
            <a:off x="4709160" y="2569464"/>
            <a:ext cx="1097280" cy="0"/>
          </a:xfrm>
          <a:prstGeom prst="line">
            <a:avLst/>
          </a:prstGeom>
          <a:noFill/>
          <a:ln w="19050">
            <a:solidFill>
              <a:schemeClr val="accent4"/>
            </a:solidFill>
            <a:prstDash val="solid"/>
          </a:ln>
        </p:spPr>
      </p:sp>
      <p:sp>
        <p:nvSpPr>
          <p:cNvPr id="10" name="Shape 6"/>
          <p:cNvSpPr/>
          <p:nvPr/>
        </p:nvSpPr>
        <p:spPr>
          <a:xfrm flipV="1">
            <a:off x="6515100" y="1572768"/>
            <a:ext cx="685800" cy="758952"/>
          </a:xfrm>
          <a:prstGeom prst="line">
            <a:avLst/>
          </a:prstGeom>
          <a:noFill/>
          <a:ln w="19050">
            <a:solidFill>
              <a:schemeClr val="accent4"/>
            </a:solidFill>
            <a:prstDash val="solid"/>
          </a:ln>
        </p:spPr>
      </p:sp>
      <p:sp>
        <p:nvSpPr>
          <p:cNvPr id="11" name="Shape 7"/>
          <p:cNvSpPr/>
          <p:nvPr/>
        </p:nvSpPr>
        <p:spPr>
          <a:xfrm flipV="1">
            <a:off x="7223760" y="2249424"/>
            <a:ext cx="640080" cy="320040"/>
          </a:xfrm>
          <a:prstGeom prst="line">
            <a:avLst/>
          </a:prstGeom>
          <a:noFill/>
          <a:ln w="19050">
            <a:solidFill>
              <a:schemeClr val="accent4"/>
            </a:solidFill>
            <a:prstDash val="solid"/>
          </a:ln>
        </p:spPr>
      </p:sp>
      <p:sp>
        <p:nvSpPr>
          <p:cNvPr id="12" name="Shape 8"/>
          <p:cNvSpPr/>
          <p:nvPr/>
        </p:nvSpPr>
        <p:spPr>
          <a:xfrm>
            <a:off x="7223760" y="2569464"/>
            <a:ext cx="640080" cy="411480"/>
          </a:xfrm>
          <a:prstGeom prst="line">
            <a:avLst/>
          </a:prstGeom>
          <a:noFill/>
          <a:ln w="19050">
            <a:solidFill>
              <a:schemeClr val="accent4"/>
            </a:solidFill>
            <a:prstDash val="solid"/>
          </a:ln>
        </p:spPr>
      </p:sp>
      <p:sp>
        <p:nvSpPr>
          <p:cNvPr id="13" name="Shape 9"/>
          <p:cNvSpPr/>
          <p:nvPr/>
        </p:nvSpPr>
        <p:spPr>
          <a:xfrm flipV="1">
            <a:off x="1005840" y="2807208"/>
            <a:ext cx="2926080" cy="1033272"/>
          </a:xfrm>
          <a:prstGeom prst="line">
            <a:avLst/>
          </a:prstGeom>
          <a:noFill/>
          <a:ln w="19050">
            <a:solidFill>
              <a:schemeClr val="accent4"/>
            </a:solidFill>
            <a:prstDash val="solid"/>
          </a:ln>
        </p:spPr>
      </p:sp>
      <p:sp>
        <p:nvSpPr>
          <p:cNvPr id="14" name="Shape 10"/>
          <p:cNvSpPr/>
          <p:nvPr/>
        </p:nvSpPr>
        <p:spPr>
          <a:xfrm flipV="1">
            <a:off x="2560320" y="2807208"/>
            <a:ext cx="1371600" cy="1033272"/>
          </a:xfrm>
          <a:prstGeom prst="line">
            <a:avLst/>
          </a:prstGeom>
          <a:noFill/>
          <a:ln w="19050">
            <a:solidFill>
              <a:schemeClr val="accent4"/>
            </a:solidFill>
            <a:prstDash val="solid"/>
          </a:ln>
        </p:spPr>
      </p:sp>
      <p:sp>
        <p:nvSpPr>
          <p:cNvPr id="15" name="Shape 11"/>
          <p:cNvSpPr/>
          <p:nvPr/>
        </p:nvSpPr>
        <p:spPr>
          <a:xfrm>
            <a:off x="3931920" y="2807208"/>
            <a:ext cx="182880" cy="1033272"/>
          </a:xfrm>
          <a:prstGeom prst="line">
            <a:avLst/>
          </a:prstGeom>
          <a:noFill/>
          <a:ln w="19050">
            <a:solidFill>
              <a:schemeClr val="accent4"/>
            </a:solidFill>
            <a:prstDash val="solid"/>
          </a:ln>
        </p:spPr>
      </p:sp>
      <p:sp>
        <p:nvSpPr>
          <p:cNvPr id="16" name="Shape 12"/>
          <p:cNvSpPr/>
          <p:nvPr/>
        </p:nvSpPr>
        <p:spPr>
          <a:xfrm>
            <a:off x="3931920" y="2807208"/>
            <a:ext cx="1737360" cy="1033272"/>
          </a:xfrm>
          <a:prstGeom prst="line">
            <a:avLst/>
          </a:prstGeom>
          <a:noFill/>
          <a:ln w="19050">
            <a:solidFill>
              <a:schemeClr val="accent4"/>
            </a:solidFill>
            <a:prstDash val="solid"/>
          </a:ln>
        </p:spPr>
      </p:sp>
      <p:sp>
        <p:nvSpPr>
          <p:cNvPr id="17" name="Shape 13"/>
          <p:cNvSpPr/>
          <p:nvPr/>
        </p:nvSpPr>
        <p:spPr>
          <a:xfrm>
            <a:off x="6355080" y="4078224"/>
            <a:ext cx="502920" cy="0"/>
          </a:xfrm>
          <a:prstGeom prst="line">
            <a:avLst/>
          </a:prstGeom>
          <a:noFill/>
          <a:ln w="19050">
            <a:solidFill>
              <a:schemeClr val="accent4"/>
            </a:solidFill>
            <a:prstDash val="solid"/>
          </a:ln>
        </p:spPr>
      </p:sp>
      <p:sp>
        <p:nvSpPr>
          <p:cNvPr id="18" name="Shape 14"/>
          <p:cNvSpPr/>
          <p:nvPr/>
        </p:nvSpPr>
        <p:spPr>
          <a:xfrm>
            <a:off x="6515100" y="2807208"/>
            <a:ext cx="1120140" cy="1033272"/>
          </a:xfrm>
          <a:prstGeom prst="line">
            <a:avLst/>
          </a:prstGeom>
          <a:noFill/>
          <a:ln w="19050">
            <a:solidFill>
              <a:schemeClr val="accent4"/>
            </a:solidFill>
            <a:prstDash val="solid"/>
          </a:ln>
        </p:spPr>
      </p:sp>
      <p:sp>
        <p:nvSpPr>
          <p:cNvPr id="19" name="Text 15"/>
          <p:cNvSpPr txBox="1"/>
          <p:nvPr/>
        </p:nvSpPr>
        <p:spPr>
          <a:xfrm>
            <a:off x="1783080" y="1097280"/>
            <a:ext cx="1371600" cy="475488"/>
          </a:xfrm>
          <a:prstGeom prst="roundRect">
            <a:avLst>
              <a:gd name="adj" fmla="val 13462"/>
            </a:avLst>
          </a:prstGeom>
          <a:solidFill>
            <a:schemeClr val="accent1"/>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Department</a:t>
            </a:r>
            <a:endParaRPr lang="en-US" sz="1200" dirty="0"/>
          </a:p>
        </p:txBody>
      </p:sp>
      <p:sp>
        <p:nvSpPr>
          <p:cNvPr id="20" name="Text 16"/>
          <p:cNvSpPr txBox="1"/>
          <p:nvPr/>
        </p:nvSpPr>
        <p:spPr>
          <a:xfrm>
            <a:off x="4526280" y="1097280"/>
            <a:ext cx="1371600" cy="475488"/>
          </a:xfrm>
          <a:prstGeom prst="roundRect">
            <a:avLst>
              <a:gd name="adj" fmla="val 13462"/>
            </a:avLst>
          </a:prstGeom>
          <a:solidFill>
            <a:schemeClr val="accent1"/>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Designation</a:t>
            </a:r>
            <a:endParaRPr lang="en-US" sz="1200" dirty="0"/>
          </a:p>
        </p:txBody>
      </p:sp>
      <p:sp>
        <p:nvSpPr>
          <p:cNvPr id="21" name="Text 17"/>
          <p:cNvSpPr txBox="1"/>
          <p:nvPr/>
        </p:nvSpPr>
        <p:spPr>
          <a:xfrm>
            <a:off x="320040" y="1097280"/>
            <a:ext cx="1234440" cy="475488"/>
          </a:xfrm>
          <a:prstGeom prst="roundRect">
            <a:avLst>
              <a:gd name="adj" fmla="val 13462"/>
            </a:avLst>
          </a:prstGeom>
          <a:solidFill>
            <a:schemeClr val="accent1"/>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Payroll Config</a:t>
            </a:r>
            <a:endParaRPr lang="en-US" sz="1200" dirty="0"/>
          </a:p>
        </p:txBody>
      </p:sp>
      <p:sp>
        <p:nvSpPr>
          <p:cNvPr id="22" name="Text 18"/>
          <p:cNvSpPr txBox="1"/>
          <p:nvPr/>
        </p:nvSpPr>
        <p:spPr>
          <a:xfrm>
            <a:off x="320040" y="2331720"/>
            <a:ext cx="1371600" cy="475488"/>
          </a:xfrm>
          <a:prstGeom prst="roundRect">
            <a:avLst>
              <a:gd name="adj" fmla="val 13462"/>
            </a:avLst>
          </a:prstGeom>
          <a:solidFill>
            <a:schemeClr val="accent1"/>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Salary Structure</a:t>
            </a:r>
            <a:endParaRPr lang="en-US" sz="1200" dirty="0"/>
          </a:p>
        </p:txBody>
      </p:sp>
      <p:sp>
        <p:nvSpPr>
          <p:cNvPr id="23" name="Text 19"/>
          <p:cNvSpPr txBox="1"/>
          <p:nvPr/>
        </p:nvSpPr>
        <p:spPr>
          <a:xfrm>
            <a:off x="3154680" y="2331720"/>
            <a:ext cx="1554480" cy="475488"/>
          </a:xfrm>
          <a:prstGeom prst="roundRect">
            <a:avLst>
              <a:gd name="adj" fmla="val 13462"/>
            </a:avLst>
          </a:prstGeom>
          <a:solidFill>
            <a:schemeClr val="accent3"/>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Employee</a:t>
            </a:r>
            <a:endParaRPr lang="en-US" sz="1200" dirty="0"/>
          </a:p>
        </p:txBody>
      </p:sp>
      <p:sp>
        <p:nvSpPr>
          <p:cNvPr id="24" name="Text 20"/>
          <p:cNvSpPr txBox="1"/>
          <p:nvPr/>
        </p:nvSpPr>
        <p:spPr>
          <a:xfrm>
            <a:off x="6492240" y="1097280"/>
            <a:ext cx="1417320" cy="475488"/>
          </a:xfrm>
          <a:prstGeom prst="roundRect">
            <a:avLst>
              <a:gd name="adj" fmla="val 13462"/>
            </a:avLst>
          </a:prstGeom>
          <a:solidFill>
            <a:schemeClr val="accent1"/>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Payroll Period</a:t>
            </a:r>
            <a:endParaRPr lang="en-US" sz="1200" dirty="0"/>
          </a:p>
        </p:txBody>
      </p:sp>
      <p:sp>
        <p:nvSpPr>
          <p:cNvPr id="25" name="Text 21"/>
          <p:cNvSpPr txBox="1"/>
          <p:nvPr/>
        </p:nvSpPr>
        <p:spPr>
          <a:xfrm>
            <a:off x="5806440" y="2331720"/>
            <a:ext cx="1417320" cy="475488"/>
          </a:xfrm>
          <a:prstGeom prst="roundRect">
            <a:avLst>
              <a:gd name="adj" fmla="val 13462"/>
            </a:avLst>
          </a:prstGeom>
          <a:solidFill>
            <a:schemeClr val="accent3"/>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Payroll Detail</a:t>
            </a:r>
            <a:endParaRPr lang="en-US" sz="1200" dirty="0"/>
          </a:p>
        </p:txBody>
      </p:sp>
      <p:sp>
        <p:nvSpPr>
          <p:cNvPr id="26" name="Text 22"/>
          <p:cNvSpPr txBox="1"/>
          <p:nvPr/>
        </p:nvSpPr>
        <p:spPr>
          <a:xfrm>
            <a:off x="7863840" y="2011680"/>
            <a:ext cx="1005840" cy="475488"/>
          </a:xfrm>
          <a:prstGeom prst="roundRect">
            <a:avLst>
              <a:gd name="adj" fmla="val 13462"/>
            </a:avLst>
          </a:prstGeom>
          <a:solidFill>
            <a:schemeClr val="bg1"/>
          </a:solidFill>
          <a:ln w="22225">
            <a:solidFill>
              <a:schemeClr val="accent2"/>
            </a:solidFill>
          </a:ln>
        </p:spPr>
        <p:txBody>
          <a:bodyPr wrap="square" lIns="381" tIns="381" rIns="381" bIns="381" rtlCol="0" anchor="ctr"/>
          <a:lstStyle/>
          <a:p>
            <a:pPr algn="ctr" indent="0" marL="0">
              <a:buNone/>
            </a:pPr>
            <a:r>
              <a:rPr lang="en-US" sz="1200" b="1" dirty="0">
                <a:solidFill>
                  <a:schemeClr val="tx2"/>
                </a:solidFill>
              </a:rPr>
              <a:t>Payslip</a:t>
            </a:r>
            <a:endParaRPr lang="en-US" sz="1200" dirty="0"/>
          </a:p>
        </p:txBody>
      </p:sp>
      <p:sp>
        <p:nvSpPr>
          <p:cNvPr id="27" name="Text 23"/>
          <p:cNvSpPr txBox="1"/>
          <p:nvPr/>
        </p:nvSpPr>
        <p:spPr>
          <a:xfrm>
            <a:off x="7863840" y="2743200"/>
            <a:ext cx="1005840" cy="475488"/>
          </a:xfrm>
          <a:prstGeom prst="roundRect">
            <a:avLst>
              <a:gd name="adj" fmla="val 13462"/>
            </a:avLst>
          </a:prstGeom>
          <a:solidFill>
            <a:schemeClr val="bg1"/>
          </a:solidFill>
          <a:ln w="22225">
            <a:solidFill>
              <a:schemeClr val="accent2"/>
            </a:solidFill>
          </a:ln>
        </p:spPr>
        <p:txBody>
          <a:bodyPr wrap="square" lIns="381" tIns="381" rIns="381" bIns="381" rtlCol="0" anchor="ctr"/>
          <a:lstStyle/>
          <a:p>
            <a:pPr algn="ctr" indent="0" marL="0">
              <a:buNone/>
            </a:pPr>
            <a:r>
              <a:rPr lang="en-US" sz="1200" b="1" dirty="0">
                <a:solidFill>
                  <a:schemeClr val="tx2"/>
                </a:solidFill>
              </a:rPr>
              <a:t>Bank Transfer</a:t>
            </a:r>
            <a:endParaRPr lang="en-US" sz="1200" dirty="0"/>
          </a:p>
        </p:txBody>
      </p:sp>
      <p:sp>
        <p:nvSpPr>
          <p:cNvPr id="28" name="Text 24"/>
          <p:cNvSpPr txBox="1"/>
          <p:nvPr/>
        </p:nvSpPr>
        <p:spPr>
          <a:xfrm>
            <a:off x="320040" y="3840480"/>
            <a:ext cx="1371600" cy="475488"/>
          </a:xfrm>
          <a:prstGeom prst="roundRect">
            <a:avLst>
              <a:gd name="adj" fmla="val 13462"/>
            </a:avLst>
          </a:prstGeom>
          <a:solidFill>
            <a:schemeClr val="bg1"/>
          </a:solidFill>
          <a:ln w="12700">
            <a:solidFill>
              <a:schemeClr val="accent3"/>
            </a:solidFill>
          </a:ln>
        </p:spPr>
        <p:txBody>
          <a:bodyPr wrap="square" lIns="381" tIns="381" rIns="381" bIns="381" rtlCol="0" anchor="ctr"/>
          <a:lstStyle/>
          <a:p>
            <a:pPr algn="ctr" indent="0" marL="0">
              <a:buNone/>
            </a:pPr>
            <a:r>
              <a:rPr lang="en-US" sz="1200" b="1" dirty="0">
                <a:solidFill>
                  <a:schemeClr val="tx2"/>
                </a:solidFill>
              </a:rPr>
              <a:t>Attendance</a:t>
            </a:r>
            <a:endParaRPr lang="en-US" sz="1200" dirty="0"/>
          </a:p>
        </p:txBody>
      </p:sp>
      <p:sp>
        <p:nvSpPr>
          <p:cNvPr id="29" name="Text 25"/>
          <p:cNvSpPr txBox="1"/>
          <p:nvPr/>
        </p:nvSpPr>
        <p:spPr>
          <a:xfrm>
            <a:off x="1874520" y="3840480"/>
            <a:ext cx="1371600" cy="475488"/>
          </a:xfrm>
          <a:prstGeom prst="roundRect">
            <a:avLst>
              <a:gd name="adj" fmla="val 13462"/>
            </a:avLst>
          </a:prstGeom>
          <a:solidFill>
            <a:schemeClr val="bg1"/>
          </a:solidFill>
          <a:ln w="12700">
            <a:solidFill>
              <a:schemeClr val="accent3"/>
            </a:solidFill>
          </a:ln>
        </p:spPr>
        <p:txBody>
          <a:bodyPr wrap="square" lIns="381" tIns="381" rIns="381" bIns="381" rtlCol="0" anchor="ctr"/>
          <a:lstStyle/>
          <a:p>
            <a:pPr algn="ctr" indent="0" marL="0">
              <a:buNone/>
            </a:pPr>
            <a:r>
              <a:rPr lang="en-US" sz="1200" b="1" dirty="0">
                <a:solidFill>
                  <a:schemeClr val="tx2"/>
                </a:solidFill>
              </a:rPr>
              <a:t>Earnings</a:t>
            </a:r>
            <a:endParaRPr lang="en-US" sz="1200" dirty="0"/>
          </a:p>
        </p:txBody>
      </p:sp>
      <p:sp>
        <p:nvSpPr>
          <p:cNvPr id="30" name="Text 26"/>
          <p:cNvSpPr txBox="1"/>
          <p:nvPr/>
        </p:nvSpPr>
        <p:spPr>
          <a:xfrm>
            <a:off x="3429000" y="3840480"/>
            <a:ext cx="1371600" cy="475488"/>
          </a:xfrm>
          <a:prstGeom prst="roundRect">
            <a:avLst>
              <a:gd name="adj" fmla="val 13462"/>
            </a:avLst>
          </a:prstGeom>
          <a:solidFill>
            <a:schemeClr val="bg1"/>
          </a:solidFill>
          <a:ln w="12700">
            <a:solidFill>
              <a:schemeClr val="accent3"/>
            </a:solidFill>
          </a:ln>
        </p:spPr>
        <p:txBody>
          <a:bodyPr wrap="square" lIns="381" tIns="381" rIns="381" bIns="381" rtlCol="0" anchor="ctr"/>
          <a:lstStyle/>
          <a:p>
            <a:pPr algn="ctr" indent="0" marL="0">
              <a:buNone/>
            </a:pPr>
            <a:r>
              <a:rPr lang="en-US" sz="1200" b="1" dirty="0">
                <a:solidFill>
                  <a:schemeClr val="tx2"/>
                </a:solidFill>
              </a:rPr>
              <a:t>Deductions</a:t>
            </a:r>
            <a:endParaRPr lang="en-US" sz="1200" dirty="0"/>
          </a:p>
        </p:txBody>
      </p:sp>
      <p:sp>
        <p:nvSpPr>
          <p:cNvPr id="31" name="Text 27"/>
          <p:cNvSpPr txBox="1"/>
          <p:nvPr/>
        </p:nvSpPr>
        <p:spPr>
          <a:xfrm>
            <a:off x="4983480" y="3840480"/>
            <a:ext cx="1371600" cy="475488"/>
          </a:xfrm>
          <a:prstGeom prst="roundRect">
            <a:avLst>
              <a:gd name="adj" fmla="val 13462"/>
            </a:avLst>
          </a:prstGeom>
          <a:solidFill>
            <a:schemeClr val="bg1"/>
          </a:solidFill>
          <a:ln w="12700">
            <a:solidFill>
              <a:schemeClr val="accent3"/>
            </a:solidFill>
          </a:ln>
        </p:spPr>
        <p:txBody>
          <a:bodyPr wrap="square" lIns="381" tIns="381" rIns="381" bIns="381" rtlCol="0" anchor="ctr"/>
          <a:lstStyle/>
          <a:p>
            <a:pPr algn="ctr" indent="0" marL="0">
              <a:buNone/>
            </a:pPr>
            <a:r>
              <a:rPr lang="en-US" sz="1200" b="1" dirty="0">
                <a:solidFill>
                  <a:schemeClr val="tx2"/>
                </a:solidFill>
              </a:rPr>
              <a:t>Loan</a:t>
            </a:r>
            <a:endParaRPr lang="en-US" sz="1200" dirty="0"/>
          </a:p>
        </p:txBody>
      </p:sp>
      <p:sp>
        <p:nvSpPr>
          <p:cNvPr id="32" name="Text 28"/>
          <p:cNvSpPr txBox="1"/>
          <p:nvPr/>
        </p:nvSpPr>
        <p:spPr>
          <a:xfrm>
            <a:off x="6858000" y="3840480"/>
            <a:ext cx="1554480" cy="475488"/>
          </a:xfrm>
          <a:prstGeom prst="roundRect">
            <a:avLst>
              <a:gd name="adj" fmla="val 13462"/>
            </a:avLst>
          </a:prstGeom>
          <a:solidFill>
            <a:schemeClr val="bg1"/>
          </a:solidFill>
          <a:ln w="22225">
            <a:solidFill>
              <a:schemeClr val="accent2"/>
            </a:solidFill>
          </a:ln>
        </p:spPr>
        <p:txBody>
          <a:bodyPr wrap="square" lIns="381" tIns="381" rIns="381" bIns="381" rtlCol="0" anchor="ctr"/>
          <a:lstStyle/>
          <a:p>
            <a:pPr algn="ctr" indent="0" marL="0">
              <a:buNone/>
            </a:pPr>
            <a:r>
              <a:rPr lang="en-US" sz="1200" b="1" dirty="0">
                <a:solidFill>
                  <a:schemeClr val="tx2"/>
                </a:solidFill>
              </a:rPr>
              <a:t>Loan Repayment</a:t>
            </a:r>
            <a:endParaRPr lang="en-US" sz="1200" dirty="0"/>
          </a:p>
        </p:txBody>
      </p:sp>
      <p:sp>
        <p:nvSpPr>
          <p:cNvPr id="33" name="Text 29"/>
          <p:cNvSpPr txBox="1"/>
          <p:nvPr/>
        </p:nvSpPr>
        <p:spPr>
          <a:xfrm>
            <a:off x="2953512" y="18608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34" name="Text 30"/>
          <p:cNvSpPr txBox="1"/>
          <p:nvPr/>
        </p:nvSpPr>
        <p:spPr>
          <a:xfrm>
            <a:off x="4325112" y="18608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35" name="Text 31"/>
          <p:cNvSpPr txBox="1"/>
          <p:nvPr/>
        </p:nvSpPr>
        <p:spPr>
          <a:xfrm>
            <a:off x="2176272" y="247802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1</a:t>
            </a:r>
            <a:endParaRPr lang="en-US" sz="900" dirty="0"/>
          </a:p>
        </p:txBody>
      </p:sp>
      <p:sp>
        <p:nvSpPr>
          <p:cNvPr id="36" name="Text 32"/>
          <p:cNvSpPr txBox="1"/>
          <p:nvPr/>
        </p:nvSpPr>
        <p:spPr>
          <a:xfrm>
            <a:off x="5010912" y="247802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37" name="Text 33"/>
          <p:cNvSpPr txBox="1"/>
          <p:nvPr/>
        </p:nvSpPr>
        <p:spPr>
          <a:xfrm>
            <a:off x="6611112" y="18608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38" name="Text 34"/>
          <p:cNvSpPr txBox="1"/>
          <p:nvPr/>
        </p:nvSpPr>
        <p:spPr>
          <a:xfrm>
            <a:off x="7296912" y="23180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1</a:t>
            </a:r>
            <a:endParaRPr lang="en-US" sz="900" dirty="0"/>
          </a:p>
        </p:txBody>
      </p:sp>
      <p:sp>
        <p:nvSpPr>
          <p:cNvPr id="39" name="Text 35"/>
          <p:cNvSpPr txBox="1"/>
          <p:nvPr/>
        </p:nvSpPr>
        <p:spPr>
          <a:xfrm>
            <a:off x="7296912" y="268376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1</a:t>
            </a:r>
            <a:endParaRPr lang="en-US" sz="900" dirty="0"/>
          </a:p>
        </p:txBody>
      </p:sp>
      <p:sp>
        <p:nvSpPr>
          <p:cNvPr id="40" name="Text 36"/>
          <p:cNvSpPr txBox="1"/>
          <p:nvPr/>
        </p:nvSpPr>
        <p:spPr>
          <a:xfrm>
            <a:off x="2221992" y="32324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41" name="Text 37"/>
          <p:cNvSpPr txBox="1"/>
          <p:nvPr/>
        </p:nvSpPr>
        <p:spPr>
          <a:xfrm>
            <a:off x="2999232" y="32324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42" name="Text 38"/>
          <p:cNvSpPr txBox="1"/>
          <p:nvPr/>
        </p:nvSpPr>
        <p:spPr>
          <a:xfrm>
            <a:off x="3776472" y="32324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43" name="Text 39"/>
          <p:cNvSpPr txBox="1"/>
          <p:nvPr/>
        </p:nvSpPr>
        <p:spPr>
          <a:xfrm>
            <a:off x="4553712" y="32324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44" name="Text 40"/>
          <p:cNvSpPr txBox="1"/>
          <p:nvPr/>
        </p:nvSpPr>
        <p:spPr>
          <a:xfrm>
            <a:off x="6359652" y="398678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45" name="Text 41"/>
          <p:cNvSpPr txBox="1"/>
          <p:nvPr/>
        </p:nvSpPr>
        <p:spPr>
          <a:xfrm>
            <a:off x="6884289" y="3284068"/>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46" name="Shape 42"/>
          <p:cNvSpPr/>
          <p:nvPr/>
        </p:nvSpPr>
        <p:spPr>
          <a:xfrm>
            <a:off x="320040" y="4572000"/>
            <a:ext cx="182880" cy="146304"/>
          </a:xfrm>
          <a:prstGeom prst="roundRect">
            <a:avLst>
              <a:gd name="adj" fmla="val 18750"/>
            </a:avLst>
          </a:prstGeom>
          <a:solidFill>
            <a:schemeClr val="accent3"/>
          </a:solidFill>
          <a:ln w="12700">
            <a:solidFill>
              <a:schemeClr val="accent3"/>
            </a:solidFill>
            <a:prstDash val="solid"/>
          </a:ln>
        </p:spPr>
      </p:sp>
      <p:sp>
        <p:nvSpPr>
          <p:cNvPr id="47" name="Text 43"/>
          <p:cNvSpPr txBox="1"/>
          <p:nvPr/>
        </p:nvSpPr>
        <p:spPr>
          <a:xfrm>
            <a:off x="566928" y="4553712"/>
            <a:ext cx="1143000" cy="182880"/>
          </a:xfrm>
          <a:prstGeom prst="rect">
            <a:avLst/>
          </a:prstGeom>
          <a:noFill/>
          <a:ln/>
        </p:spPr>
        <p:txBody>
          <a:bodyPr wrap="square" lIns="0" tIns="0" rIns="0" bIns="0" rtlCol="0" anchor="ctr"/>
          <a:lstStyle/>
          <a:p>
            <a:pPr indent="0" marL="0">
              <a:buNone/>
            </a:pPr>
            <a:r>
              <a:rPr lang="en-US" sz="1000" dirty="0">
                <a:solidFill>
                  <a:schemeClr val="tx1"/>
                </a:solidFill>
              </a:rPr>
              <a:t>Core entity</a:t>
            </a:r>
            <a:endParaRPr lang="en-US" sz="1000" dirty="0"/>
          </a:p>
        </p:txBody>
      </p:sp>
      <p:sp>
        <p:nvSpPr>
          <p:cNvPr id="48" name="Shape 44"/>
          <p:cNvSpPr/>
          <p:nvPr/>
        </p:nvSpPr>
        <p:spPr>
          <a:xfrm>
            <a:off x="1737360" y="4572000"/>
            <a:ext cx="182880" cy="146304"/>
          </a:xfrm>
          <a:prstGeom prst="roundRect">
            <a:avLst>
              <a:gd name="adj" fmla="val 18750"/>
            </a:avLst>
          </a:prstGeom>
          <a:solidFill>
            <a:schemeClr val="accent1"/>
          </a:solidFill>
          <a:ln w="12700">
            <a:solidFill>
              <a:schemeClr val="accent3"/>
            </a:solidFill>
            <a:prstDash val="solid"/>
          </a:ln>
        </p:spPr>
      </p:sp>
      <p:sp>
        <p:nvSpPr>
          <p:cNvPr id="49" name="Text 45"/>
          <p:cNvSpPr txBox="1"/>
          <p:nvPr/>
        </p:nvSpPr>
        <p:spPr>
          <a:xfrm>
            <a:off x="1984248" y="4553712"/>
            <a:ext cx="1143000" cy="182880"/>
          </a:xfrm>
          <a:prstGeom prst="rect">
            <a:avLst/>
          </a:prstGeom>
          <a:noFill/>
          <a:ln/>
        </p:spPr>
        <p:txBody>
          <a:bodyPr wrap="square" lIns="0" tIns="0" rIns="0" bIns="0" rtlCol="0" anchor="ctr"/>
          <a:lstStyle/>
          <a:p>
            <a:pPr indent="0" marL="0">
              <a:buNone/>
            </a:pPr>
            <a:r>
              <a:rPr lang="en-US" sz="1000" dirty="0">
                <a:solidFill>
                  <a:schemeClr val="tx1"/>
                </a:solidFill>
              </a:rPr>
              <a:t>Master data</a:t>
            </a:r>
            <a:endParaRPr lang="en-US" sz="1000" dirty="0"/>
          </a:p>
        </p:txBody>
      </p:sp>
      <p:sp>
        <p:nvSpPr>
          <p:cNvPr id="50" name="Shape 46"/>
          <p:cNvSpPr/>
          <p:nvPr/>
        </p:nvSpPr>
        <p:spPr>
          <a:xfrm>
            <a:off x="3154680" y="4572000"/>
            <a:ext cx="182880" cy="146304"/>
          </a:xfrm>
          <a:prstGeom prst="roundRect">
            <a:avLst>
              <a:gd name="adj" fmla="val 18750"/>
            </a:avLst>
          </a:prstGeom>
          <a:solidFill>
            <a:schemeClr val="bg1"/>
          </a:solidFill>
          <a:ln w="12700">
            <a:solidFill>
              <a:schemeClr val="accent3"/>
            </a:solidFill>
            <a:prstDash val="solid"/>
          </a:ln>
        </p:spPr>
      </p:sp>
      <p:sp>
        <p:nvSpPr>
          <p:cNvPr id="51" name="Text 47"/>
          <p:cNvSpPr txBox="1"/>
          <p:nvPr/>
        </p:nvSpPr>
        <p:spPr>
          <a:xfrm>
            <a:off x="3401568" y="4553712"/>
            <a:ext cx="1143000" cy="182880"/>
          </a:xfrm>
          <a:prstGeom prst="rect">
            <a:avLst/>
          </a:prstGeom>
          <a:noFill/>
          <a:ln/>
        </p:spPr>
        <p:txBody>
          <a:bodyPr wrap="square" lIns="0" tIns="0" rIns="0" bIns="0" rtlCol="0" anchor="ctr"/>
          <a:lstStyle/>
          <a:p>
            <a:pPr indent="0" marL="0">
              <a:buNone/>
            </a:pPr>
            <a:r>
              <a:rPr lang="en-US" sz="1000" dirty="0">
                <a:solidFill>
                  <a:schemeClr val="tx1"/>
                </a:solidFill>
              </a:rPr>
              <a:t>Monthly input</a:t>
            </a:r>
            <a:endParaRPr lang="en-US" sz="1000" dirty="0"/>
          </a:p>
        </p:txBody>
      </p:sp>
      <p:sp>
        <p:nvSpPr>
          <p:cNvPr id="52" name="Shape 48"/>
          <p:cNvSpPr/>
          <p:nvPr/>
        </p:nvSpPr>
        <p:spPr>
          <a:xfrm>
            <a:off x="4572000" y="4572000"/>
            <a:ext cx="182880" cy="146304"/>
          </a:xfrm>
          <a:prstGeom prst="roundRect">
            <a:avLst>
              <a:gd name="adj" fmla="val 18750"/>
            </a:avLst>
          </a:prstGeom>
          <a:solidFill>
            <a:schemeClr val="bg1"/>
          </a:solidFill>
          <a:ln w="22225">
            <a:solidFill>
              <a:schemeClr val="accent2"/>
            </a:solidFill>
            <a:prstDash val="solid"/>
          </a:ln>
        </p:spPr>
      </p:sp>
      <p:sp>
        <p:nvSpPr>
          <p:cNvPr id="53" name="Text 49"/>
          <p:cNvSpPr txBox="1"/>
          <p:nvPr/>
        </p:nvSpPr>
        <p:spPr>
          <a:xfrm>
            <a:off x="4818888" y="4553712"/>
            <a:ext cx="1143000" cy="182880"/>
          </a:xfrm>
          <a:prstGeom prst="rect">
            <a:avLst/>
          </a:prstGeom>
          <a:noFill/>
          <a:ln/>
        </p:spPr>
        <p:txBody>
          <a:bodyPr wrap="square" lIns="0" tIns="0" rIns="0" bIns="0" rtlCol="0" anchor="ctr"/>
          <a:lstStyle/>
          <a:p>
            <a:pPr indent="0" marL="0">
              <a:buNone/>
            </a:pPr>
            <a:r>
              <a:rPr lang="en-US" sz="1000" dirty="0">
                <a:solidFill>
                  <a:schemeClr val="tx1"/>
                </a:solidFill>
              </a:rPr>
              <a:t>Payroll output</a:t>
            </a:r>
            <a:endParaRPr lang="en-US" sz="1000" dirty="0"/>
          </a:p>
        </p:txBody>
      </p:sp>
      <p:sp>
        <p:nvSpPr>
          <p:cNvPr id="54" name="Text 50"/>
          <p:cNvSpPr txBox="1"/>
          <p:nvPr/>
        </p:nvSpPr>
        <p:spPr>
          <a:xfrm>
            <a:off x="6126480" y="4498848"/>
            <a:ext cx="2743200" cy="310896"/>
          </a:xfrm>
          <a:prstGeom prst="rect">
            <a:avLst/>
          </a:prstGeom>
          <a:noFill/>
          <a:ln/>
        </p:spPr>
        <p:txBody>
          <a:bodyPr wrap="square" lIns="0" tIns="0" rIns="0" bIns="0" rtlCol="0" anchor="t"/>
          <a:lstStyle/>
          <a:p>
            <a:pPr indent="0" marL="0">
              <a:buNone/>
            </a:pPr>
            <a:r>
              <a:rPr lang="en-US" sz="1000" i="1" dirty="0">
                <a:solidFill>
                  <a:schemeClr val="accent1"/>
                </a:solidFill>
              </a:rPr>
              <a:t>Attendance, Earnings and Deductions also reference Payroll Period (FK).</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Relational Schema: Master Data</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6035040" y="3383280"/>
            <a:ext cx="2651760" cy="1280160"/>
          </a:xfrm>
          <a:prstGeom prst="roundRect">
            <a:avLst>
              <a:gd name="adj" fmla="val 5714"/>
            </a:avLst>
          </a:prstGeom>
          <a:solidFill>
            <a:schemeClr val="accent3"/>
          </a:solidFill>
          <a:ln w="12700">
            <a:solidFill>
              <a:schemeClr val="accent3"/>
            </a:solidFill>
            <a:prstDash val="solid"/>
          </a:ln>
        </p:spPr>
      </p:sp>
      <p:sp>
        <p:nvSpPr>
          <p:cNvPr id="7" name="Text 3"/>
          <p:cNvSpPr txBox="1"/>
          <p:nvPr/>
        </p:nvSpPr>
        <p:spPr>
          <a:xfrm>
            <a:off x="6172200" y="3456432"/>
            <a:ext cx="2377440" cy="1143000"/>
          </a:xfrm>
          <a:prstGeom prst="rect">
            <a:avLst/>
          </a:prstGeom>
          <a:noFill/>
          <a:ln/>
        </p:spPr>
        <p:txBody>
          <a:bodyPr wrap="square" lIns="0" tIns="0" rIns="0" bIns="0" rtlCol="0" anchor="t"/>
          <a:lstStyle/>
          <a:p>
            <a:pPr indent="0" marL="0">
              <a:buNone/>
            </a:pPr>
            <a:r>
              <a:rPr lang="en-US" sz="1300" b="1" dirty="0">
                <a:solidFill>
                  <a:schemeClr val="accent2"/>
                </a:solidFill>
              </a:rPr>
              <a:t>Why separate tables?</a:t>
            </a:r>
            <a:endParaRPr lang="en-US" sz="1300" dirty="0"/>
          </a:p>
          <a:p>
            <a:pPr indent="0" marL="0">
              <a:buNone/>
            </a:pPr>
            <a:r>
              <a:rPr lang="en-US" sz="1200" dirty="0">
                <a:solidFill>
                  <a:schemeClr val="bg1"/>
                </a:solidFill>
              </a:rPr>
              <a:t>Names are stored once and referenced by ID, so renaming a department never touches employee rows (3NF).</a:t>
            </a:r>
            <a:endParaRPr lang="en-US" sz="1300" dirty="0"/>
          </a:p>
        </p:txBody>
      </p:sp>
      <p:sp>
        <p:nvSpPr>
          <p:cNvPr id="8" name="Shape 4"/>
          <p:cNvSpPr/>
          <p:nvPr/>
        </p:nvSpPr>
        <p:spPr>
          <a:xfrm>
            <a:off x="457200" y="1097280"/>
            <a:ext cx="2651760" cy="1188720"/>
          </a:xfrm>
          <a:prstGeom prst="roundRect">
            <a:avLst>
              <a:gd name="adj" fmla="val 615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9" name="Text 5"/>
          <p:cNvSpPr txBox="1"/>
          <p:nvPr/>
        </p:nvSpPr>
        <p:spPr>
          <a:xfrm>
            <a:off x="457200" y="1097280"/>
            <a:ext cx="265176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department</a:t>
            </a:r>
            <a:endParaRPr lang="en-US" sz="1200" dirty="0"/>
          </a:p>
        </p:txBody>
      </p:sp>
      <p:sp>
        <p:nvSpPr>
          <p:cNvPr id="10" name="Text 6"/>
          <p:cNvSpPr txBox="1"/>
          <p:nvPr/>
        </p:nvSpPr>
        <p:spPr>
          <a:xfrm>
            <a:off x="548640" y="1463040"/>
            <a:ext cx="2514600" cy="77724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department_id</a:t>
            </a: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department_name</a:t>
            </a:r>
            <a:pPr indent="0" marL="0">
              <a:spcAft>
                <a:spcPts val="100"/>
              </a:spcAft>
              <a:buNone/>
            </a:pPr>
            <a:r>
              <a:rPr lang="en-US" sz="950" i="1" dirty="0">
                <a:solidFill>
                  <a:schemeClr val="accent1"/>
                </a:solidFill>
              </a:rPr>
              <a:t>  UNIQUE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location</a:t>
            </a:r>
            <a:pPr indent="0" marL="0">
              <a:spcAft>
                <a:spcPts val="100"/>
              </a:spcAft>
              <a:buNone/>
            </a:pPr>
            <a:endParaRPr lang="en-US" sz="1050" dirty="0"/>
          </a:p>
        </p:txBody>
      </p:sp>
      <p:sp>
        <p:nvSpPr>
          <p:cNvPr id="11" name="Shape 7"/>
          <p:cNvSpPr/>
          <p:nvPr/>
        </p:nvSpPr>
        <p:spPr>
          <a:xfrm>
            <a:off x="457200" y="2423160"/>
            <a:ext cx="2651760" cy="1188720"/>
          </a:xfrm>
          <a:prstGeom prst="roundRect">
            <a:avLst>
              <a:gd name="adj" fmla="val 615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2" name="Text 8"/>
          <p:cNvSpPr txBox="1"/>
          <p:nvPr/>
        </p:nvSpPr>
        <p:spPr>
          <a:xfrm>
            <a:off x="457200" y="2423160"/>
            <a:ext cx="265176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designation</a:t>
            </a:r>
            <a:endParaRPr lang="en-US" sz="1200" dirty="0"/>
          </a:p>
        </p:txBody>
      </p:sp>
      <p:sp>
        <p:nvSpPr>
          <p:cNvPr id="13" name="Text 9"/>
          <p:cNvSpPr txBox="1"/>
          <p:nvPr/>
        </p:nvSpPr>
        <p:spPr>
          <a:xfrm>
            <a:off x="548640" y="2788920"/>
            <a:ext cx="2514600" cy="77724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designation_id</a:t>
            </a: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title</a:t>
            </a:r>
            <a:pPr indent="0" marL="0">
              <a:spcAft>
                <a:spcPts val="100"/>
              </a:spcAft>
              <a:buNone/>
            </a:pPr>
            <a:r>
              <a:rPr lang="en-US" sz="950" i="1" dirty="0">
                <a:solidFill>
                  <a:schemeClr val="accent1"/>
                </a:solidFill>
              </a:rPr>
              <a:t>  UNIQUE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grade_level</a:t>
            </a:r>
            <a:pPr indent="0" marL="0">
              <a:spcAft>
                <a:spcPts val="100"/>
              </a:spcAft>
              <a:buNone/>
            </a:pPr>
            <a:r>
              <a:rPr lang="en-US" sz="950" i="1" dirty="0">
                <a:solidFill>
                  <a:schemeClr val="accent1"/>
                </a:solidFill>
              </a:rPr>
              <a:t>  CHECK 1-10</a:t>
            </a:r>
            <a:pPr indent="0" marL="0">
              <a:spcAft>
                <a:spcPts val="100"/>
              </a:spcAft>
              <a:buNone/>
            </a:pPr>
            <a:endParaRPr lang="en-US" sz="1050" dirty="0"/>
          </a:p>
        </p:txBody>
      </p:sp>
      <p:sp>
        <p:nvSpPr>
          <p:cNvPr id="14" name="Shape 10"/>
          <p:cNvSpPr/>
          <p:nvPr/>
        </p:nvSpPr>
        <p:spPr>
          <a:xfrm>
            <a:off x="457200" y="3749040"/>
            <a:ext cx="2651760" cy="914400"/>
          </a:xfrm>
          <a:prstGeom prst="roundRect">
            <a:avLst>
              <a:gd name="adj" fmla="val 8000"/>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5" name="Text 11"/>
          <p:cNvSpPr txBox="1"/>
          <p:nvPr/>
        </p:nvSpPr>
        <p:spPr>
          <a:xfrm>
            <a:off x="457200" y="3749040"/>
            <a:ext cx="265176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payroll_config</a:t>
            </a:r>
            <a:endParaRPr lang="en-US" sz="1200" dirty="0"/>
          </a:p>
        </p:txBody>
      </p:sp>
      <p:sp>
        <p:nvSpPr>
          <p:cNvPr id="16" name="Text 12"/>
          <p:cNvSpPr txBox="1"/>
          <p:nvPr/>
        </p:nvSpPr>
        <p:spPr>
          <a:xfrm>
            <a:off x="548640" y="4114800"/>
            <a:ext cx="2514600" cy="50292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config_key</a:t>
            </a: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config_value</a:t>
            </a:r>
            <a:pPr indent="0" marL="0">
              <a:spcAft>
                <a:spcPts val="100"/>
              </a:spcAft>
              <a:buNone/>
            </a:pPr>
            <a:r>
              <a:rPr lang="en-US" sz="950" i="1" dirty="0">
                <a:solidFill>
                  <a:schemeClr val="accent1"/>
                </a:solidFill>
              </a:rPr>
              <a:t>  rate / limit</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description</a:t>
            </a:r>
            <a:pPr indent="0" marL="0">
              <a:spcAft>
                <a:spcPts val="100"/>
              </a:spcAft>
              <a:buNone/>
            </a:pPr>
            <a:endParaRPr lang="en-US" sz="1050" dirty="0"/>
          </a:p>
        </p:txBody>
      </p:sp>
      <p:sp>
        <p:nvSpPr>
          <p:cNvPr id="17" name="Shape 13"/>
          <p:cNvSpPr/>
          <p:nvPr/>
        </p:nvSpPr>
        <p:spPr>
          <a:xfrm>
            <a:off x="3246120" y="1097280"/>
            <a:ext cx="2651760" cy="1645920"/>
          </a:xfrm>
          <a:prstGeom prst="roundRect">
            <a:avLst>
              <a:gd name="adj" fmla="val 444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8" name="Text 14"/>
          <p:cNvSpPr txBox="1"/>
          <p:nvPr/>
        </p:nvSpPr>
        <p:spPr>
          <a:xfrm>
            <a:off x="3246120" y="1097280"/>
            <a:ext cx="265176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salary_structure</a:t>
            </a:r>
            <a:endParaRPr lang="en-US" sz="1200" dirty="0"/>
          </a:p>
        </p:txBody>
      </p:sp>
      <p:sp>
        <p:nvSpPr>
          <p:cNvPr id="19" name="Text 15"/>
          <p:cNvSpPr txBox="1"/>
          <p:nvPr/>
        </p:nvSpPr>
        <p:spPr>
          <a:xfrm>
            <a:off x="3337560" y="1463040"/>
            <a:ext cx="2514600" cy="123444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salary_structure_id</a:t>
            </a: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employee_id</a:t>
            </a:r>
            <a:pPr indent="0" marL="0">
              <a:spcAft>
                <a:spcPts val="100"/>
              </a:spcAft>
              <a:buNone/>
            </a:pPr>
            <a:r>
              <a:rPr lang="en-US" sz="950" i="1" dirty="0">
                <a:solidFill>
                  <a:schemeClr val="accent1"/>
                </a:solidFill>
              </a:rPr>
              <a:t>  UNIQUE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basic_salary</a:t>
            </a:r>
            <a:pPr indent="0" marL="0">
              <a:spcAft>
                <a:spcPts val="100"/>
              </a:spcAft>
              <a:buNone/>
            </a:pPr>
            <a:r>
              <a:rPr lang="en-US" sz="950" i="1" dirty="0">
                <a:solidFill>
                  <a:schemeClr val="accent1"/>
                </a:solidFill>
              </a:rPr>
              <a:t>  CHECK &gt;0</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hra, da</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special_allowance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effective_from</a:t>
            </a:r>
            <a:pPr indent="0" marL="0">
              <a:spcAft>
                <a:spcPts val="100"/>
              </a:spcAft>
              <a:buNone/>
            </a:pPr>
            <a:endParaRPr lang="en-US" sz="1050" dirty="0"/>
          </a:p>
        </p:txBody>
      </p:sp>
      <p:sp>
        <p:nvSpPr>
          <p:cNvPr id="20" name="Shape 16"/>
          <p:cNvSpPr/>
          <p:nvPr/>
        </p:nvSpPr>
        <p:spPr>
          <a:xfrm>
            <a:off x="3246120" y="2880360"/>
            <a:ext cx="2651760" cy="1783080"/>
          </a:xfrm>
          <a:prstGeom prst="roundRect">
            <a:avLst>
              <a:gd name="adj" fmla="val 410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1" name="Text 17"/>
          <p:cNvSpPr txBox="1"/>
          <p:nvPr/>
        </p:nvSpPr>
        <p:spPr>
          <a:xfrm>
            <a:off x="3246120" y="2880360"/>
            <a:ext cx="265176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payroll_period</a:t>
            </a:r>
            <a:endParaRPr lang="en-US" sz="1200" dirty="0"/>
          </a:p>
        </p:txBody>
      </p:sp>
      <p:sp>
        <p:nvSpPr>
          <p:cNvPr id="22" name="Text 18"/>
          <p:cNvSpPr txBox="1"/>
          <p:nvPr/>
        </p:nvSpPr>
        <p:spPr>
          <a:xfrm>
            <a:off x="3337560" y="3246120"/>
            <a:ext cx="2514600" cy="137160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payroll_period_id</a:t>
            </a: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period_name</a:t>
            </a:r>
            <a:pPr indent="0" marL="0">
              <a:spcAft>
                <a:spcPts val="100"/>
              </a:spcAft>
              <a:buNone/>
            </a:pPr>
            <a:r>
              <a:rPr lang="en-US" sz="950" i="1" dirty="0">
                <a:solidFill>
                  <a:schemeClr val="accent1"/>
                </a:solidFill>
              </a:rPr>
              <a:t>  UNIQUE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period_month, period_year</a:t>
            </a:r>
            <a:pPr indent="0" marL="0">
              <a:spcAft>
                <a:spcPts val="100"/>
              </a:spcAft>
              <a:buNone/>
            </a:pPr>
            <a:r>
              <a:rPr lang="en-US" sz="950" i="1" dirty="0">
                <a:solidFill>
                  <a:schemeClr val="accent1"/>
                </a:solidFill>
              </a:rPr>
              <a:t>  UNIQUE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start_date, end_date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status</a:t>
            </a:r>
            <a:pPr indent="0" marL="0">
              <a:spcAft>
                <a:spcPts val="100"/>
              </a:spcAft>
              <a:buNone/>
            </a:pPr>
            <a:r>
              <a:rPr lang="en-US" sz="950" i="1" dirty="0">
                <a:solidFill>
                  <a:schemeClr val="accent1"/>
                </a:solidFill>
              </a:rPr>
              <a:t>  OPEN/PROCESSED/PAID</a:t>
            </a:r>
            <a:pPr indent="0" marL="0">
              <a:spcAft>
                <a:spcPts val="100"/>
              </a:spcAft>
              <a:buNone/>
            </a:pPr>
            <a:endParaRPr lang="en-US" sz="1050" dirty="0"/>
          </a:p>
        </p:txBody>
      </p:sp>
      <p:sp>
        <p:nvSpPr>
          <p:cNvPr id="23" name="Shape 19"/>
          <p:cNvSpPr/>
          <p:nvPr/>
        </p:nvSpPr>
        <p:spPr>
          <a:xfrm>
            <a:off x="6035040" y="1097280"/>
            <a:ext cx="2651760" cy="2148840"/>
          </a:xfrm>
          <a:prstGeom prst="roundRect">
            <a:avLst>
              <a:gd name="adj" fmla="val 340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4" name="Text 20"/>
          <p:cNvSpPr txBox="1"/>
          <p:nvPr/>
        </p:nvSpPr>
        <p:spPr>
          <a:xfrm>
            <a:off x="6035040" y="1097280"/>
            <a:ext cx="265176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employee</a:t>
            </a:r>
            <a:endParaRPr lang="en-US" sz="1200" dirty="0"/>
          </a:p>
        </p:txBody>
      </p:sp>
      <p:sp>
        <p:nvSpPr>
          <p:cNvPr id="25" name="Text 21"/>
          <p:cNvSpPr txBox="1"/>
          <p:nvPr/>
        </p:nvSpPr>
        <p:spPr>
          <a:xfrm>
            <a:off x="6126480" y="1463040"/>
            <a:ext cx="2514600" cy="173736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employee_id</a:t>
            </a: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emp_code</a:t>
            </a:r>
            <a:pPr indent="0" marL="0">
              <a:spcAft>
                <a:spcPts val="100"/>
              </a:spcAft>
              <a:buNone/>
            </a:pPr>
            <a:r>
              <a:rPr lang="en-US" sz="950" i="1" dirty="0">
                <a:solidFill>
                  <a:schemeClr val="accent1"/>
                </a:solidFill>
              </a:rPr>
              <a:t>  UNIQUE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first_name, last_name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email</a:t>
            </a:r>
            <a:pPr indent="0" marL="0">
              <a:spcAft>
                <a:spcPts val="100"/>
              </a:spcAft>
              <a:buNone/>
            </a:pPr>
            <a:r>
              <a:rPr lang="en-US" sz="950" i="1" dirty="0">
                <a:solidFill>
                  <a:schemeClr val="accent1"/>
                </a:solidFill>
              </a:rPr>
              <a:t>  UNIQUE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date_of_joining</a:t>
            </a:r>
            <a:pPr indent="0" marL="0">
              <a:spcAft>
                <a:spcPts val="100"/>
              </a:spcAft>
              <a:buNone/>
            </a:pP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department_id</a:t>
            </a:r>
            <a:pPr indent="0" marL="0">
              <a:spcAft>
                <a:spcPts val="100"/>
              </a:spcAft>
              <a:buNone/>
            </a:pP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designation_id</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bank_name, account, ifsc</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status</a:t>
            </a:r>
            <a:pPr indent="0" marL="0">
              <a:spcAft>
                <a:spcPts val="100"/>
              </a:spcAft>
              <a:buNone/>
            </a:pPr>
            <a:r>
              <a:rPr lang="en-US" sz="950" i="1" dirty="0">
                <a:solidFill>
                  <a:schemeClr val="accent1"/>
                </a:solidFill>
              </a:rPr>
              <a:t>  CHECK</a:t>
            </a:r>
            <a:pPr indent="0" marL="0">
              <a:spcAft>
                <a:spcPts val="100"/>
              </a:spcAft>
              <a:buNone/>
            </a:pP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Relational Schema: Monthly Inputs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097280"/>
            <a:ext cx="4023360" cy="1691640"/>
          </a:xfrm>
          <a:prstGeom prst="roundRect">
            <a:avLst>
              <a:gd name="adj" fmla="val 432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Text 3"/>
          <p:cNvSpPr txBox="1"/>
          <p:nvPr/>
        </p:nvSpPr>
        <p:spPr>
          <a:xfrm>
            <a:off x="457200" y="1097280"/>
            <a:ext cx="402336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attendance_summary</a:t>
            </a:r>
            <a:endParaRPr lang="en-US" sz="1200" dirty="0"/>
          </a:p>
        </p:txBody>
      </p:sp>
      <p:sp>
        <p:nvSpPr>
          <p:cNvPr id="8" name="Text 4"/>
          <p:cNvSpPr txBox="1"/>
          <p:nvPr/>
        </p:nvSpPr>
        <p:spPr>
          <a:xfrm>
            <a:off x="548640" y="1463040"/>
            <a:ext cx="3886200" cy="128016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attendance_id</a:t>
            </a: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employee_id</a:t>
            </a:r>
            <a:pPr indent="0" marL="0">
              <a:spcAft>
                <a:spcPts val="100"/>
              </a:spcAft>
              <a:buNone/>
            </a:pP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payroll_period_id</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working_days</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days_present</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paid_leave_days</a:t>
            </a:r>
            <a:pPr indent="0" marL="0">
              <a:spcAft>
                <a:spcPts val="100"/>
              </a:spcAft>
              <a:buNone/>
            </a:pPr>
            <a:r>
              <a:rPr lang="en-US" sz="950" i="1" dirty="0">
                <a:solidFill>
                  <a:schemeClr val="accent1"/>
                </a:solidFill>
              </a:rPr>
              <a:t>  CHECK total</a:t>
            </a:r>
            <a:pPr indent="0" marL="0">
              <a:spcAft>
                <a:spcPts val="100"/>
              </a:spcAft>
              <a:buNone/>
            </a:pPr>
            <a:endParaRPr lang="en-US" sz="1050" dirty="0"/>
          </a:p>
        </p:txBody>
      </p:sp>
      <p:sp>
        <p:nvSpPr>
          <p:cNvPr id="9" name="Shape 5"/>
          <p:cNvSpPr/>
          <p:nvPr/>
        </p:nvSpPr>
        <p:spPr>
          <a:xfrm>
            <a:off x="4663440" y="1097280"/>
            <a:ext cx="4023360" cy="1691640"/>
          </a:xfrm>
          <a:prstGeom prst="roundRect">
            <a:avLst>
              <a:gd name="adj" fmla="val 432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0" name="Text 6"/>
          <p:cNvSpPr txBox="1"/>
          <p:nvPr/>
        </p:nvSpPr>
        <p:spPr>
          <a:xfrm>
            <a:off x="4663440" y="1097280"/>
            <a:ext cx="402336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earnings</a:t>
            </a:r>
            <a:endParaRPr lang="en-US" sz="1200" dirty="0"/>
          </a:p>
        </p:txBody>
      </p:sp>
      <p:sp>
        <p:nvSpPr>
          <p:cNvPr id="11" name="Text 7"/>
          <p:cNvSpPr txBox="1"/>
          <p:nvPr/>
        </p:nvSpPr>
        <p:spPr>
          <a:xfrm>
            <a:off x="4754880" y="1463040"/>
            <a:ext cx="3886200" cy="128016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earning_id</a:t>
            </a: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employee_id</a:t>
            </a:r>
            <a:pPr indent="0" marL="0">
              <a:spcAft>
                <a:spcPts val="100"/>
              </a:spcAft>
              <a:buNone/>
            </a:pP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payroll_period_id</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earning_type</a:t>
            </a:r>
            <a:pPr indent="0" marL="0">
              <a:spcAft>
                <a:spcPts val="100"/>
              </a:spcAft>
              <a:buNone/>
            </a:pPr>
            <a:r>
              <a:rPr lang="en-US" sz="950" i="1" dirty="0">
                <a:solidFill>
                  <a:schemeClr val="accent1"/>
                </a:solidFill>
              </a:rPr>
              <a:t>  CHECK</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amount</a:t>
            </a:r>
            <a:pPr indent="0" marL="0">
              <a:spcAft>
                <a:spcPts val="100"/>
              </a:spcAft>
              <a:buNone/>
            </a:pPr>
            <a:r>
              <a:rPr lang="en-US" sz="950" i="1" dirty="0">
                <a:solidFill>
                  <a:schemeClr val="accent1"/>
                </a:solidFill>
              </a:rPr>
              <a:t>  CHECK &gt;0</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remarks</a:t>
            </a:r>
            <a:pPr indent="0" marL="0">
              <a:spcAft>
                <a:spcPts val="100"/>
              </a:spcAft>
              <a:buNone/>
            </a:pPr>
            <a:endParaRPr lang="en-US" sz="1050" dirty="0"/>
          </a:p>
        </p:txBody>
      </p:sp>
      <p:sp>
        <p:nvSpPr>
          <p:cNvPr id="12" name="Shape 8"/>
          <p:cNvSpPr/>
          <p:nvPr/>
        </p:nvSpPr>
        <p:spPr>
          <a:xfrm>
            <a:off x="457200" y="2926080"/>
            <a:ext cx="4023360" cy="1691640"/>
          </a:xfrm>
          <a:prstGeom prst="roundRect">
            <a:avLst>
              <a:gd name="adj" fmla="val 432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3" name="Text 9"/>
          <p:cNvSpPr txBox="1"/>
          <p:nvPr/>
        </p:nvSpPr>
        <p:spPr>
          <a:xfrm>
            <a:off x="457200" y="2926080"/>
            <a:ext cx="402336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deductions</a:t>
            </a:r>
            <a:endParaRPr lang="en-US" sz="1200" dirty="0"/>
          </a:p>
        </p:txBody>
      </p:sp>
      <p:sp>
        <p:nvSpPr>
          <p:cNvPr id="14" name="Text 10"/>
          <p:cNvSpPr txBox="1"/>
          <p:nvPr/>
        </p:nvSpPr>
        <p:spPr>
          <a:xfrm>
            <a:off x="548640" y="3291840"/>
            <a:ext cx="3886200" cy="128016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deduction_id</a:t>
            </a: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employee_id</a:t>
            </a:r>
            <a:pPr indent="0" marL="0">
              <a:spcAft>
                <a:spcPts val="100"/>
              </a:spcAft>
              <a:buNone/>
            </a:pP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payroll_period_id</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deduction_type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amount</a:t>
            </a:r>
            <a:pPr indent="0" marL="0">
              <a:spcAft>
                <a:spcPts val="100"/>
              </a:spcAft>
              <a:buNone/>
            </a:pPr>
            <a:r>
              <a:rPr lang="en-US" sz="950" i="1" dirty="0">
                <a:solidFill>
                  <a:schemeClr val="accent1"/>
                </a:solidFill>
              </a:rPr>
              <a:t>  CHECK &gt;0</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is_statutory</a:t>
            </a:r>
            <a:pPr indent="0" marL="0">
              <a:spcAft>
                <a:spcPts val="100"/>
              </a:spcAft>
              <a:buNone/>
            </a:pPr>
            <a:r>
              <a:rPr lang="en-US" sz="950" i="1" dirty="0">
                <a:solidFill>
                  <a:schemeClr val="accent1"/>
                </a:solidFill>
              </a:rPr>
              <a:t>  0/1</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source</a:t>
            </a:r>
            <a:pPr indent="0" marL="0">
              <a:spcAft>
                <a:spcPts val="100"/>
              </a:spcAft>
              <a:buNone/>
            </a:pPr>
            <a:r>
              <a:rPr lang="en-US" sz="950" i="1" dirty="0">
                <a:solidFill>
                  <a:schemeClr val="accent1"/>
                </a:solidFill>
              </a:rPr>
              <a:t>  MANUAL/AUTO</a:t>
            </a:r>
            <a:pPr indent="0" marL="0">
              <a:spcAft>
                <a:spcPts val="100"/>
              </a:spcAft>
              <a:buNone/>
            </a:pPr>
            <a:endParaRPr lang="en-US" sz="1050" dirty="0"/>
          </a:p>
        </p:txBody>
      </p:sp>
      <p:sp>
        <p:nvSpPr>
          <p:cNvPr id="15" name="Shape 11"/>
          <p:cNvSpPr/>
          <p:nvPr/>
        </p:nvSpPr>
        <p:spPr>
          <a:xfrm>
            <a:off x="4663440" y="2926080"/>
            <a:ext cx="4023360" cy="1691640"/>
          </a:xfrm>
          <a:prstGeom prst="roundRect">
            <a:avLst>
              <a:gd name="adj" fmla="val 432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6" name="Text 12"/>
          <p:cNvSpPr txBox="1"/>
          <p:nvPr/>
        </p:nvSpPr>
        <p:spPr>
          <a:xfrm>
            <a:off x="4663440" y="2926080"/>
            <a:ext cx="402336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loan</a:t>
            </a:r>
            <a:endParaRPr lang="en-US" sz="1200" dirty="0"/>
          </a:p>
        </p:txBody>
      </p:sp>
      <p:sp>
        <p:nvSpPr>
          <p:cNvPr id="17" name="Text 13"/>
          <p:cNvSpPr txBox="1"/>
          <p:nvPr/>
        </p:nvSpPr>
        <p:spPr>
          <a:xfrm>
            <a:off x="4754880" y="3291840"/>
            <a:ext cx="3886200" cy="128016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loan_id</a:t>
            </a: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employee_id</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loan_amount, emi_amount</a:t>
            </a:r>
            <a:pPr indent="0" marL="0">
              <a:spcAft>
                <a:spcPts val="100"/>
              </a:spcAft>
              <a:buNone/>
            </a:pPr>
            <a:r>
              <a:rPr lang="en-US" sz="950" i="1" dirty="0">
                <a:solidFill>
                  <a:schemeClr val="accent1"/>
                </a:solidFill>
              </a:rPr>
              <a:t>  CHECK &gt;0</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outstanding_balance</a:t>
            </a:r>
            <a:pPr indent="0" marL="0">
              <a:spcAft>
                <a:spcPts val="100"/>
              </a:spcAft>
              <a:buNone/>
            </a:pPr>
            <a:r>
              <a:rPr lang="en-US" sz="950" i="1" dirty="0">
                <a:solidFill>
                  <a:schemeClr val="accent1"/>
                </a:solidFill>
              </a:rPr>
              <a:t>  CHECK</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start_date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status</a:t>
            </a:r>
            <a:pPr indent="0" marL="0">
              <a:spcAft>
                <a:spcPts val="100"/>
              </a:spcAft>
              <a:buNone/>
            </a:pPr>
            <a:r>
              <a:rPr lang="en-US" sz="950" i="1" dirty="0">
                <a:solidFill>
                  <a:schemeClr val="accent1"/>
                </a:solidFill>
              </a:rPr>
              <a:t>  ACTIVE/CLOSED</a:t>
            </a:r>
            <a:pPr indent="0" marL="0">
              <a:spcAft>
                <a:spcPts val="100"/>
              </a:spcAft>
              <a:buNone/>
            </a:pP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Relational Schema: Payroll Output</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097280"/>
            <a:ext cx="2743200" cy="2697480"/>
          </a:xfrm>
          <a:prstGeom prst="roundRect">
            <a:avLst>
              <a:gd name="adj" fmla="val 2712"/>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Text 3"/>
          <p:cNvSpPr txBox="1"/>
          <p:nvPr/>
        </p:nvSpPr>
        <p:spPr>
          <a:xfrm>
            <a:off x="457200" y="1097280"/>
            <a:ext cx="274320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payroll_detail</a:t>
            </a:r>
            <a:endParaRPr lang="en-US" sz="1200" dirty="0"/>
          </a:p>
        </p:txBody>
      </p:sp>
      <p:sp>
        <p:nvSpPr>
          <p:cNvPr id="8" name="Text 4"/>
          <p:cNvSpPr txBox="1"/>
          <p:nvPr/>
        </p:nvSpPr>
        <p:spPr>
          <a:xfrm>
            <a:off x="548640" y="1463040"/>
            <a:ext cx="2606040" cy="228600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payroll_id</a:t>
            </a: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employee_id</a:t>
            </a:r>
            <a:pPr indent="0" marL="0">
              <a:spcAft>
                <a:spcPts val="100"/>
              </a:spcAft>
              <a:buNone/>
            </a:pP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payroll_period_id</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basic, hra, da, special</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lop_days, lop_amount</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other_earnings</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gross_salary</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statutory / loan / other ded.</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total_deductions, net_salary</a:t>
            </a:r>
            <a:pPr indent="0" marL="0">
              <a:spcAft>
                <a:spcPts val="100"/>
              </a:spcAft>
              <a:buNone/>
            </a:pPr>
            <a:r>
              <a:rPr lang="en-US" sz="950" i="1" dirty="0">
                <a:solidFill>
                  <a:schemeClr val="accent1"/>
                </a:solidFill>
              </a:rPr>
              <a:t>  CHECK &gt;=0</a:t>
            </a:r>
            <a:pPr indent="0" marL="0">
              <a:spcAft>
                <a:spcPts val="100"/>
              </a:spcAft>
              <a:buNone/>
            </a:pPr>
            <a:endParaRPr lang="en-US" sz="1050" dirty="0"/>
          </a:p>
        </p:txBody>
      </p:sp>
      <p:sp>
        <p:nvSpPr>
          <p:cNvPr id="9" name="Shape 5"/>
          <p:cNvSpPr/>
          <p:nvPr/>
        </p:nvSpPr>
        <p:spPr>
          <a:xfrm>
            <a:off x="3337560" y="1097280"/>
            <a:ext cx="2651760" cy="1463040"/>
          </a:xfrm>
          <a:prstGeom prst="roundRect">
            <a:avLst>
              <a:gd name="adj" fmla="val 5000"/>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0" name="Text 6"/>
          <p:cNvSpPr txBox="1"/>
          <p:nvPr/>
        </p:nvSpPr>
        <p:spPr>
          <a:xfrm>
            <a:off x="3337560" y="1097280"/>
            <a:ext cx="265176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loan_repayment</a:t>
            </a:r>
            <a:endParaRPr lang="en-US" sz="1200" dirty="0"/>
          </a:p>
        </p:txBody>
      </p:sp>
      <p:sp>
        <p:nvSpPr>
          <p:cNvPr id="11" name="Text 7"/>
          <p:cNvSpPr txBox="1"/>
          <p:nvPr/>
        </p:nvSpPr>
        <p:spPr>
          <a:xfrm>
            <a:off x="3429000" y="1463040"/>
            <a:ext cx="2514600" cy="105156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repayment_id</a:t>
            </a: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loan_id</a:t>
            </a:r>
            <a:pPr indent="0" marL="0">
              <a:spcAft>
                <a:spcPts val="100"/>
              </a:spcAft>
              <a:buNone/>
            </a:pP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payroll_id</a:t>
            </a:r>
            <a:pPr indent="0" marL="0">
              <a:spcAft>
                <a:spcPts val="100"/>
              </a:spcAft>
              <a:buNone/>
            </a:pPr>
            <a:r>
              <a:rPr lang="en-US" sz="950" i="1" dirty="0">
                <a:solidFill>
                  <a:schemeClr val="accent1"/>
                </a:solidFill>
              </a:rPr>
              <a:t>  NULL=manual</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amount</a:t>
            </a:r>
            <a:pPr indent="0" marL="0">
              <a:spcAft>
                <a:spcPts val="100"/>
              </a:spcAft>
              <a:buNone/>
            </a:pPr>
            <a:r>
              <a:rPr lang="en-US" sz="950" i="1" dirty="0">
                <a:solidFill>
                  <a:schemeClr val="accent1"/>
                </a:solidFill>
              </a:rPr>
              <a:t>  CHECK &gt;0</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repayment_date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balance_after</a:t>
            </a:r>
            <a:pPr indent="0" marL="0">
              <a:spcAft>
                <a:spcPts val="100"/>
              </a:spcAft>
              <a:buNone/>
            </a:pPr>
            <a:endParaRPr lang="en-US" sz="1050" dirty="0"/>
          </a:p>
        </p:txBody>
      </p:sp>
      <p:sp>
        <p:nvSpPr>
          <p:cNvPr id="12" name="Shape 8"/>
          <p:cNvSpPr/>
          <p:nvPr/>
        </p:nvSpPr>
        <p:spPr>
          <a:xfrm>
            <a:off x="3337560" y="2697480"/>
            <a:ext cx="2651760" cy="1097280"/>
          </a:xfrm>
          <a:prstGeom prst="roundRect">
            <a:avLst>
              <a:gd name="adj" fmla="val 666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3" name="Text 9"/>
          <p:cNvSpPr txBox="1"/>
          <p:nvPr/>
        </p:nvSpPr>
        <p:spPr>
          <a:xfrm>
            <a:off x="3337560" y="2697480"/>
            <a:ext cx="265176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payslip</a:t>
            </a:r>
            <a:endParaRPr lang="en-US" sz="1200" dirty="0"/>
          </a:p>
        </p:txBody>
      </p:sp>
      <p:sp>
        <p:nvSpPr>
          <p:cNvPr id="14" name="Text 10"/>
          <p:cNvSpPr txBox="1"/>
          <p:nvPr/>
        </p:nvSpPr>
        <p:spPr>
          <a:xfrm>
            <a:off x="3429000" y="3063240"/>
            <a:ext cx="2514600" cy="68580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payslip_id</a:t>
            </a: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payroll_id</a:t>
            </a:r>
            <a:pPr indent="0" marL="0">
              <a:spcAft>
                <a:spcPts val="100"/>
              </a:spcAft>
              <a:buNone/>
            </a:pPr>
            <a:r>
              <a:rPr lang="en-US" sz="950" i="1" dirty="0">
                <a:solidFill>
                  <a:schemeClr val="accent1"/>
                </a:solidFill>
              </a:rPr>
              <a:t>  UNIQUE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payslip_no</a:t>
            </a:r>
            <a:pPr indent="0" marL="0">
              <a:spcAft>
                <a:spcPts val="100"/>
              </a:spcAft>
              <a:buNone/>
            </a:pPr>
            <a:r>
              <a:rPr lang="en-US" sz="950" i="1" dirty="0">
                <a:solidFill>
                  <a:schemeClr val="accent1"/>
                </a:solidFill>
              </a:rPr>
              <a:t>  UNIQUE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generated_on</a:t>
            </a:r>
            <a:pPr indent="0" marL="0">
              <a:spcAft>
                <a:spcPts val="100"/>
              </a:spcAft>
              <a:buNone/>
            </a:pPr>
            <a:endParaRPr lang="en-US" sz="1050" dirty="0"/>
          </a:p>
        </p:txBody>
      </p:sp>
      <p:sp>
        <p:nvSpPr>
          <p:cNvPr id="15" name="Shape 11"/>
          <p:cNvSpPr/>
          <p:nvPr/>
        </p:nvSpPr>
        <p:spPr>
          <a:xfrm>
            <a:off x="6126480" y="1097280"/>
            <a:ext cx="2560320" cy="1828800"/>
          </a:xfrm>
          <a:prstGeom prst="roundRect">
            <a:avLst>
              <a:gd name="adj" fmla="val 4000"/>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6" name="Text 12"/>
          <p:cNvSpPr txBox="1"/>
          <p:nvPr/>
        </p:nvSpPr>
        <p:spPr>
          <a:xfrm>
            <a:off x="6126480" y="1097280"/>
            <a:ext cx="2560320" cy="292608"/>
          </a:xfrm>
          <a:prstGeom prst="roundRect">
            <a:avLst>
              <a:gd name="adj" fmla="val 25000"/>
            </a:avLst>
          </a:prstGeom>
          <a:solidFill>
            <a:schemeClr val="accent1"/>
          </a:solidFill>
          <a:ln/>
        </p:spPr>
        <p:txBody>
          <a:bodyPr wrap="square" lIns="0" tIns="1270" rIns="0" bIns="0" rtlCol="0" anchor="ctr"/>
          <a:lstStyle/>
          <a:p>
            <a:pPr algn="l" indent="0" marL="0">
              <a:buNone/>
            </a:pPr>
            <a:r>
              <a:rPr lang="en-US" sz="1200" b="1" dirty="0">
                <a:solidFill>
                  <a:schemeClr val="bg1"/>
                </a:solidFill>
              </a:rPr>
              <a:t>bank_transfer</a:t>
            </a:r>
            <a:endParaRPr lang="en-US" sz="1200" dirty="0"/>
          </a:p>
        </p:txBody>
      </p:sp>
      <p:sp>
        <p:nvSpPr>
          <p:cNvPr id="17" name="Text 13"/>
          <p:cNvSpPr txBox="1"/>
          <p:nvPr/>
        </p:nvSpPr>
        <p:spPr>
          <a:xfrm>
            <a:off x="6217920" y="1463040"/>
            <a:ext cx="2423160" cy="1417320"/>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b="1" dirty="0">
                <a:solidFill>
                  <a:schemeClr val="tx2"/>
                </a:solidFill>
              </a:rPr>
              <a:t>transfer_id</a:t>
            </a:r>
            <a:endParaRPr lang="en-US" sz="1050" dirty="0"/>
          </a:p>
          <a:p>
            <a:pPr indent="0" marL="0">
              <a:spcAft>
                <a:spcPts val="100"/>
              </a:spcAft>
              <a:buNone/>
            </a:pPr>
            <a:r>
              <a:rPr lang="en-US" sz="1050" b="1" dirty="0">
                <a:solidFill>
                  <a:schemeClr val="accent1"/>
                </a:solidFill>
              </a:rPr>
              <a:t>FK  </a:t>
            </a:r>
            <a:pPr indent="0" marL="0">
              <a:spcAft>
                <a:spcPts val="100"/>
              </a:spcAft>
              <a:buNone/>
            </a:pPr>
            <a:r>
              <a:rPr lang="en-US" sz="1050" dirty="0">
                <a:solidFill>
                  <a:schemeClr val="tx1"/>
                </a:solidFill>
              </a:rPr>
              <a:t>payroll_id</a:t>
            </a:r>
            <a:pPr indent="0" marL="0">
              <a:spcAft>
                <a:spcPts val="100"/>
              </a:spcAft>
              <a:buNone/>
            </a:pPr>
            <a:r>
              <a:rPr lang="en-US" sz="950" i="1" dirty="0">
                <a:solidFill>
                  <a:schemeClr val="accent1"/>
                </a:solidFill>
              </a:rPr>
              <a:t>  UNIQUE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bank_name, account_no, ifsc</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amount</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reference_no</a:t>
            </a:r>
            <a:pPr indent="0" marL="0">
              <a:spcAft>
                <a:spcPts val="100"/>
              </a:spcAft>
              <a:buNone/>
            </a:pPr>
            <a:r>
              <a:rPr lang="en-US" sz="950" i="1" dirty="0">
                <a:solidFill>
                  <a:schemeClr val="accent1"/>
                </a:solidFill>
              </a:rPr>
              <a:t>  UNIQUE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transfer_date</a:t>
            </a:r>
            <a:pPr indent="0" marL="0">
              <a:spcAft>
                <a:spcPts val="100"/>
              </a:spcAft>
              <a:buNone/>
            </a:pPr>
            <a:endParaRPr lang="en-US" sz="1050" dirty="0"/>
          </a:p>
          <a:p>
            <a:pPr indent="0" marL="0">
              <a:spcAft>
                <a:spcPts val="100"/>
              </a:spcAft>
              <a:buNone/>
            </a:pPr>
            <a:r>
              <a:rPr lang="en-US" sz="1050" b="1" dirty="0">
                <a:solidFill>
                  <a:schemeClr val="accent1"/>
                </a:solidFill>
              </a:rPr>
              <a:t>      </a:t>
            </a:r>
            <a:pPr indent="0" marL="0">
              <a:spcAft>
                <a:spcPts val="100"/>
              </a:spcAft>
              <a:buNone/>
            </a:pPr>
            <a:r>
              <a:rPr lang="en-US" sz="1050" dirty="0">
                <a:solidFill>
                  <a:schemeClr val="tx1"/>
                </a:solidFill>
              </a:rPr>
              <a:t>status</a:t>
            </a:r>
            <a:pPr indent="0" marL="0">
              <a:spcAft>
                <a:spcPts val="100"/>
              </a:spcAft>
              <a:buNone/>
            </a:pPr>
            <a:r>
              <a:rPr lang="en-US" sz="950" i="1" dirty="0">
                <a:solidFill>
                  <a:schemeClr val="accent1"/>
                </a:solidFill>
              </a:rPr>
              <a:t>  PENDING/SUCCESS/FAILED</a:t>
            </a:r>
            <a:pPr indent="0" marL="0">
              <a:spcAft>
                <a:spcPts val="100"/>
              </a:spcAft>
              <a:buNone/>
            </a:pPr>
            <a:endParaRPr lang="en-US" sz="1050" dirty="0"/>
          </a:p>
        </p:txBody>
      </p:sp>
      <p:sp>
        <p:nvSpPr>
          <p:cNvPr id="18" name="Shape 14"/>
          <p:cNvSpPr/>
          <p:nvPr/>
        </p:nvSpPr>
        <p:spPr>
          <a:xfrm>
            <a:off x="6126480" y="3017520"/>
            <a:ext cx="2560320" cy="777240"/>
          </a:xfrm>
          <a:prstGeom prst="roundRect">
            <a:avLst>
              <a:gd name="adj" fmla="val 9412"/>
            </a:avLst>
          </a:prstGeom>
          <a:solidFill>
            <a:schemeClr val="accent3"/>
          </a:solidFill>
          <a:ln w="12700">
            <a:solidFill>
              <a:schemeClr val="accent3"/>
            </a:solidFill>
            <a:prstDash val="solid"/>
          </a:ln>
        </p:spPr>
      </p:sp>
      <p:sp>
        <p:nvSpPr>
          <p:cNvPr id="19" name="Text 15"/>
          <p:cNvSpPr txBox="1"/>
          <p:nvPr/>
        </p:nvSpPr>
        <p:spPr>
          <a:xfrm>
            <a:off x="6263640" y="3063240"/>
            <a:ext cx="2286000" cy="685800"/>
          </a:xfrm>
          <a:prstGeom prst="rect">
            <a:avLst/>
          </a:prstGeom>
          <a:noFill/>
          <a:ln/>
        </p:spPr>
        <p:txBody>
          <a:bodyPr wrap="square" lIns="0" tIns="0" rIns="0" bIns="0" rtlCol="0" anchor="ctr"/>
          <a:lstStyle/>
          <a:p>
            <a:pPr indent="0" marL="0">
              <a:buNone/>
            </a:pPr>
            <a:r>
              <a:rPr lang="en-US" sz="1200" dirty="0">
                <a:solidFill>
                  <a:schemeClr val="bg1"/>
                </a:solidFill>
              </a:rPr>
              <a:t>Snapshot design: results are stored, so history never changes.</a:t>
            </a:r>
            <a:endParaRPr lang="en-US" sz="1200" dirty="0"/>
          </a:p>
        </p:txBody>
      </p:sp>
      <p:sp>
        <p:nvSpPr>
          <p:cNvPr id="20" name="Shape 16"/>
          <p:cNvSpPr/>
          <p:nvPr/>
        </p:nvSpPr>
        <p:spPr>
          <a:xfrm>
            <a:off x="457200" y="3931920"/>
            <a:ext cx="8229600" cy="685800"/>
          </a:xfrm>
          <a:prstGeom prst="roundRect">
            <a:avLst>
              <a:gd name="adj" fmla="val 1066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1" name="Text 17"/>
          <p:cNvSpPr txBox="1"/>
          <p:nvPr/>
        </p:nvSpPr>
        <p:spPr>
          <a:xfrm>
            <a:off x="640080" y="3931920"/>
            <a:ext cx="7863840" cy="685800"/>
          </a:xfrm>
          <a:prstGeom prst="rect">
            <a:avLst/>
          </a:prstGeom>
          <a:noFill/>
          <a:ln/>
        </p:spPr>
        <p:txBody>
          <a:bodyPr wrap="square" lIns="0" tIns="0" rIns="0" bIns="0" rtlCol="0" anchor="ctr"/>
          <a:lstStyle/>
          <a:p>
            <a:pPr indent="0" marL="0">
              <a:buNone/>
            </a:pPr>
            <a:r>
              <a:rPr lang="en-US" sz="1200" b="1" dirty="0">
                <a:solidFill>
                  <a:schemeClr val="tx2"/>
                </a:solidFill>
              </a:rPr>
              <a:t>Referential rules:  </a:t>
            </a:r>
            <a:pPr indent="0" marL="0">
              <a:buNone/>
            </a:pPr>
            <a:r>
              <a:rPr lang="en-US" sz="1200" dirty="0">
                <a:solidFill>
                  <a:schemeClr val="tx1"/>
                </a:solidFill>
              </a:rPr>
              <a:t>payroll_detail.employee_id and payroll_period_id use ON DELETE RESTRICT; payslip and bank_transfer follow their payroll_detail row (CASCADE); loan_repayment.payroll_id uses RESTRICT.</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Table Implementation (DDL)</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43000"/>
            <a:ext cx="5212080" cy="3520440"/>
          </a:xfrm>
          <a:prstGeom prst="roundRect">
            <a:avLst>
              <a:gd name="adj" fmla="val 2078"/>
            </a:avLst>
          </a:prstGeom>
          <a:solidFill>
            <a:schemeClr val="tx2"/>
          </a:solidFill>
          <a:ln w="12700">
            <a:solidFill>
              <a:schemeClr val="tx2"/>
            </a:solidFill>
            <a:prstDash val="solid"/>
          </a:ln>
        </p:spPr>
      </p:sp>
      <p:sp>
        <p:nvSpPr>
          <p:cNvPr id="7" name="Text 3"/>
          <p:cNvSpPr txBox="1"/>
          <p:nvPr/>
        </p:nvSpPr>
        <p:spPr>
          <a:xfrm>
            <a:off x="594360" y="1234440"/>
            <a:ext cx="4937760" cy="3337560"/>
          </a:xfrm>
          <a:prstGeom prst="rect">
            <a:avLst/>
          </a:prstGeom>
          <a:noFill/>
          <a:ln/>
        </p:spPr>
        <p:txBody>
          <a:bodyPr wrap="square" lIns="0" tIns="0" rIns="0" bIns="0" rtlCol="0" anchor="t"/>
          <a:lstStyle/>
          <a:p>
            <a:pPr indent="0" marL="0">
              <a:buNone/>
            </a:pPr>
            <a:r>
              <a:rPr lang="en-US" sz="1050" b="1" dirty="0">
                <a:solidFill>
                  <a:schemeClr val="accent2"/>
                </a:solidFill>
                <a:latin typeface="Courier New" pitchFamily="34" charset="0"/>
                <a:ea typeface="Courier New" pitchFamily="34" charset="-122"/>
                <a:cs typeface="Courier New" pitchFamily="34" charset="-120"/>
              </a:rPr>
              <a:t>CREATE TABLE</a:t>
            </a:r>
            <a:pPr indent="0" marL="0">
              <a:buNone/>
            </a:pPr>
            <a:r>
              <a:rPr lang="en-US" sz="1050" dirty="0">
                <a:solidFill>
                  <a:schemeClr val="bg2"/>
                </a:solidFill>
                <a:latin typeface="Courier New" pitchFamily="34" charset="0"/>
                <a:ea typeface="Courier New" pitchFamily="34" charset="-122"/>
                <a:cs typeface="Courier New" pitchFamily="34" charset="-120"/>
              </a:rPr>
              <a:t> payroll_detail (</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payroll_id        INT AUTO_INCREMENT </a:t>
            </a:r>
            <a:pPr indent="0" marL="0">
              <a:buNone/>
            </a:pPr>
            <a:r>
              <a:rPr lang="en-US" sz="1050" b="1" dirty="0">
                <a:solidFill>
                  <a:schemeClr val="accent2"/>
                </a:solidFill>
                <a:latin typeface="Courier New" pitchFamily="34" charset="0"/>
                <a:ea typeface="Courier New" pitchFamily="34" charset="-122"/>
                <a:cs typeface="Courier New" pitchFamily="34" charset="-120"/>
              </a:rPr>
              <a:t>PRIMARY KEY</a:t>
            </a:r>
            <a:pPr indent="0" marL="0">
              <a:buNone/>
            </a:pPr>
            <a:r>
              <a:rPr lang="en-US" sz="1050" dirty="0">
                <a:solidFill>
                  <a:schemeClr val="bg2"/>
                </a:solidFill>
                <a:latin typeface="Courier New" pitchFamily="34" charset="0"/>
                <a:ea typeface="Courier New" pitchFamily="34" charset="-122"/>
                <a:cs typeface="Courier New" pitchFamily="34" charset="-120"/>
              </a:rPr>
              <a:t>,</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employee_id       INT </a:t>
            </a:r>
            <a:pPr indent="0" marL="0">
              <a:buNone/>
            </a:pPr>
            <a:r>
              <a:rPr lang="en-US" sz="1050" b="1" dirty="0">
                <a:solidFill>
                  <a:schemeClr val="accent2"/>
                </a:solidFill>
                <a:latin typeface="Courier New" pitchFamily="34" charset="0"/>
                <a:ea typeface="Courier New" pitchFamily="34" charset="-122"/>
                <a:cs typeface="Courier New" pitchFamily="34" charset="-120"/>
              </a:rPr>
              <a:t>NOT NULL</a:t>
            </a:r>
            <a:pPr indent="0" marL="0">
              <a:buNone/>
            </a:pPr>
            <a:r>
              <a:rPr lang="en-US" sz="1050" dirty="0">
                <a:solidFill>
                  <a:schemeClr val="bg2"/>
                </a:solidFill>
                <a:latin typeface="Courier New" pitchFamily="34" charset="0"/>
                <a:ea typeface="Courier New" pitchFamily="34" charset="-122"/>
                <a:cs typeface="Courier New" pitchFamily="34" charset="-120"/>
              </a:rPr>
              <a:t>,</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payroll_period_id INT </a:t>
            </a:r>
            <a:pPr indent="0" marL="0">
              <a:buNone/>
            </a:pPr>
            <a:r>
              <a:rPr lang="en-US" sz="1050" b="1" dirty="0">
                <a:solidFill>
                  <a:schemeClr val="accent2"/>
                </a:solidFill>
                <a:latin typeface="Courier New" pitchFamily="34" charset="0"/>
                <a:ea typeface="Courier New" pitchFamily="34" charset="-122"/>
                <a:cs typeface="Courier New" pitchFamily="34" charset="-120"/>
              </a:rPr>
              <a:t>NOT NULL</a:t>
            </a:r>
            <a:pPr indent="0" marL="0">
              <a:buNone/>
            </a:pPr>
            <a:r>
              <a:rPr lang="en-US" sz="1050" dirty="0">
                <a:solidFill>
                  <a:schemeClr val="bg2"/>
                </a:solidFill>
                <a:latin typeface="Courier New" pitchFamily="34" charset="0"/>
                <a:ea typeface="Courier New" pitchFamily="34" charset="-122"/>
                <a:cs typeface="Courier New" pitchFamily="34" charset="-120"/>
              </a:rPr>
              <a:t>,</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gross_salary      DECIMAL(12,2) </a:t>
            </a:r>
            <a:pPr indent="0" marL="0">
              <a:buNone/>
            </a:pPr>
            <a:r>
              <a:rPr lang="en-US" sz="1050" b="1" dirty="0">
                <a:solidFill>
                  <a:schemeClr val="accent2"/>
                </a:solidFill>
                <a:latin typeface="Courier New" pitchFamily="34" charset="0"/>
                <a:ea typeface="Courier New" pitchFamily="34" charset="-122"/>
                <a:cs typeface="Courier New" pitchFamily="34" charset="-120"/>
              </a:rPr>
              <a:t>NOT NULL</a:t>
            </a:r>
            <a:pPr indent="0" marL="0">
              <a:buNone/>
            </a:pPr>
            <a:r>
              <a:rPr lang="en-US" sz="1050" dirty="0">
                <a:solidFill>
                  <a:schemeClr val="bg2"/>
                </a:solidFill>
                <a:latin typeface="Courier New" pitchFamily="34" charset="0"/>
                <a:ea typeface="Courier New" pitchFamily="34" charset="-122"/>
                <a:cs typeface="Courier New" pitchFamily="34" charset="-120"/>
              </a:rPr>
              <a:t>,</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total_deductions  DECIMAL(12,2) </a:t>
            </a:r>
            <a:pPr indent="0" marL="0">
              <a:buNone/>
            </a:pPr>
            <a:r>
              <a:rPr lang="en-US" sz="1050" b="1" dirty="0">
                <a:solidFill>
                  <a:schemeClr val="accent2"/>
                </a:solidFill>
                <a:latin typeface="Courier New" pitchFamily="34" charset="0"/>
                <a:ea typeface="Courier New" pitchFamily="34" charset="-122"/>
                <a:cs typeface="Courier New" pitchFamily="34" charset="-120"/>
              </a:rPr>
              <a:t>NOT NULL</a:t>
            </a:r>
            <a:pPr indent="0" marL="0">
              <a:buNone/>
            </a:pPr>
            <a:r>
              <a:rPr lang="en-US" sz="1050" dirty="0">
                <a:solidFill>
                  <a:schemeClr val="bg2"/>
                </a:solidFill>
                <a:latin typeface="Courier New" pitchFamily="34" charset="0"/>
                <a:ea typeface="Courier New" pitchFamily="34" charset="-122"/>
                <a:cs typeface="Courier New" pitchFamily="34" charset="-120"/>
              </a:rPr>
              <a:t>,</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net_salary        DECIMAL(12,2) </a:t>
            </a:r>
            <a:pPr indent="0" marL="0">
              <a:buNone/>
            </a:pPr>
            <a:r>
              <a:rPr lang="en-US" sz="1050" b="1" dirty="0">
                <a:solidFill>
                  <a:schemeClr val="accent2"/>
                </a:solidFill>
                <a:latin typeface="Courier New" pitchFamily="34" charset="0"/>
                <a:ea typeface="Courier New" pitchFamily="34" charset="-122"/>
                <a:cs typeface="Courier New" pitchFamily="34" charset="-120"/>
              </a:rPr>
              <a:t>NOT NULL</a:t>
            </a:r>
            <a:pPr indent="0" marL="0">
              <a:buNone/>
            </a:pPr>
            <a:r>
              <a:rPr lang="en-US" sz="1050" dirty="0">
                <a:solidFill>
                  <a:schemeClr val="bg2"/>
                </a:solidFill>
                <a:latin typeface="Courier New" pitchFamily="34" charset="0"/>
                <a:ea typeface="Courier New" pitchFamily="34" charset="-122"/>
                <a:cs typeface="Courier New" pitchFamily="34" charset="-120"/>
              </a:rPr>
              <a:t>,</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processed_on      DATE </a:t>
            </a:r>
            <a:pPr indent="0" marL="0">
              <a:buNone/>
            </a:pPr>
            <a:r>
              <a:rPr lang="en-US" sz="1050" b="1" dirty="0">
                <a:solidFill>
                  <a:schemeClr val="accent2"/>
                </a:solidFill>
                <a:latin typeface="Courier New" pitchFamily="34" charset="0"/>
                <a:ea typeface="Courier New" pitchFamily="34" charset="-122"/>
                <a:cs typeface="Courier New" pitchFamily="34" charset="-120"/>
              </a:rPr>
              <a:t>NOT NULL</a:t>
            </a:r>
            <a:pPr indent="0" marL="0">
              <a:buNone/>
            </a:pPr>
            <a:r>
              <a:rPr lang="en-US" sz="1050" dirty="0">
                <a:solidFill>
                  <a:schemeClr val="bg2"/>
                </a:solidFill>
                <a:latin typeface="Courier New" pitchFamily="34" charset="0"/>
                <a:ea typeface="Courier New" pitchFamily="34" charset="-122"/>
                <a:cs typeface="Courier New" pitchFamily="34" charset="-120"/>
              </a:rPr>
              <a:t>,</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CONSTRAINT</a:t>
            </a:r>
            <a:pPr indent="0" marL="0">
              <a:buNone/>
            </a:pPr>
            <a:r>
              <a:rPr lang="en-US" sz="1050" dirty="0">
                <a:solidFill>
                  <a:schemeClr val="bg2"/>
                </a:solidFill>
                <a:latin typeface="Courier New" pitchFamily="34" charset="0"/>
                <a:ea typeface="Courier New" pitchFamily="34" charset="-122"/>
                <a:cs typeface="Courier New" pitchFamily="34" charset="-120"/>
              </a:rPr>
              <a:t> uq_payroll_emp_period</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UNIQUE</a:t>
            </a:r>
            <a:pPr indent="0" marL="0">
              <a:buNone/>
            </a:pPr>
            <a:r>
              <a:rPr lang="en-US" sz="1050" dirty="0">
                <a:solidFill>
                  <a:schemeClr val="bg2"/>
                </a:solidFill>
                <a:latin typeface="Courier New" pitchFamily="34" charset="0"/>
                <a:ea typeface="Courier New" pitchFamily="34" charset="-122"/>
                <a:cs typeface="Courier New" pitchFamily="34" charset="-120"/>
              </a:rPr>
              <a:t> (employee_id, payroll_period_id),</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CONSTRAINT</a:t>
            </a:r>
            <a:pPr indent="0" marL="0">
              <a:buNone/>
            </a:pPr>
            <a:r>
              <a:rPr lang="en-US" sz="1050" dirty="0">
                <a:solidFill>
                  <a:schemeClr val="bg2"/>
                </a:solidFill>
                <a:latin typeface="Courier New" pitchFamily="34" charset="0"/>
                <a:ea typeface="Courier New" pitchFamily="34" charset="-122"/>
                <a:cs typeface="Courier New" pitchFamily="34" charset="-120"/>
              </a:rPr>
              <a:t> chk_payroll_net</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CHECK</a:t>
            </a:r>
            <a:pPr indent="0" marL="0">
              <a:buNone/>
            </a:pPr>
            <a:r>
              <a:rPr lang="en-US" sz="1050" dirty="0">
                <a:solidFill>
                  <a:schemeClr val="bg2"/>
                </a:solidFill>
                <a:latin typeface="Courier New" pitchFamily="34" charset="0"/>
                <a:ea typeface="Courier New" pitchFamily="34" charset="-122"/>
                <a:cs typeface="Courier New" pitchFamily="34" charset="-120"/>
              </a:rPr>
              <a:t> (net_salary &gt;= 0 </a:t>
            </a:r>
            <a:pPr indent="0" marL="0">
              <a:buNone/>
            </a:pPr>
            <a:r>
              <a:rPr lang="en-US" sz="1050" b="1" dirty="0">
                <a:solidFill>
                  <a:schemeClr val="accent2"/>
                </a:solidFill>
                <a:latin typeface="Courier New" pitchFamily="34" charset="0"/>
                <a:ea typeface="Courier New" pitchFamily="34" charset="-122"/>
                <a:cs typeface="Courier New" pitchFamily="34" charset="-120"/>
              </a:rPr>
              <a:t>AND</a:t>
            </a:r>
            <a:pPr indent="0" marL="0">
              <a:buNone/>
            </a:pPr>
            <a:r>
              <a:rPr lang="en-US" sz="1050" dirty="0">
                <a:solidFill>
                  <a:schemeClr val="bg2"/>
                </a:solidFill>
                <a:latin typeface="Courier New" pitchFamily="34" charset="0"/>
                <a:ea typeface="Courier New" pitchFamily="34" charset="-122"/>
                <a:cs typeface="Courier New" pitchFamily="34" charset="-120"/>
              </a:rPr>
              <a:t> gross_salary &gt;= 0</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AND</a:t>
            </a:r>
            <a:pPr indent="0" marL="0">
              <a:buNone/>
            </a:pPr>
            <a:r>
              <a:rPr lang="en-US" sz="1050" dirty="0">
                <a:solidFill>
                  <a:schemeClr val="bg2"/>
                </a:solidFill>
                <a:latin typeface="Courier New" pitchFamily="34" charset="0"/>
                <a:ea typeface="Courier New" pitchFamily="34" charset="-122"/>
                <a:cs typeface="Courier New" pitchFamily="34" charset="-120"/>
              </a:rPr>
              <a:t> total_deductions &gt;= 0),</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CONSTRAINT</a:t>
            </a:r>
            <a:pPr indent="0" marL="0">
              <a:buNone/>
            </a:pPr>
            <a:r>
              <a:rPr lang="en-US" sz="1050" dirty="0">
                <a:solidFill>
                  <a:schemeClr val="bg2"/>
                </a:solidFill>
                <a:latin typeface="Courier New" pitchFamily="34" charset="0"/>
                <a:ea typeface="Courier New" pitchFamily="34" charset="-122"/>
                <a:cs typeface="Courier New" pitchFamily="34" charset="-120"/>
              </a:rPr>
              <a:t> fk_pay_emp </a:t>
            </a:r>
            <a:pPr indent="0" marL="0">
              <a:buNone/>
            </a:pPr>
            <a:r>
              <a:rPr lang="en-US" sz="1050" b="1" dirty="0">
                <a:solidFill>
                  <a:schemeClr val="accent2"/>
                </a:solidFill>
                <a:latin typeface="Courier New" pitchFamily="34" charset="0"/>
                <a:ea typeface="Courier New" pitchFamily="34" charset="-122"/>
                <a:cs typeface="Courier New" pitchFamily="34" charset="-120"/>
              </a:rPr>
              <a:t>FOREIGN KEY</a:t>
            </a:r>
            <a:pPr indent="0" marL="0">
              <a:buNone/>
            </a:pPr>
            <a:r>
              <a:rPr lang="en-US" sz="1050" dirty="0">
                <a:solidFill>
                  <a:schemeClr val="bg2"/>
                </a:solidFill>
                <a:latin typeface="Courier New" pitchFamily="34" charset="0"/>
                <a:ea typeface="Courier New" pitchFamily="34" charset="-122"/>
                <a:cs typeface="Courier New" pitchFamily="34" charset="-120"/>
              </a:rPr>
              <a:t> (employee_id)</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REFERENCES</a:t>
            </a:r>
            <a:pPr indent="0" marL="0">
              <a:buNone/>
            </a:pPr>
            <a:r>
              <a:rPr lang="en-US" sz="1050" dirty="0">
                <a:solidFill>
                  <a:schemeClr val="bg2"/>
                </a:solidFill>
                <a:latin typeface="Courier New" pitchFamily="34" charset="0"/>
                <a:ea typeface="Courier New" pitchFamily="34" charset="-122"/>
                <a:cs typeface="Courier New" pitchFamily="34" charset="-120"/>
              </a:rPr>
              <a:t> employee(employee_id) </a:t>
            </a:r>
            <a:pPr indent="0" marL="0">
              <a:buNone/>
            </a:pPr>
            <a:r>
              <a:rPr lang="en-US" sz="1050" b="1" dirty="0">
                <a:solidFill>
                  <a:schemeClr val="accent2"/>
                </a:solidFill>
                <a:latin typeface="Courier New" pitchFamily="34" charset="0"/>
                <a:ea typeface="Courier New" pitchFamily="34" charset="-122"/>
                <a:cs typeface="Courier New" pitchFamily="34" charset="-120"/>
              </a:rPr>
              <a:t>ON</a:t>
            </a:r>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DELETE</a:t>
            </a:r>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RESTRICT</a:t>
            </a:r>
            <a:pPr indent="0" marL="0">
              <a:buNone/>
            </a:pPr>
            <a:r>
              <a:rPr lang="en-US" sz="1050" dirty="0">
                <a:solidFill>
                  <a:schemeClr val="bg2"/>
                </a:solidFill>
                <a:latin typeface="Courier New" pitchFamily="34" charset="0"/>
                <a:ea typeface="Courier New" pitchFamily="34" charset="-122"/>
                <a:cs typeface="Courier New" pitchFamily="34" charset="-120"/>
              </a:rPr>
              <a:t>,</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CONSTRAINT</a:t>
            </a:r>
            <a:pPr indent="0" marL="0">
              <a:buNone/>
            </a:pPr>
            <a:r>
              <a:rPr lang="en-US" sz="1050" dirty="0">
                <a:solidFill>
                  <a:schemeClr val="bg2"/>
                </a:solidFill>
                <a:latin typeface="Courier New" pitchFamily="34" charset="0"/>
                <a:ea typeface="Courier New" pitchFamily="34" charset="-122"/>
                <a:cs typeface="Courier New" pitchFamily="34" charset="-120"/>
              </a:rPr>
              <a:t> fk_pay_period </a:t>
            </a:r>
            <a:pPr indent="0" marL="0">
              <a:buNone/>
            </a:pPr>
            <a:r>
              <a:rPr lang="en-US" sz="1050" b="1" dirty="0">
                <a:solidFill>
                  <a:schemeClr val="accent2"/>
                </a:solidFill>
                <a:latin typeface="Courier New" pitchFamily="34" charset="0"/>
                <a:ea typeface="Courier New" pitchFamily="34" charset="-122"/>
                <a:cs typeface="Courier New" pitchFamily="34" charset="-120"/>
              </a:rPr>
              <a:t>FOREIGN KEY</a:t>
            </a:r>
            <a:pPr indent="0" marL="0">
              <a:buNone/>
            </a:pPr>
            <a:r>
              <a:rPr lang="en-US" sz="1050" dirty="0">
                <a:solidFill>
                  <a:schemeClr val="bg2"/>
                </a:solidFill>
                <a:latin typeface="Courier New" pitchFamily="34" charset="0"/>
                <a:ea typeface="Courier New" pitchFamily="34" charset="-122"/>
                <a:cs typeface="Courier New" pitchFamily="34" charset="-120"/>
              </a:rPr>
              <a:t> (payroll_period_id)</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REFERENCES</a:t>
            </a:r>
            <a:pPr indent="0" marL="0">
              <a:buNone/>
            </a:pPr>
            <a:r>
              <a:rPr lang="en-US" sz="1050" dirty="0">
                <a:solidFill>
                  <a:schemeClr val="bg2"/>
                </a:solidFill>
                <a:latin typeface="Courier New" pitchFamily="34" charset="0"/>
                <a:ea typeface="Courier New" pitchFamily="34" charset="-122"/>
                <a:cs typeface="Courier New" pitchFamily="34" charset="-120"/>
              </a:rPr>
              <a:t> payroll_period(payroll_period_id)</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ON</a:t>
            </a:r>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DELETE</a:t>
            </a:r>
            <a:pPr indent="0" marL="0">
              <a:buNone/>
            </a:pPr>
            <a:r>
              <a:rPr lang="en-US" sz="1050" dirty="0">
                <a:solidFill>
                  <a:schemeClr val="bg2"/>
                </a:solidFill>
                <a:latin typeface="Courier New" pitchFamily="34" charset="0"/>
                <a:ea typeface="Courier New" pitchFamily="34" charset="-122"/>
                <a:cs typeface="Courier New" pitchFamily="34" charset="-120"/>
              </a:rPr>
              <a:t> </a:t>
            </a:r>
            <a:pPr indent="0" marL="0">
              <a:buNone/>
            </a:pPr>
            <a:r>
              <a:rPr lang="en-US" sz="1050" b="1" dirty="0">
                <a:solidFill>
                  <a:schemeClr val="accent2"/>
                </a:solidFill>
                <a:latin typeface="Courier New" pitchFamily="34" charset="0"/>
                <a:ea typeface="Courier New" pitchFamily="34" charset="-122"/>
                <a:cs typeface="Courier New" pitchFamily="34" charset="-120"/>
              </a:rPr>
              <a:t>RESTRICT</a:t>
            </a:r>
            <a:pPr indent="0" marL="0">
              <a:buNone/>
            </a:pP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a:t>
            </a:r>
            <a:pPr indent="0" marL="0">
              <a:buNone/>
            </a:pPr>
            <a:endParaRPr lang="en-US" sz="1050" dirty="0"/>
          </a:p>
        </p:txBody>
      </p:sp>
      <p:sp>
        <p:nvSpPr>
          <p:cNvPr id="8" name="Shape 4"/>
          <p:cNvSpPr/>
          <p:nvPr/>
        </p:nvSpPr>
        <p:spPr>
          <a:xfrm>
            <a:off x="5852160" y="1143000"/>
            <a:ext cx="2834640" cy="777240"/>
          </a:xfrm>
          <a:prstGeom prst="roundRect">
            <a:avLst>
              <a:gd name="adj" fmla="val 9412"/>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9" name="Text 5"/>
          <p:cNvSpPr txBox="1"/>
          <p:nvPr/>
        </p:nvSpPr>
        <p:spPr>
          <a:xfrm>
            <a:off x="5989320" y="1197864"/>
            <a:ext cx="2560320" cy="256032"/>
          </a:xfrm>
          <a:prstGeom prst="rect">
            <a:avLst/>
          </a:prstGeom>
          <a:noFill/>
          <a:ln/>
        </p:spPr>
        <p:txBody>
          <a:bodyPr wrap="square" lIns="0" tIns="0" rIns="0" bIns="0" rtlCol="0" anchor="t"/>
          <a:lstStyle/>
          <a:p>
            <a:pPr indent="0" marL="0">
              <a:buNone/>
            </a:pPr>
            <a:r>
              <a:rPr lang="en-US" sz="1200" b="1" dirty="0">
                <a:solidFill>
                  <a:schemeClr val="accent1"/>
                </a:solidFill>
              </a:rPr>
              <a:t>PRIMARY KEY</a:t>
            </a:r>
            <a:endParaRPr lang="en-US" sz="1200" dirty="0"/>
          </a:p>
        </p:txBody>
      </p:sp>
      <p:sp>
        <p:nvSpPr>
          <p:cNvPr id="10" name="Text 6"/>
          <p:cNvSpPr txBox="1"/>
          <p:nvPr/>
        </p:nvSpPr>
        <p:spPr>
          <a:xfrm>
            <a:off x="5989320" y="1463040"/>
            <a:ext cx="2606040" cy="411480"/>
          </a:xfrm>
          <a:prstGeom prst="rect">
            <a:avLst/>
          </a:prstGeom>
          <a:noFill/>
          <a:ln/>
        </p:spPr>
        <p:txBody>
          <a:bodyPr wrap="square" lIns="0" tIns="0" rIns="0" bIns="0" rtlCol="0" anchor="t"/>
          <a:lstStyle/>
          <a:p>
            <a:pPr indent="0" marL="0">
              <a:buNone/>
            </a:pPr>
            <a:r>
              <a:rPr lang="en-US" sz="1100" dirty="0">
                <a:solidFill>
                  <a:schemeClr val="tx1"/>
                </a:solidFill>
              </a:rPr>
              <a:t>Auto-numbered payroll_id identifies each payslip row</a:t>
            </a:r>
            <a:endParaRPr lang="en-US" sz="1100" dirty="0"/>
          </a:p>
        </p:txBody>
      </p:sp>
      <p:sp>
        <p:nvSpPr>
          <p:cNvPr id="11" name="Shape 7"/>
          <p:cNvSpPr/>
          <p:nvPr/>
        </p:nvSpPr>
        <p:spPr>
          <a:xfrm>
            <a:off x="5852160" y="2039112"/>
            <a:ext cx="2834640" cy="777240"/>
          </a:xfrm>
          <a:prstGeom prst="roundRect">
            <a:avLst>
              <a:gd name="adj" fmla="val 9412"/>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2" name="Text 8"/>
          <p:cNvSpPr txBox="1"/>
          <p:nvPr/>
        </p:nvSpPr>
        <p:spPr>
          <a:xfrm>
            <a:off x="5989320" y="2093976"/>
            <a:ext cx="2560320" cy="256032"/>
          </a:xfrm>
          <a:prstGeom prst="rect">
            <a:avLst/>
          </a:prstGeom>
          <a:noFill/>
          <a:ln/>
        </p:spPr>
        <p:txBody>
          <a:bodyPr wrap="square" lIns="0" tIns="0" rIns="0" bIns="0" rtlCol="0" anchor="t"/>
          <a:lstStyle/>
          <a:p>
            <a:pPr indent="0" marL="0">
              <a:buNone/>
            </a:pPr>
            <a:r>
              <a:rPr lang="en-US" sz="1200" b="1" dirty="0">
                <a:solidFill>
                  <a:schemeClr val="accent1"/>
                </a:solidFill>
              </a:rPr>
              <a:t>UNIQUE (employee, period)</a:t>
            </a:r>
            <a:endParaRPr lang="en-US" sz="1200" dirty="0"/>
          </a:p>
        </p:txBody>
      </p:sp>
      <p:sp>
        <p:nvSpPr>
          <p:cNvPr id="13" name="Text 9"/>
          <p:cNvSpPr txBox="1"/>
          <p:nvPr/>
        </p:nvSpPr>
        <p:spPr>
          <a:xfrm>
            <a:off x="5989320" y="2359152"/>
            <a:ext cx="2606040" cy="411480"/>
          </a:xfrm>
          <a:prstGeom prst="rect">
            <a:avLst/>
          </a:prstGeom>
          <a:noFill/>
          <a:ln/>
        </p:spPr>
        <p:txBody>
          <a:bodyPr wrap="square" lIns="0" tIns="0" rIns="0" bIns="0" rtlCol="0" anchor="t"/>
          <a:lstStyle/>
          <a:p>
            <a:pPr indent="0" marL="0">
              <a:buNone/>
            </a:pPr>
            <a:r>
              <a:rPr lang="en-US" sz="1100" dirty="0">
                <a:solidFill>
                  <a:schemeClr val="tx1"/>
                </a:solidFill>
              </a:rPr>
              <a:t>No employee is paid twice for one month</a:t>
            </a:r>
            <a:endParaRPr lang="en-US" sz="1100" dirty="0"/>
          </a:p>
        </p:txBody>
      </p:sp>
      <p:sp>
        <p:nvSpPr>
          <p:cNvPr id="14" name="Shape 10"/>
          <p:cNvSpPr/>
          <p:nvPr/>
        </p:nvSpPr>
        <p:spPr>
          <a:xfrm>
            <a:off x="5852160" y="2935224"/>
            <a:ext cx="2834640" cy="777240"/>
          </a:xfrm>
          <a:prstGeom prst="roundRect">
            <a:avLst>
              <a:gd name="adj" fmla="val 9412"/>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5" name="Text 11"/>
          <p:cNvSpPr txBox="1"/>
          <p:nvPr/>
        </p:nvSpPr>
        <p:spPr>
          <a:xfrm>
            <a:off x="5989320" y="2990088"/>
            <a:ext cx="2560320" cy="256032"/>
          </a:xfrm>
          <a:prstGeom prst="rect">
            <a:avLst/>
          </a:prstGeom>
          <a:noFill/>
          <a:ln/>
        </p:spPr>
        <p:txBody>
          <a:bodyPr wrap="square" lIns="0" tIns="0" rIns="0" bIns="0" rtlCol="0" anchor="t"/>
          <a:lstStyle/>
          <a:p>
            <a:pPr indent="0" marL="0">
              <a:buNone/>
            </a:pPr>
            <a:r>
              <a:rPr lang="en-US" sz="1200" b="1" dirty="0">
                <a:solidFill>
                  <a:schemeClr val="accent1"/>
                </a:solidFill>
              </a:rPr>
              <a:t>CHECK</a:t>
            </a:r>
            <a:endParaRPr lang="en-US" sz="1200" dirty="0"/>
          </a:p>
        </p:txBody>
      </p:sp>
      <p:sp>
        <p:nvSpPr>
          <p:cNvPr id="16" name="Text 12"/>
          <p:cNvSpPr txBox="1"/>
          <p:nvPr/>
        </p:nvSpPr>
        <p:spPr>
          <a:xfrm>
            <a:off x="5989320" y="3255264"/>
            <a:ext cx="2606040" cy="411480"/>
          </a:xfrm>
          <a:prstGeom prst="rect">
            <a:avLst/>
          </a:prstGeom>
          <a:noFill/>
          <a:ln/>
        </p:spPr>
        <p:txBody>
          <a:bodyPr wrap="square" lIns="0" tIns="0" rIns="0" bIns="0" rtlCol="0" anchor="t"/>
          <a:lstStyle/>
          <a:p>
            <a:pPr indent="0" marL="0">
              <a:buNone/>
            </a:pPr>
            <a:r>
              <a:rPr lang="en-US" sz="1100" dirty="0">
                <a:solidFill>
                  <a:schemeClr val="tx1"/>
                </a:solidFill>
              </a:rPr>
              <a:t>Net, gross and deductions can never be negative</a:t>
            </a:r>
            <a:endParaRPr lang="en-US" sz="1100" dirty="0"/>
          </a:p>
        </p:txBody>
      </p:sp>
      <p:sp>
        <p:nvSpPr>
          <p:cNvPr id="17" name="Shape 13"/>
          <p:cNvSpPr/>
          <p:nvPr/>
        </p:nvSpPr>
        <p:spPr>
          <a:xfrm>
            <a:off x="5852160" y="3831336"/>
            <a:ext cx="2834640" cy="777240"/>
          </a:xfrm>
          <a:prstGeom prst="roundRect">
            <a:avLst>
              <a:gd name="adj" fmla="val 9412"/>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8" name="Text 14"/>
          <p:cNvSpPr txBox="1"/>
          <p:nvPr/>
        </p:nvSpPr>
        <p:spPr>
          <a:xfrm>
            <a:off x="5989320" y="3886200"/>
            <a:ext cx="2560320" cy="256032"/>
          </a:xfrm>
          <a:prstGeom prst="rect">
            <a:avLst/>
          </a:prstGeom>
          <a:noFill/>
          <a:ln/>
        </p:spPr>
        <p:txBody>
          <a:bodyPr wrap="square" lIns="0" tIns="0" rIns="0" bIns="0" rtlCol="0" anchor="t"/>
          <a:lstStyle/>
          <a:p>
            <a:pPr indent="0" marL="0">
              <a:buNone/>
            </a:pPr>
            <a:r>
              <a:rPr lang="en-US" sz="1200" b="1" dirty="0">
                <a:solidFill>
                  <a:schemeClr val="accent1"/>
                </a:solidFill>
              </a:rPr>
              <a:t>FOREIGN KEY + RESTRICT</a:t>
            </a:r>
            <a:endParaRPr lang="en-US" sz="1200" dirty="0"/>
          </a:p>
        </p:txBody>
      </p:sp>
      <p:sp>
        <p:nvSpPr>
          <p:cNvPr id="19" name="Text 15"/>
          <p:cNvSpPr txBox="1"/>
          <p:nvPr/>
        </p:nvSpPr>
        <p:spPr>
          <a:xfrm>
            <a:off x="5989320" y="4151376"/>
            <a:ext cx="2606040" cy="411480"/>
          </a:xfrm>
          <a:prstGeom prst="rect">
            <a:avLst/>
          </a:prstGeom>
          <a:noFill/>
          <a:ln/>
        </p:spPr>
        <p:txBody>
          <a:bodyPr wrap="square" lIns="0" tIns="0" rIns="0" bIns="0" rtlCol="0" anchor="t"/>
          <a:lstStyle/>
          <a:p>
            <a:pPr indent="0" marL="0">
              <a:buNone/>
            </a:pPr>
            <a:r>
              <a:rPr lang="en-US" sz="1100" dirty="0">
                <a:solidFill>
                  <a:schemeClr val="tx1"/>
                </a:solidFill>
              </a:rPr>
              <a:t>Paid history cannot be orphaned or deleted</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Tables and Synthetic Data</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3931920" cy="914400"/>
        </p:xfrm>
        <a:graphic>
          <a:graphicData uri="http://schemas.openxmlformats.org/drawingml/2006/table">
            <a:tbl>
              <a:tblPr/>
              <a:tblGrid>
                <a:gridCol w="2834640"/>
                <a:gridCol w="1097280"/>
              </a:tblGrid>
              <a:tr h="283464">
                <a:tc>
                  <a:txBody>
                    <a:bodyPr/>
                    <a:lstStyle/>
                    <a:p>
                      <a:pPr indent="0" marL="0">
                        <a:buNone/>
                      </a:pPr>
                      <a:r>
                        <a:rPr lang="en-US" sz="1200" b="1" dirty="0">
                          <a:solidFill>
                            <a:schemeClr val="bg1"/>
                          </a:solidFill>
                        </a:rPr>
                        <a:t>Table</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Rows</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r>
              <a:tr h="283464">
                <a:tc>
                  <a:txBody>
                    <a:bodyPr/>
                    <a:lstStyle/>
                    <a:p>
                      <a:pPr indent="0" marL="0">
                        <a:buNone/>
                      </a:pPr>
                      <a:r>
                        <a:rPr lang="en-US" sz="1200" dirty="0">
                          <a:solidFill>
                            <a:schemeClr val="tx1"/>
                          </a:solidFill>
                        </a:rPr>
                        <a:t>attendance_summary</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90</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83464">
                <a:tc>
                  <a:txBody>
                    <a:bodyPr/>
                    <a:lstStyle/>
                    <a:p>
                      <a:pPr indent="0" marL="0">
                        <a:buNone/>
                      </a:pPr>
                      <a:r>
                        <a:rPr lang="en-US" sz="1200" dirty="0">
                          <a:solidFill>
                            <a:schemeClr val="tx1"/>
                          </a:solidFill>
                        </a:rPr>
                        <a:t>bank_transfer</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58</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83464">
                <a:tc>
                  <a:txBody>
                    <a:bodyPr/>
                    <a:lstStyle/>
                    <a:p>
                      <a:pPr indent="0" marL="0">
                        <a:buNone/>
                      </a:pPr>
                      <a:r>
                        <a:rPr lang="en-US" sz="1200" dirty="0">
                          <a:solidFill>
                            <a:schemeClr val="tx1"/>
                          </a:solidFill>
                        </a:rPr>
                        <a:t>deductions</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171</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83464">
                <a:tc>
                  <a:txBody>
                    <a:bodyPr/>
                    <a:lstStyle/>
                    <a:p>
                      <a:pPr indent="0" marL="0">
                        <a:buNone/>
                      </a:pPr>
                      <a:r>
                        <a:rPr lang="en-US" sz="1200" dirty="0">
                          <a:solidFill>
                            <a:schemeClr val="tx1"/>
                          </a:solidFill>
                        </a:rPr>
                        <a:t>department</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83464">
                <a:tc>
                  <a:txBody>
                    <a:bodyPr/>
                    <a:lstStyle/>
                    <a:p>
                      <a:pPr indent="0" marL="0">
                        <a:buNone/>
                      </a:pPr>
                      <a:r>
                        <a:rPr lang="en-US" sz="1200" dirty="0">
                          <a:solidFill>
                            <a:schemeClr val="tx1"/>
                          </a:solidFill>
                        </a:rPr>
                        <a:t>designation</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8</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83464">
                <a:tc>
                  <a:txBody>
                    <a:bodyPr/>
                    <a:lstStyle/>
                    <a:p>
                      <a:pPr indent="0" marL="0">
                        <a:buNone/>
                      </a:pPr>
                      <a:r>
                        <a:rPr lang="en-US" sz="1200" dirty="0">
                          <a:solidFill>
                            <a:schemeClr val="tx1"/>
                          </a:solidFill>
                        </a:rPr>
                        <a:t>earnings</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18</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83464">
                <a:tc>
                  <a:txBody>
                    <a:bodyPr/>
                    <a:lstStyle/>
                    <a:p>
                      <a:pPr indent="0" marL="0">
                        <a:buNone/>
                      </a:pPr>
                      <a:r>
                        <a:rPr lang="en-US" sz="1200" dirty="0">
                          <a:solidFill>
                            <a:schemeClr val="tx1"/>
                          </a:solidFill>
                        </a:rPr>
                        <a:t>employee</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30</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754880" y="1188720"/>
          <a:ext cx="3931920" cy="914400"/>
        </p:xfrm>
        <a:graphic>
          <a:graphicData uri="http://schemas.openxmlformats.org/drawingml/2006/table">
            <a:tbl>
              <a:tblPr/>
              <a:tblGrid>
                <a:gridCol w="2834640"/>
                <a:gridCol w="1097280"/>
              </a:tblGrid>
              <a:tr h="283464">
                <a:tc>
                  <a:txBody>
                    <a:bodyPr/>
                    <a:lstStyle/>
                    <a:p>
                      <a:pPr indent="0" marL="0">
                        <a:buNone/>
                      </a:pPr>
                      <a:r>
                        <a:rPr lang="en-US" sz="1200" b="1" dirty="0">
                          <a:solidFill>
                            <a:schemeClr val="bg1"/>
                          </a:solidFill>
                        </a:rPr>
                        <a:t>Table</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Rows</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r>
              <a:tr h="283464">
                <a:tc>
                  <a:txBody>
                    <a:bodyPr/>
                    <a:lstStyle/>
                    <a:p>
                      <a:pPr indent="0" marL="0">
                        <a:buNone/>
                      </a:pPr>
                      <a:r>
                        <a:rPr lang="en-US" sz="1200" dirty="0">
                          <a:solidFill>
                            <a:schemeClr val="tx1"/>
                          </a:solidFill>
                        </a:rPr>
                        <a:t>loan</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83464">
                <a:tc>
                  <a:txBody>
                    <a:bodyPr/>
                    <a:lstStyle/>
                    <a:p>
                      <a:pPr indent="0" marL="0">
                        <a:buNone/>
                      </a:pPr>
                      <a:r>
                        <a:rPr lang="en-US" sz="1200" dirty="0">
                          <a:solidFill>
                            <a:schemeClr val="tx1"/>
                          </a:solidFill>
                        </a:rPr>
                        <a:t>loan_repayment</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8</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83464">
                <a:tc>
                  <a:txBody>
                    <a:bodyPr/>
                    <a:lstStyle/>
                    <a:p>
                      <a:pPr indent="0" marL="0">
                        <a:buNone/>
                      </a:pPr>
                      <a:r>
                        <a:rPr lang="en-US" sz="1200" dirty="0">
                          <a:solidFill>
                            <a:schemeClr val="tx1"/>
                          </a:solidFill>
                        </a:rPr>
                        <a:t>payroll_config</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8</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83464">
                <a:tc>
                  <a:txBody>
                    <a:bodyPr/>
                    <a:lstStyle/>
                    <a:p>
                      <a:pPr indent="0" marL="0">
                        <a:buNone/>
                      </a:pPr>
                      <a:r>
                        <a:rPr lang="en-US" sz="1200" dirty="0">
                          <a:solidFill>
                            <a:schemeClr val="tx1"/>
                          </a:solidFill>
                        </a:rPr>
                        <a:t>payroll_detail</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58</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83464">
                <a:tc>
                  <a:txBody>
                    <a:bodyPr/>
                    <a:lstStyle/>
                    <a:p>
                      <a:pPr indent="0" marL="0">
                        <a:buNone/>
                      </a:pPr>
                      <a:r>
                        <a:rPr lang="en-US" sz="1200" dirty="0">
                          <a:solidFill>
                            <a:schemeClr val="tx1"/>
                          </a:solidFill>
                        </a:rPr>
                        <a:t>payroll_period</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83464">
                <a:tc>
                  <a:txBody>
                    <a:bodyPr/>
                    <a:lstStyle/>
                    <a:p>
                      <a:pPr indent="0" marL="0">
                        <a:buNone/>
                      </a:pPr>
                      <a:r>
                        <a:rPr lang="en-US" sz="1200" dirty="0">
                          <a:solidFill>
                            <a:schemeClr val="tx1"/>
                          </a:solidFill>
                        </a:rPr>
                        <a:t>payslip</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58</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83464">
                <a:tc>
                  <a:txBody>
                    <a:bodyPr/>
                    <a:lstStyle/>
                    <a:p>
                      <a:pPr indent="0" marL="0">
                        <a:buNone/>
                      </a:pPr>
                      <a:r>
                        <a:rPr lang="en-US" sz="1200" dirty="0">
                          <a:solidFill>
                            <a:schemeClr val="tx1"/>
                          </a:solidFill>
                        </a:rPr>
                        <a:t>salary_structure</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30</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bl>
          </a:graphicData>
        </a:graphic>
      </p:graphicFrame>
      <p:sp>
        <p:nvSpPr>
          <p:cNvPr id="8" name="Shape 2"/>
          <p:cNvSpPr/>
          <p:nvPr/>
        </p:nvSpPr>
        <p:spPr>
          <a:xfrm>
            <a:off x="457200" y="3566160"/>
            <a:ext cx="8229600" cy="1097280"/>
          </a:xfrm>
          <a:prstGeom prst="roundRect">
            <a:avLst>
              <a:gd name="adj" fmla="val 6667"/>
            </a:avLst>
          </a:prstGeom>
          <a:solidFill>
            <a:schemeClr val="accent3"/>
          </a:solidFill>
          <a:ln w="12700">
            <a:solidFill>
              <a:schemeClr val="accent3"/>
            </a:solidFill>
            <a:prstDash val="solid"/>
          </a:ln>
        </p:spPr>
      </p:sp>
      <p:sp>
        <p:nvSpPr>
          <p:cNvPr id="9" name="Text 3"/>
          <p:cNvSpPr txBox="1"/>
          <p:nvPr/>
        </p:nvSpPr>
        <p:spPr>
          <a:xfrm>
            <a:off x="640080" y="3639312"/>
            <a:ext cx="7863840" cy="960120"/>
          </a:xfrm>
          <a:prstGeom prst="rect">
            <a:avLst/>
          </a:prstGeom>
          <a:noFill/>
          <a:ln/>
        </p:spPr>
        <p:txBody>
          <a:bodyPr wrap="square" lIns="0" tIns="0" rIns="0" bIns="0" rtlCol="0" anchor="ctr"/>
          <a:lstStyle/>
          <a:p>
            <a:pPr indent="0" marL="0">
              <a:buNone/>
            </a:pPr>
            <a:r>
              <a:rPr lang="en-US" sz="1400" b="1" dirty="0">
                <a:solidFill>
                  <a:schemeClr val="accent2"/>
                </a:solidFill>
              </a:rPr>
              <a:t>Demo state after init_db.py</a:t>
            </a:r>
            <a:endParaRPr lang="en-US" sz="1400" dirty="0"/>
          </a:p>
          <a:p>
            <a:pPr indent="0" marL="0">
              <a:buNone/>
            </a:pPr>
            <a:r>
              <a:rPr lang="en-US" sz="1300" dirty="0">
                <a:solidFill>
                  <a:schemeClr val="bg1"/>
                </a:solidFill>
              </a:rPr>
              <a:t>30 employees (1 inactive) · August and September 2026 processed and PAID · October 2026 OPEN for live processing · 6 loans · all names, e-mails and bank details fictitious</a:t>
            </a:r>
            <a:endParaRPr lang="en-US" sz="14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SQL Operations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Text 2"/>
          <p:cNvSpPr txBox="1"/>
          <p:nvPr/>
        </p:nvSpPr>
        <p:spPr>
          <a:xfrm>
            <a:off x="457200" y="1097280"/>
            <a:ext cx="201168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CRUD</a:t>
            </a:r>
            <a:endParaRPr lang="en-US" sz="1100" dirty="0"/>
          </a:p>
        </p:txBody>
      </p:sp>
      <p:sp>
        <p:nvSpPr>
          <p:cNvPr id="7" name="Shape 3"/>
          <p:cNvSpPr/>
          <p:nvPr/>
        </p:nvSpPr>
        <p:spPr>
          <a:xfrm>
            <a:off x="457200" y="1399032"/>
            <a:ext cx="4023360" cy="1481328"/>
          </a:xfrm>
          <a:prstGeom prst="roundRect">
            <a:avLst>
              <a:gd name="adj" fmla="val 4938"/>
            </a:avLst>
          </a:prstGeom>
          <a:solidFill>
            <a:schemeClr val="tx2"/>
          </a:solidFill>
          <a:ln w="12700">
            <a:solidFill>
              <a:schemeClr val="tx2"/>
            </a:solidFill>
            <a:prstDash val="solid"/>
          </a:ln>
        </p:spPr>
      </p:sp>
      <p:sp>
        <p:nvSpPr>
          <p:cNvPr id="8" name="Text 4"/>
          <p:cNvSpPr txBox="1"/>
          <p:nvPr/>
        </p:nvSpPr>
        <p:spPr>
          <a:xfrm>
            <a:off x="594360" y="1490472"/>
            <a:ext cx="3749040" cy="1298448"/>
          </a:xfrm>
          <a:prstGeom prst="rect">
            <a:avLst/>
          </a:prstGeom>
          <a:noFill/>
          <a:ln/>
        </p:spPr>
        <p:txBody>
          <a:bodyPr wrap="square" lIns="0" tIns="0" rIns="0" bIns="0" rtlCol="0" anchor="t"/>
          <a:lstStyle/>
          <a:p>
            <a:pPr indent="0" marL="0">
              <a:buNone/>
            </a:pPr>
            <a:r>
              <a:rPr lang="en-US" sz="950" b="1" dirty="0">
                <a:solidFill>
                  <a:schemeClr val="accent2"/>
                </a:solidFill>
                <a:latin typeface="Courier New" pitchFamily="34" charset="0"/>
                <a:ea typeface="Courier New" pitchFamily="34" charset="-122"/>
                <a:cs typeface="Courier New" pitchFamily="34" charset="-120"/>
              </a:rPr>
              <a:t>INSERT INTO</a:t>
            </a:r>
            <a:pPr indent="0" marL="0">
              <a:buNone/>
            </a:pPr>
            <a:r>
              <a:rPr lang="en-US" sz="950" dirty="0">
                <a:solidFill>
                  <a:schemeClr val="bg2"/>
                </a:solidFill>
                <a:latin typeface="Courier New" pitchFamily="34" charset="0"/>
                <a:ea typeface="Courier New" pitchFamily="34" charset="-122"/>
                <a:cs typeface="Courier New" pitchFamily="34" charset="-120"/>
              </a:rPr>
              <a:t> department</a:t>
            </a:r>
            <a:pPr indent="0" marL="0">
              <a:buNone/>
            </a:pPr>
            <a:endParaRPr lang="en-US" sz="950" dirty="0"/>
          </a:p>
          <a:p>
            <a:pPr indent="0" marL="0">
              <a:buNone/>
            </a:pPr>
            <a:r>
              <a:rPr lang="en-US" sz="950" dirty="0">
                <a:solidFill>
                  <a:schemeClr val="bg2"/>
                </a:solidFill>
                <a:latin typeface="Courier New" pitchFamily="34" charset="0"/>
                <a:ea typeface="Courier New" pitchFamily="34" charset="-122"/>
                <a:cs typeface="Courier New" pitchFamily="34" charset="-120"/>
              </a:rPr>
              <a:t>  (department_name, location)</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VALUES</a:t>
            </a:r>
            <a:pPr indent="0" marL="0">
              <a:buNone/>
            </a:pPr>
            <a:r>
              <a:rPr lang="en-US" sz="950" dirty="0">
                <a:solidFill>
                  <a:schemeClr val="bg2"/>
                </a:solidFill>
                <a:latin typeface="Courier New" pitchFamily="34" charset="0"/>
                <a:ea typeface="Courier New" pitchFamily="34" charset="-122"/>
                <a:cs typeface="Courier New" pitchFamily="34" charset="-120"/>
              </a:rPr>
              <a:t> ('Research Lab', 'Hyderabad');</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UPDATE</a:t>
            </a:r>
            <a:pPr indent="0" marL="0">
              <a:buNone/>
            </a:pPr>
            <a:r>
              <a:rPr lang="en-US" sz="950" dirty="0">
                <a:solidFill>
                  <a:schemeClr val="bg2"/>
                </a:solidFill>
                <a:latin typeface="Courier New" pitchFamily="34" charset="0"/>
                <a:ea typeface="Courier New" pitchFamily="34" charset="-122"/>
                <a:cs typeface="Courier New" pitchFamily="34" charset="-120"/>
              </a:rPr>
              <a:t> employee </a:t>
            </a:r>
            <a:pPr indent="0" marL="0">
              <a:buNone/>
            </a:pPr>
            <a:r>
              <a:rPr lang="en-US" sz="950" b="1" dirty="0">
                <a:solidFill>
                  <a:schemeClr val="accent2"/>
                </a:solidFill>
                <a:latin typeface="Courier New" pitchFamily="34" charset="0"/>
                <a:ea typeface="Courier New" pitchFamily="34" charset="-122"/>
                <a:cs typeface="Courier New" pitchFamily="34" charset="-120"/>
              </a:rPr>
              <a:t>SET</a:t>
            </a:r>
            <a:pPr indent="0" marL="0">
              <a:buNone/>
            </a:pPr>
            <a:r>
              <a:rPr lang="en-US" sz="950" dirty="0">
                <a:solidFill>
                  <a:schemeClr val="bg2"/>
                </a:solidFill>
                <a:latin typeface="Courier New" pitchFamily="34" charset="0"/>
                <a:ea typeface="Courier New" pitchFamily="34" charset="-122"/>
                <a:cs typeface="Courier New" pitchFamily="34" charset="-120"/>
              </a:rPr>
              <a:t> phone = '9000011111'</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WHERE</a:t>
            </a:r>
            <a:pPr indent="0" marL="0">
              <a:buNone/>
            </a:pPr>
            <a:r>
              <a:rPr lang="en-US" sz="950" dirty="0">
                <a:solidFill>
                  <a:schemeClr val="bg2"/>
                </a:solidFill>
                <a:latin typeface="Courier New" pitchFamily="34" charset="0"/>
                <a:ea typeface="Courier New" pitchFamily="34" charset="-122"/>
                <a:cs typeface="Courier New" pitchFamily="34" charset="-120"/>
              </a:rPr>
              <a:t> emp_code = 'EMP900';</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DELETE</a:t>
            </a:r>
            <a:pPr indent="0" marL="0">
              <a:buNone/>
            </a:pPr>
            <a:r>
              <a:rPr lang="en-US" sz="950" dirty="0">
                <a:solidFill>
                  <a:schemeClr val="bg2"/>
                </a:solidFill>
                <a:latin typeface="Courier New" pitchFamily="34" charset="0"/>
                <a:ea typeface="Courier New" pitchFamily="34" charset="-122"/>
                <a:cs typeface="Courier New" pitchFamily="34" charset="-120"/>
              </a:rPr>
              <a:t> </a:t>
            </a:r>
            <a:pPr indent="0" marL="0">
              <a:buNone/>
            </a:pPr>
            <a:r>
              <a:rPr lang="en-US" sz="950" b="1" dirty="0">
                <a:solidFill>
                  <a:schemeClr val="accent2"/>
                </a:solidFill>
                <a:latin typeface="Courier New" pitchFamily="34" charset="0"/>
                <a:ea typeface="Courier New" pitchFamily="34" charset="-122"/>
                <a:cs typeface="Courier New" pitchFamily="34" charset="-120"/>
              </a:rPr>
              <a:t>FROM</a:t>
            </a:r>
            <a:pPr indent="0" marL="0">
              <a:buNone/>
            </a:pPr>
            <a:r>
              <a:rPr lang="en-US" sz="950" dirty="0">
                <a:solidFill>
                  <a:schemeClr val="bg2"/>
                </a:solidFill>
                <a:latin typeface="Courier New" pitchFamily="34" charset="0"/>
                <a:ea typeface="Courier New" pitchFamily="34" charset="-122"/>
                <a:cs typeface="Courier New" pitchFamily="34" charset="-120"/>
              </a:rPr>
              <a:t> employee</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WHERE</a:t>
            </a:r>
            <a:pPr indent="0" marL="0">
              <a:buNone/>
            </a:pPr>
            <a:r>
              <a:rPr lang="en-US" sz="950" dirty="0">
                <a:solidFill>
                  <a:schemeClr val="bg2"/>
                </a:solidFill>
                <a:latin typeface="Courier New" pitchFamily="34" charset="0"/>
                <a:ea typeface="Courier New" pitchFamily="34" charset="-122"/>
                <a:cs typeface="Courier New" pitchFamily="34" charset="-120"/>
              </a:rPr>
              <a:t> emp_code = 'EMP900';</a:t>
            </a:r>
            <a:pPr indent="0" marL="0">
              <a:buNone/>
            </a:pPr>
            <a:endParaRPr lang="en-US" sz="950" dirty="0"/>
          </a:p>
        </p:txBody>
      </p:sp>
      <p:sp>
        <p:nvSpPr>
          <p:cNvPr id="9" name="Text 5"/>
          <p:cNvSpPr txBox="1"/>
          <p:nvPr/>
        </p:nvSpPr>
        <p:spPr>
          <a:xfrm>
            <a:off x="4663440" y="1097280"/>
            <a:ext cx="201168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JOIN (3 tables)</a:t>
            </a:r>
            <a:endParaRPr lang="en-US" sz="1100" dirty="0"/>
          </a:p>
        </p:txBody>
      </p:sp>
      <p:sp>
        <p:nvSpPr>
          <p:cNvPr id="10" name="Shape 6"/>
          <p:cNvSpPr/>
          <p:nvPr/>
        </p:nvSpPr>
        <p:spPr>
          <a:xfrm>
            <a:off x="4663440" y="1399032"/>
            <a:ext cx="4023360" cy="1481328"/>
          </a:xfrm>
          <a:prstGeom prst="roundRect">
            <a:avLst>
              <a:gd name="adj" fmla="val 4938"/>
            </a:avLst>
          </a:prstGeom>
          <a:solidFill>
            <a:schemeClr val="tx2"/>
          </a:solidFill>
          <a:ln w="12700">
            <a:solidFill>
              <a:schemeClr val="tx2"/>
            </a:solidFill>
            <a:prstDash val="solid"/>
          </a:ln>
        </p:spPr>
      </p:sp>
      <p:sp>
        <p:nvSpPr>
          <p:cNvPr id="11" name="Text 7"/>
          <p:cNvSpPr txBox="1"/>
          <p:nvPr/>
        </p:nvSpPr>
        <p:spPr>
          <a:xfrm>
            <a:off x="4800600" y="1490472"/>
            <a:ext cx="3749040" cy="1298448"/>
          </a:xfrm>
          <a:prstGeom prst="rect">
            <a:avLst/>
          </a:prstGeom>
          <a:noFill/>
          <a:ln/>
        </p:spPr>
        <p:txBody>
          <a:bodyPr wrap="square" lIns="0" tIns="0" rIns="0" bIns="0" rtlCol="0" anchor="t"/>
          <a:lstStyle/>
          <a:p>
            <a:pPr indent="0" marL="0">
              <a:buNone/>
            </a:pPr>
            <a:r>
              <a:rPr lang="en-US" sz="950" b="1" dirty="0">
                <a:solidFill>
                  <a:schemeClr val="accent2"/>
                </a:solidFill>
                <a:latin typeface="Courier New" pitchFamily="34" charset="0"/>
                <a:ea typeface="Courier New" pitchFamily="34" charset="-122"/>
                <a:cs typeface="Courier New" pitchFamily="34" charset="-120"/>
              </a:rPr>
              <a:t>SELECT</a:t>
            </a:r>
            <a:pPr indent="0" marL="0">
              <a:buNone/>
            </a:pPr>
            <a:r>
              <a:rPr lang="en-US" sz="950" dirty="0">
                <a:solidFill>
                  <a:schemeClr val="bg2"/>
                </a:solidFill>
                <a:latin typeface="Courier New" pitchFamily="34" charset="0"/>
                <a:ea typeface="Courier New" pitchFamily="34" charset="-122"/>
                <a:cs typeface="Courier New" pitchFamily="34" charset="-120"/>
              </a:rPr>
              <a:t> e.emp_code, e.first_name,</a:t>
            </a:r>
            <a:pPr indent="0" marL="0">
              <a:buNone/>
            </a:pPr>
            <a:endParaRPr lang="en-US" sz="950" dirty="0"/>
          </a:p>
          <a:p>
            <a:pPr indent="0" marL="0">
              <a:buNone/>
            </a:pPr>
            <a:r>
              <a:rPr lang="en-US" sz="950" dirty="0">
                <a:solidFill>
                  <a:schemeClr val="bg2"/>
                </a:solidFill>
                <a:latin typeface="Courier New" pitchFamily="34" charset="0"/>
                <a:ea typeface="Courier New" pitchFamily="34" charset="-122"/>
                <a:cs typeface="Courier New" pitchFamily="34" charset="-120"/>
              </a:rPr>
              <a:t>       d.department_name, g.title</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FROM</a:t>
            </a:r>
            <a:pPr indent="0" marL="0">
              <a:buNone/>
            </a:pPr>
            <a:r>
              <a:rPr lang="en-US" sz="950" dirty="0">
                <a:solidFill>
                  <a:schemeClr val="bg2"/>
                </a:solidFill>
                <a:latin typeface="Courier New" pitchFamily="34" charset="0"/>
                <a:ea typeface="Courier New" pitchFamily="34" charset="-122"/>
                <a:cs typeface="Courier New" pitchFamily="34" charset="-120"/>
              </a:rPr>
              <a:t> employee e</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JOIN</a:t>
            </a:r>
            <a:pPr indent="0" marL="0">
              <a:buNone/>
            </a:pPr>
            <a:r>
              <a:rPr lang="en-US" sz="950" dirty="0">
                <a:solidFill>
                  <a:schemeClr val="bg2"/>
                </a:solidFill>
                <a:latin typeface="Courier New" pitchFamily="34" charset="0"/>
                <a:ea typeface="Courier New" pitchFamily="34" charset="-122"/>
                <a:cs typeface="Courier New" pitchFamily="34" charset="-120"/>
              </a:rPr>
              <a:t> department d</a:t>
            </a:r>
            <a:pPr indent="0" marL="0">
              <a:buNone/>
            </a:pPr>
            <a:endParaRPr lang="en-US" sz="950" dirty="0"/>
          </a:p>
          <a:p>
            <a:pPr indent="0" marL="0">
              <a:buNone/>
            </a:pPr>
            <a:r>
              <a:rPr lang="en-US" sz="950" dirty="0">
                <a:solidFill>
                  <a:schemeClr val="bg2"/>
                </a:solidFill>
                <a:latin typeface="Courier New" pitchFamily="34" charset="0"/>
                <a:ea typeface="Courier New" pitchFamily="34" charset="-122"/>
                <a:cs typeface="Courier New" pitchFamily="34" charset="-120"/>
              </a:rPr>
              <a:t>  </a:t>
            </a:r>
            <a:pPr indent="0" marL="0">
              <a:buNone/>
            </a:pPr>
            <a:r>
              <a:rPr lang="en-US" sz="950" b="1" dirty="0">
                <a:solidFill>
                  <a:schemeClr val="accent2"/>
                </a:solidFill>
                <a:latin typeface="Courier New" pitchFamily="34" charset="0"/>
                <a:ea typeface="Courier New" pitchFamily="34" charset="-122"/>
                <a:cs typeface="Courier New" pitchFamily="34" charset="-120"/>
              </a:rPr>
              <a:t>ON</a:t>
            </a:r>
            <a:pPr indent="0" marL="0">
              <a:buNone/>
            </a:pPr>
            <a:r>
              <a:rPr lang="en-US" sz="950" dirty="0">
                <a:solidFill>
                  <a:schemeClr val="bg2"/>
                </a:solidFill>
                <a:latin typeface="Courier New" pitchFamily="34" charset="0"/>
                <a:ea typeface="Courier New" pitchFamily="34" charset="-122"/>
                <a:cs typeface="Courier New" pitchFamily="34" charset="-120"/>
              </a:rPr>
              <a:t> d.department_id = e.department_id</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JOIN</a:t>
            </a:r>
            <a:pPr indent="0" marL="0">
              <a:buNone/>
            </a:pPr>
            <a:r>
              <a:rPr lang="en-US" sz="950" dirty="0">
                <a:solidFill>
                  <a:schemeClr val="bg2"/>
                </a:solidFill>
                <a:latin typeface="Courier New" pitchFamily="34" charset="0"/>
                <a:ea typeface="Courier New" pitchFamily="34" charset="-122"/>
                <a:cs typeface="Courier New" pitchFamily="34" charset="-120"/>
              </a:rPr>
              <a:t> designation g</a:t>
            </a:r>
            <a:pPr indent="0" marL="0">
              <a:buNone/>
            </a:pPr>
            <a:endParaRPr lang="en-US" sz="950" dirty="0"/>
          </a:p>
          <a:p>
            <a:pPr indent="0" marL="0">
              <a:buNone/>
            </a:pPr>
            <a:r>
              <a:rPr lang="en-US" sz="950" dirty="0">
                <a:solidFill>
                  <a:schemeClr val="bg2"/>
                </a:solidFill>
                <a:latin typeface="Courier New" pitchFamily="34" charset="0"/>
                <a:ea typeface="Courier New" pitchFamily="34" charset="-122"/>
                <a:cs typeface="Courier New" pitchFamily="34" charset="-120"/>
              </a:rPr>
              <a:t>  </a:t>
            </a:r>
            <a:pPr indent="0" marL="0">
              <a:buNone/>
            </a:pPr>
            <a:r>
              <a:rPr lang="en-US" sz="950" b="1" dirty="0">
                <a:solidFill>
                  <a:schemeClr val="accent2"/>
                </a:solidFill>
                <a:latin typeface="Courier New" pitchFamily="34" charset="0"/>
                <a:ea typeface="Courier New" pitchFamily="34" charset="-122"/>
                <a:cs typeface="Courier New" pitchFamily="34" charset="-120"/>
              </a:rPr>
              <a:t>ON</a:t>
            </a:r>
            <a:pPr indent="0" marL="0">
              <a:buNone/>
            </a:pPr>
            <a:r>
              <a:rPr lang="en-US" sz="950" dirty="0">
                <a:solidFill>
                  <a:schemeClr val="bg2"/>
                </a:solidFill>
                <a:latin typeface="Courier New" pitchFamily="34" charset="0"/>
                <a:ea typeface="Courier New" pitchFamily="34" charset="-122"/>
                <a:cs typeface="Courier New" pitchFamily="34" charset="-120"/>
              </a:rPr>
              <a:t> g.designation_id = e.designation_id</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ORDER BY</a:t>
            </a:r>
            <a:pPr indent="0" marL="0">
              <a:buNone/>
            </a:pPr>
            <a:r>
              <a:rPr lang="en-US" sz="950" dirty="0">
                <a:solidFill>
                  <a:schemeClr val="bg2"/>
                </a:solidFill>
                <a:latin typeface="Courier New" pitchFamily="34" charset="0"/>
                <a:ea typeface="Courier New" pitchFamily="34" charset="-122"/>
                <a:cs typeface="Courier New" pitchFamily="34" charset="-120"/>
              </a:rPr>
              <a:t> e.emp_code;</a:t>
            </a:r>
            <a:pPr indent="0" marL="0">
              <a:buNone/>
            </a:pPr>
            <a:endParaRPr lang="en-US" sz="950" dirty="0"/>
          </a:p>
        </p:txBody>
      </p:sp>
      <p:sp>
        <p:nvSpPr>
          <p:cNvPr id="12" name="Text 8"/>
          <p:cNvSpPr txBox="1"/>
          <p:nvPr/>
        </p:nvSpPr>
        <p:spPr>
          <a:xfrm>
            <a:off x="457200" y="2971800"/>
            <a:ext cx="201168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GROUP BY + HAVING</a:t>
            </a:r>
            <a:endParaRPr lang="en-US" sz="1100" dirty="0"/>
          </a:p>
        </p:txBody>
      </p:sp>
      <p:sp>
        <p:nvSpPr>
          <p:cNvPr id="13" name="Shape 9"/>
          <p:cNvSpPr/>
          <p:nvPr/>
        </p:nvSpPr>
        <p:spPr>
          <a:xfrm>
            <a:off x="457200" y="3273552"/>
            <a:ext cx="4023360" cy="1481328"/>
          </a:xfrm>
          <a:prstGeom prst="roundRect">
            <a:avLst>
              <a:gd name="adj" fmla="val 4938"/>
            </a:avLst>
          </a:prstGeom>
          <a:solidFill>
            <a:schemeClr val="tx2"/>
          </a:solidFill>
          <a:ln w="12700">
            <a:solidFill>
              <a:schemeClr val="tx2"/>
            </a:solidFill>
            <a:prstDash val="solid"/>
          </a:ln>
        </p:spPr>
      </p:sp>
      <p:sp>
        <p:nvSpPr>
          <p:cNvPr id="14" name="Text 10"/>
          <p:cNvSpPr txBox="1"/>
          <p:nvPr/>
        </p:nvSpPr>
        <p:spPr>
          <a:xfrm>
            <a:off x="594360" y="3364992"/>
            <a:ext cx="3749040" cy="1298448"/>
          </a:xfrm>
          <a:prstGeom prst="rect">
            <a:avLst/>
          </a:prstGeom>
          <a:noFill/>
          <a:ln/>
        </p:spPr>
        <p:txBody>
          <a:bodyPr wrap="square" lIns="0" tIns="0" rIns="0" bIns="0" rtlCol="0" anchor="t"/>
          <a:lstStyle/>
          <a:p>
            <a:pPr indent="0" marL="0">
              <a:buNone/>
            </a:pPr>
            <a:r>
              <a:rPr lang="en-US" sz="950" b="1" dirty="0">
                <a:solidFill>
                  <a:schemeClr val="accent2"/>
                </a:solidFill>
                <a:latin typeface="Courier New" pitchFamily="34" charset="0"/>
                <a:ea typeface="Courier New" pitchFamily="34" charset="-122"/>
                <a:cs typeface="Courier New" pitchFamily="34" charset="-120"/>
              </a:rPr>
              <a:t>SELECT</a:t>
            </a:r>
            <a:pPr indent="0" marL="0">
              <a:buNone/>
            </a:pPr>
            <a:r>
              <a:rPr lang="en-US" sz="950" dirty="0">
                <a:solidFill>
                  <a:schemeClr val="bg2"/>
                </a:solidFill>
                <a:latin typeface="Courier New" pitchFamily="34" charset="0"/>
                <a:ea typeface="Courier New" pitchFamily="34" charset="-122"/>
                <a:cs typeface="Courier New" pitchFamily="34" charset="-120"/>
              </a:rPr>
              <a:t> e.department_id, </a:t>
            </a:r>
            <a:pPr indent="0" marL="0">
              <a:buNone/>
            </a:pPr>
            <a:r>
              <a:rPr lang="en-US" sz="950" b="1" dirty="0">
                <a:solidFill>
                  <a:schemeClr val="accent2"/>
                </a:solidFill>
                <a:latin typeface="Courier New" pitchFamily="34" charset="0"/>
                <a:ea typeface="Courier New" pitchFamily="34" charset="-122"/>
                <a:cs typeface="Courier New" pitchFamily="34" charset="-120"/>
              </a:rPr>
              <a:t>COUNT</a:t>
            </a:r>
            <a:pPr indent="0" marL="0">
              <a:buNone/>
            </a:pPr>
            <a:r>
              <a:rPr lang="en-US" sz="950" dirty="0">
                <a:solidFill>
                  <a:schemeClr val="bg2"/>
                </a:solidFill>
                <a:latin typeface="Courier New" pitchFamily="34" charset="0"/>
                <a:ea typeface="Courier New" pitchFamily="34" charset="-122"/>
                <a:cs typeface="Courier New" pitchFamily="34" charset="-120"/>
              </a:rPr>
              <a:t>(*) </a:t>
            </a:r>
            <a:pPr indent="0" marL="0">
              <a:buNone/>
            </a:pPr>
            <a:r>
              <a:rPr lang="en-US" sz="950" b="1" dirty="0">
                <a:solidFill>
                  <a:schemeClr val="accent2"/>
                </a:solidFill>
                <a:latin typeface="Courier New" pitchFamily="34" charset="0"/>
                <a:ea typeface="Courier New" pitchFamily="34" charset="-122"/>
                <a:cs typeface="Courier New" pitchFamily="34" charset="-120"/>
              </a:rPr>
              <a:t>AS</a:t>
            </a:r>
            <a:pPr indent="0" marL="0">
              <a:buNone/>
            </a:pPr>
            <a:r>
              <a:rPr lang="en-US" sz="950" dirty="0">
                <a:solidFill>
                  <a:schemeClr val="bg2"/>
                </a:solidFill>
                <a:latin typeface="Courier New" pitchFamily="34" charset="0"/>
                <a:ea typeface="Courier New" pitchFamily="34" charset="-122"/>
                <a:cs typeface="Courier New" pitchFamily="34" charset="-120"/>
              </a:rPr>
              <a:t> staff,</a:t>
            </a:r>
            <a:pPr indent="0" marL="0">
              <a:buNone/>
            </a:pPr>
            <a:endParaRPr lang="en-US" sz="950" dirty="0"/>
          </a:p>
          <a:p>
            <a:pPr indent="0" marL="0">
              <a:buNone/>
            </a:pPr>
            <a:r>
              <a:rPr lang="en-US" sz="950" dirty="0">
                <a:solidFill>
                  <a:schemeClr val="bg2"/>
                </a:solidFill>
                <a:latin typeface="Courier New" pitchFamily="34" charset="0"/>
                <a:ea typeface="Courier New" pitchFamily="34" charset="-122"/>
                <a:cs typeface="Courier New" pitchFamily="34" charset="-120"/>
              </a:rPr>
              <a:t>       </a:t>
            </a:r>
            <a:pPr indent="0" marL="0">
              <a:buNone/>
            </a:pPr>
            <a:r>
              <a:rPr lang="en-US" sz="950" b="1" dirty="0">
                <a:solidFill>
                  <a:schemeClr val="accent2"/>
                </a:solidFill>
                <a:latin typeface="Courier New" pitchFamily="34" charset="0"/>
                <a:ea typeface="Courier New" pitchFamily="34" charset="-122"/>
                <a:cs typeface="Courier New" pitchFamily="34" charset="-120"/>
              </a:rPr>
              <a:t>SUM</a:t>
            </a:r>
            <a:pPr indent="0" marL="0">
              <a:buNone/>
            </a:pPr>
            <a:r>
              <a:rPr lang="en-US" sz="950" dirty="0">
                <a:solidFill>
                  <a:schemeClr val="bg2"/>
                </a:solidFill>
                <a:latin typeface="Courier New" pitchFamily="34" charset="0"/>
                <a:ea typeface="Courier New" pitchFamily="34" charset="-122"/>
                <a:cs typeface="Courier New" pitchFamily="34" charset="-120"/>
              </a:rPr>
              <a:t>(p.gross_salary) </a:t>
            </a:r>
            <a:pPr indent="0" marL="0">
              <a:buNone/>
            </a:pPr>
            <a:r>
              <a:rPr lang="en-US" sz="950" b="1" dirty="0">
                <a:solidFill>
                  <a:schemeClr val="accent2"/>
                </a:solidFill>
                <a:latin typeface="Courier New" pitchFamily="34" charset="0"/>
                <a:ea typeface="Courier New" pitchFamily="34" charset="-122"/>
                <a:cs typeface="Courier New" pitchFamily="34" charset="-120"/>
              </a:rPr>
              <a:t>AS</a:t>
            </a:r>
            <a:pPr indent="0" marL="0">
              <a:buNone/>
            </a:pPr>
            <a:r>
              <a:rPr lang="en-US" sz="950" dirty="0">
                <a:solidFill>
                  <a:schemeClr val="bg2"/>
                </a:solidFill>
                <a:latin typeface="Courier New" pitchFamily="34" charset="0"/>
                <a:ea typeface="Courier New" pitchFamily="34" charset="-122"/>
                <a:cs typeface="Courier New" pitchFamily="34" charset="-120"/>
              </a:rPr>
              <a:t> total_gross</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FROM</a:t>
            </a:r>
            <a:pPr indent="0" marL="0">
              <a:buNone/>
            </a:pPr>
            <a:r>
              <a:rPr lang="en-US" sz="950" dirty="0">
                <a:solidFill>
                  <a:schemeClr val="bg2"/>
                </a:solidFill>
                <a:latin typeface="Courier New" pitchFamily="34" charset="0"/>
                <a:ea typeface="Courier New" pitchFamily="34" charset="-122"/>
                <a:cs typeface="Courier New" pitchFamily="34" charset="-120"/>
              </a:rPr>
              <a:t> payroll_detail p</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JOIN</a:t>
            </a:r>
            <a:pPr indent="0" marL="0">
              <a:buNone/>
            </a:pPr>
            <a:r>
              <a:rPr lang="en-US" sz="950" dirty="0">
                <a:solidFill>
                  <a:schemeClr val="bg2"/>
                </a:solidFill>
                <a:latin typeface="Courier New" pitchFamily="34" charset="0"/>
                <a:ea typeface="Courier New" pitchFamily="34" charset="-122"/>
                <a:cs typeface="Courier New" pitchFamily="34" charset="-120"/>
              </a:rPr>
              <a:t> employee e </a:t>
            </a:r>
            <a:pPr indent="0" marL="0">
              <a:buNone/>
            </a:pPr>
            <a:r>
              <a:rPr lang="en-US" sz="950" b="1" dirty="0">
                <a:solidFill>
                  <a:schemeClr val="accent2"/>
                </a:solidFill>
                <a:latin typeface="Courier New" pitchFamily="34" charset="0"/>
                <a:ea typeface="Courier New" pitchFamily="34" charset="-122"/>
                <a:cs typeface="Courier New" pitchFamily="34" charset="-120"/>
              </a:rPr>
              <a:t>ON</a:t>
            </a:r>
            <a:pPr indent="0" marL="0">
              <a:buNone/>
            </a:pPr>
            <a:r>
              <a:rPr lang="en-US" sz="950" dirty="0">
                <a:solidFill>
                  <a:schemeClr val="bg2"/>
                </a:solidFill>
                <a:latin typeface="Courier New" pitchFamily="34" charset="0"/>
                <a:ea typeface="Courier New" pitchFamily="34" charset="-122"/>
                <a:cs typeface="Courier New" pitchFamily="34" charset="-120"/>
              </a:rPr>
              <a:t> e.employee_id = p.employee_id</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WHERE</a:t>
            </a:r>
            <a:pPr indent="0" marL="0">
              <a:buNone/>
            </a:pPr>
            <a:r>
              <a:rPr lang="en-US" sz="950" dirty="0">
                <a:solidFill>
                  <a:schemeClr val="bg2"/>
                </a:solidFill>
                <a:latin typeface="Courier New" pitchFamily="34" charset="0"/>
                <a:ea typeface="Courier New" pitchFamily="34" charset="-122"/>
                <a:cs typeface="Courier New" pitchFamily="34" charset="-120"/>
              </a:rPr>
              <a:t> p.payroll_period_id = 1</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GROUP BY</a:t>
            </a:r>
            <a:pPr indent="0" marL="0">
              <a:buNone/>
            </a:pPr>
            <a:r>
              <a:rPr lang="en-US" sz="950" dirty="0">
                <a:solidFill>
                  <a:schemeClr val="bg2"/>
                </a:solidFill>
                <a:latin typeface="Courier New" pitchFamily="34" charset="0"/>
                <a:ea typeface="Courier New" pitchFamily="34" charset="-122"/>
                <a:cs typeface="Courier New" pitchFamily="34" charset="-120"/>
              </a:rPr>
              <a:t> e.department_id</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HAVING</a:t>
            </a:r>
            <a:pPr indent="0" marL="0">
              <a:buNone/>
            </a:pPr>
            <a:r>
              <a:rPr lang="en-US" sz="950" dirty="0">
                <a:solidFill>
                  <a:schemeClr val="bg2"/>
                </a:solidFill>
                <a:latin typeface="Courier New" pitchFamily="34" charset="0"/>
                <a:ea typeface="Courier New" pitchFamily="34" charset="-122"/>
                <a:cs typeface="Courier New" pitchFamily="34" charset="-120"/>
              </a:rPr>
              <a:t> </a:t>
            </a:r>
            <a:pPr indent="0" marL="0">
              <a:buNone/>
            </a:pPr>
            <a:r>
              <a:rPr lang="en-US" sz="950" b="1" dirty="0">
                <a:solidFill>
                  <a:schemeClr val="accent2"/>
                </a:solidFill>
                <a:latin typeface="Courier New" pitchFamily="34" charset="0"/>
                <a:ea typeface="Courier New" pitchFamily="34" charset="-122"/>
                <a:cs typeface="Courier New" pitchFamily="34" charset="-120"/>
              </a:rPr>
              <a:t>COUNT</a:t>
            </a:r>
            <a:pPr indent="0" marL="0">
              <a:buNone/>
            </a:pPr>
            <a:r>
              <a:rPr lang="en-US" sz="950" dirty="0">
                <a:solidFill>
                  <a:schemeClr val="bg2"/>
                </a:solidFill>
                <a:latin typeface="Courier New" pitchFamily="34" charset="0"/>
                <a:ea typeface="Courier New" pitchFamily="34" charset="-122"/>
                <a:cs typeface="Courier New" pitchFamily="34" charset="-120"/>
              </a:rPr>
              <a:t>(*) &gt; 2;</a:t>
            </a:r>
            <a:pPr indent="0" marL="0">
              <a:buNone/>
            </a:pPr>
            <a:endParaRPr lang="en-US" sz="950" dirty="0"/>
          </a:p>
        </p:txBody>
      </p:sp>
      <p:sp>
        <p:nvSpPr>
          <p:cNvPr id="15" name="Text 11"/>
          <p:cNvSpPr txBox="1"/>
          <p:nvPr/>
        </p:nvSpPr>
        <p:spPr>
          <a:xfrm>
            <a:off x="4663440" y="2971800"/>
            <a:ext cx="201168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Correlated subquery</a:t>
            </a:r>
            <a:endParaRPr lang="en-US" sz="1100" dirty="0"/>
          </a:p>
        </p:txBody>
      </p:sp>
      <p:sp>
        <p:nvSpPr>
          <p:cNvPr id="16" name="Shape 12"/>
          <p:cNvSpPr/>
          <p:nvPr/>
        </p:nvSpPr>
        <p:spPr>
          <a:xfrm>
            <a:off x="4663440" y="3273552"/>
            <a:ext cx="4023360" cy="1481328"/>
          </a:xfrm>
          <a:prstGeom prst="roundRect">
            <a:avLst>
              <a:gd name="adj" fmla="val 4938"/>
            </a:avLst>
          </a:prstGeom>
          <a:solidFill>
            <a:schemeClr val="tx2"/>
          </a:solidFill>
          <a:ln w="12700">
            <a:solidFill>
              <a:schemeClr val="tx2"/>
            </a:solidFill>
            <a:prstDash val="solid"/>
          </a:ln>
        </p:spPr>
      </p:sp>
      <p:sp>
        <p:nvSpPr>
          <p:cNvPr id="17" name="Text 13"/>
          <p:cNvSpPr txBox="1"/>
          <p:nvPr/>
        </p:nvSpPr>
        <p:spPr>
          <a:xfrm>
            <a:off x="4800600" y="3364992"/>
            <a:ext cx="3749040" cy="1298448"/>
          </a:xfrm>
          <a:prstGeom prst="rect">
            <a:avLst/>
          </a:prstGeom>
          <a:noFill/>
          <a:ln/>
        </p:spPr>
        <p:txBody>
          <a:bodyPr wrap="square" lIns="0" tIns="0" rIns="0" bIns="0" rtlCol="0" anchor="t"/>
          <a:lstStyle/>
          <a:p>
            <a:pPr indent="0" marL="0">
              <a:buNone/>
            </a:pPr>
            <a:r>
              <a:rPr lang="en-US" sz="950" b="1" dirty="0">
                <a:solidFill>
                  <a:schemeClr val="accent2"/>
                </a:solidFill>
                <a:latin typeface="Courier New" pitchFamily="34" charset="0"/>
                <a:ea typeface="Courier New" pitchFamily="34" charset="-122"/>
                <a:cs typeface="Courier New" pitchFamily="34" charset="-120"/>
              </a:rPr>
              <a:t>SELECT</a:t>
            </a:r>
            <a:pPr indent="0" marL="0">
              <a:buNone/>
            </a:pPr>
            <a:r>
              <a:rPr lang="en-US" sz="950" dirty="0">
                <a:solidFill>
                  <a:schemeClr val="bg2"/>
                </a:solidFill>
                <a:latin typeface="Courier New" pitchFamily="34" charset="0"/>
                <a:ea typeface="Courier New" pitchFamily="34" charset="-122"/>
                <a:cs typeface="Courier New" pitchFamily="34" charset="-120"/>
              </a:rPr>
              <a:t> e.emp_code, p.gross_salary,</a:t>
            </a:r>
            <a:pPr indent="0" marL="0">
              <a:buNone/>
            </a:pPr>
            <a:endParaRPr lang="en-US" sz="950" dirty="0"/>
          </a:p>
          <a:p>
            <a:pPr indent="0" marL="0">
              <a:buNone/>
            </a:pPr>
            <a:r>
              <a:rPr lang="en-US" sz="950" dirty="0">
                <a:solidFill>
                  <a:schemeClr val="bg2"/>
                </a:solidFill>
                <a:latin typeface="Courier New" pitchFamily="34" charset="0"/>
                <a:ea typeface="Courier New" pitchFamily="34" charset="-122"/>
                <a:cs typeface="Courier New" pitchFamily="34" charset="-120"/>
              </a:rPr>
              <a:t> (</a:t>
            </a:r>
            <a:pPr indent="0" marL="0">
              <a:buNone/>
            </a:pPr>
            <a:r>
              <a:rPr lang="en-US" sz="950" b="1" dirty="0">
                <a:solidFill>
                  <a:schemeClr val="accent2"/>
                </a:solidFill>
                <a:latin typeface="Courier New" pitchFamily="34" charset="0"/>
                <a:ea typeface="Courier New" pitchFamily="34" charset="-122"/>
                <a:cs typeface="Courier New" pitchFamily="34" charset="-120"/>
              </a:rPr>
              <a:t>SELECT</a:t>
            </a:r>
            <a:pPr indent="0" marL="0">
              <a:buNone/>
            </a:pPr>
            <a:r>
              <a:rPr lang="en-US" sz="950" dirty="0">
                <a:solidFill>
                  <a:schemeClr val="bg2"/>
                </a:solidFill>
                <a:latin typeface="Courier New" pitchFamily="34" charset="0"/>
                <a:ea typeface="Courier New" pitchFamily="34" charset="-122"/>
                <a:cs typeface="Courier New" pitchFamily="34" charset="-120"/>
              </a:rPr>
              <a:t> </a:t>
            </a:r>
            <a:pPr indent="0" marL="0">
              <a:buNone/>
            </a:pPr>
            <a:r>
              <a:rPr lang="en-US" sz="950" b="1" dirty="0">
                <a:solidFill>
                  <a:schemeClr val="accent2"/>
                </a:solidFill>
                <a:latin typeface="Courier New" pitchFamily="34" charset="0"/>
                <a:ea typeface="Courier New" pitchFamily="34" charset="-122"/>
                <a:cs typeface="Courier New" pitchFamily="34" charset="-120"/>
              </a:rPr>
              <a:t>AVG</a:t>
            </a:r>
            <a:pPr indent="0" marL="0">
              <a:buNone/>
            </a:pPr>
            <a:r>
              <a:rPr lang="en-US" sz="950" dirty="0">
                <a:solidFill>
                  <a:schemeClr val="bg2"/>
                </a:solidFill>
                <a:latin typeface="Courier New" pitchFamily="34" charset="0"/>
                <a:ea typeface="Courier New" pitchFamily="34" charset="-122"/>
                <a:cs typeface="Courier New" pitchFamily="34" charset="-120"/>
              </a:rPr>
              <a:t>(a.gross_salary)</a:t>
            </a:r>
            <a:pPr indent="0" marL="0">
              <a:buNone/>
            </a:pPr>
            <a:endParaRPr lang="en-US" sz="950" dirty="0"/>
          </a:p>
          <a:p>
            <a:pPr indent="0" marL="0">
              <a:buNone/>
            </a:pPr>
            <a:r>
              <a:rPr lang="en-US" sz="950" dirty="0">
                <a:solidFill>
                  <a:schemeClr val="bg2"/>
                </a:solidFill>
                <a:latin typeface="Courier New" pitchFamily="34" charset="0"/>
                <a:ea typeface="Courier New" pitchFamily="34" charset="-122"/>
                <a:cs typeface="Courier New" pitchFamily="34" charset="-120"/>
              </a:rPr>
              <a:t>  </a:t>
            </a:r>
            <a:pPr indent="0" marL="0">
              <a:buNone/>
            </a:pPr>
            <a:r>
              <a:rPr lang="en-US" sz="950" b="1" dirty="0">
                <a:solidFill>
                  <a:schemeClr val="accent2"/>
                </a:solidFill>
                <a:latin typeface="Courier New" pitchFamily="34" charset="0"/>
                <a:ea typeface="Courier New" pitchFamily="34" charset="-122"/>
                <a:cs typeface="Courier New" pitchFamily="34" charset="-120"/>
              </a:rPr>
              <a:t>FROM</a:t>
            </a:r>
            <a:pPr indent="0" marL="0">
              <a:buNone/>
            </a:pPr>
            <a:r>
              <a:rPr lang="en-US" sz="950" dirty="0">
                <a:solidFill>
                  <a:schemeClr val="bg2"/>
                </a:solidFill>
                <a:latin typeface="Courier New" pitchFamily="34" charset="0"/>
                <a:ea typeface="Courier New" pitchFamily="34" charset="-122"/>
                <a:cs typeface="Courier New" pitchFamily="34" charset="-120"/>
              </a:rPr>
              <a:t> payroll_detail a</a:t>
            </a:r>
            <a:pPr indent="0" marL="0">
              <a:buNone/>
            </a:pPr>
            <a:endParaRPr lang="en-US" sz="950" dirty="0"/>
          </a:p>
          <a:p>
            <a:pPr indent="0" marL="0">
              <a:buNone/>
            </a:pPr>
            <a:r>
              <a:rPr lang="en-US" sz="950" dirty="0">
                <a:solidFill>
                  <a:schemeClr val="bg2"/>
                </a:solidFill>
                <a:latin typeface="Courier New" pitchFamily="34" charset="0"/>
                <a:ea typeface="Courier New" pitchFamily="34" charset="-122"/>
                <a:cs typeface="Courier New" pitchFamily="34" charset="-120"/>
              </a:rPr>
              <a:t>  </a:t>
            </a:r>
            <a:pPr indent="0" marL="0">
              <a:buNone/>
            </a:pPr>
            <a:r>
              <a:rPr lang="en-US" sz="950" b="1" dirty="0">
                <a:solidFill>
                  <a:schemeClr val="accent2"/>
                </a:solidFill>
                <a:latin typeface="Courier New" pitchFamily="34" charset="0"/>
                <a:ea typeface="Courier New" pitchFamily="34" charset="-122"/>
                <a:cs typeface="Courier New" pitchFamily="34" charset="-120"/>
              </a:rPr>
              <a:t>JOIN</a:t>
            </a:r>
            <a:pPr indent="0" marL="0">
              <a:buNone/>
            </a:pPr>
            <a:r>
              <a:rPr lang="en-US" sz="950" dirty="0">
                <a:solidFill>
                  <a:schemeClr val="bg2"/>
                </a:solidFill>
                <a:latin typeface="Courier New" pitchFamily="34" charset="0"/>
                <a:ea typeface="Courier New" pitchFamily="34" charset="-122"/>
                <a:cs typeface="Courier New" pitchFamily="34" charset="-120"/>
              </a:rPr>
              <a:t> employee b </a:t>
            </a:r>
            <a:pPr indent="0" marL="0">
              <a:buNone/>
            </a:pPr>
            <a:r>
              <a:rPr lang="en-US" sz="950" b="1" dirty="0">
                <a:solidFill>
                  <a:schemeClr val="accent2"/>
                </a:solidFill>
                <a:latin typeface="Courier New" pitchFamily="34" charset="0"/>
                <a:ea typeface="Courier New" pitchFamily="34" charset="-122"/>
                <a:cs typeface="Courier New" pitchFamily="34" charset="-120"/>
              </a:rPr>
              <a:t>ON</a:t>
            </a:r>
            <a:pPr indent="0" marL="0">
              <a:buNone/>
            </a:pPr>
            <a:r>
              <a:rPr lang="en-US" sz="950" dirty="0">
                <a:solidFill>
                  <a:schemeClr val="bg2"/>
                </a:solidFill>
                <a:latin typeface="Courier New" pitchFamily="34" charset="0"/>
                <a:ea typeface="Courier New" pitchFamily="34" charset="-122"/>
                <a:cs typeface="Courier New" pitchFamily="34" charset="-120"/>
              </a:rPr>
              <a:t> b.employee_id = a.employee_id</a:t>
            </a:r>
            <a:pPr indent="0" marL="0">
              <a:buNone/>
            </a:pPr>
            <a:endParaRPr lang="en-US" sz="950" dirty="0"/>
          </a:p>
          <a:p>
            <a:pPr indent="0" marL="0">
              <a:buNone/>
            </a:pPr>
            <a:r>
              <a:rPr lang="en-US" sz="950" dirty="0">
                <a:solidFill>
                  <a:schemeClr val="bg2"/>
                </a:solidFill>
                <a:latin typeface="Courier New" pitchFamily="34" charset="0"/>
                <a:ea typeface="Courier New" pitchFamily="34" charset="-122"/>
                <a:cs typeface="Courier New" pitchFamily="34" charset="-120"/>
              </a:rPr>
              <a:t>  </a:t>
            </a:r>
            <a:pPr indent="0" marL="0">
              <a:buNone/>
            </a:pPr>
            <a:r>
              <a:rPr lang="en-US" sz="950" b="1" dirty="0">
                <a:solidFill>
                  <a:schemeClr val="accent2"/>
                </a:solidFill>
                <a:latin typeface="Courier New" pitchFamily="34" charset="0"/>
                <a:ea typeface="Courier New" pitchFamily="34" charset="-122"/>
                <a:cs typeface="Courier New" pitchFamily="34" charset="-120"/>
              </a:rPr>
              <a:t>WHERE</a:t>
            </a:r>
            <a:pPr indent="0" marL="0">
              <a:buNone/>
            </a:pPr>
            <a:r>
              <a:rPr lang="en-US" sz="950" dirty="0">
                <a:solidFill>
                  <a:schemeClr val="bg2"/>
                </a:solidFill>
                <a:latin typeface="Courier New" pitchFamily="34" charset="0"/>
                <a:ea typeface="Courier New" pitchFamily="34" charset="-122"/>
                <a:cs typeface="Courier New" pitchFamily="34" charset="-120"/>
              </a:rPr>
              <a:t> b.department_id = e.department_id</a:t>
            </a:r>
            <a:pPr indent="0" marL="0">
              <a:buNone/>
            </a:pPr>
            <a:endParaRPr lang="en-US" sz="950" dirty="0"/>
          </a:p>
          <a:p>
            <a:pPr indent="0" marL="0">
              <a:buNone/>
            </a:pPr>
            <a:r>
              <a:rPr lang="en-US" sz="950" dirty="0">
                <a:solidFill>
                  <a:schemeClr val="bg2"/>
                </a:solidFill>
                <a:latin typeface="Courier New" pitchFamily="34" charset="0"/>
                <a:ea typeface="Courier New" pitchFamily="34" charset="-122"/>
                <a:cs typeface="Courier New" pitchFamily="34" charset="-120"/>
              </a:rPr>
              <a:t>    </a:t>
            </a:r>
            <a:pPr indent="0" marL="0">
              <a:buNone/>
            </a:pPr>
            <a:r>
              <a:rPr lang="en-US" sz="950" b="1" dirty="0">
                <a:solidFill>
                  <a:schemeClr val="accent2"/>
                </a:solidFill>
                <a:latin typeface="Courier New" pitchFamily="34" charset="0"/>
                <a:ea typeface="Courier New" pitchFamily="34" charset="-122"/>
                <a:cs typeface="Courier New" pitchFamily="34" charset="-120"/>
              </a:rPr>
              <a:t>AND</a:t>
            </a:r>
            <a:pPr indent="0" marL="0">
              <a:buNone/>
            </a:pPr>
            <a:r>
              <a:rPr lang="en-US" sz="950" dirty="0">
                <a:solidFill>
                  <a:schemeClr val="bg2"/>
                </a:solidFill>
                <a:latin typeface="Courier New" pitchFamily="34" charset="0"/>
                <a:ea typeface="Courier New" pitchFamily="34" charset="-122"/>
                <a:cs typeface="Courier New" pitchFamily="34" charset="-120"/>
              </a:rPr>
              <a:t> a.payroll_period_id = p.payroll_period_id)</a:t>
            </a:r>
            <a:pPr indent="0" marL="0">
              <a:buNone/>
            </a:pPr>
            <a:endParaRPr lang="en-US" sz="950" dirty="0"/>
          </a:p>
          <a:p>
            <a:pPr indent="0" marL="0">
              <a:buNone/>
            </a:pPr>
            <a:r>
              <a:rPr lang="en-US" sz="950" dirty="0">
                <a:solidFill>
                  <a:schemeClr val="bg2"/>
                </a:solidFill>
                <a:latin typeface="Courier New" pitchFamily="34" charset="0"/>
                <a:ea typeface="Courier New" pitchFamily="34" charset="-122"/>
                <a:cs typeface="Courier New" pitchFamily="34" charset="-120"/>
              </a:rPr>
              <a:t>   </a:t>
            </a:r>
            <a:pPr indent="0" marL="0">
              <a:buNone/>
            </a:pPr>
            <a:r>
              <a:rPr lang="en-US" sz="950" b="1" dirty="0">
                <a:solidFill>
                  <a:schemeClr val="accent2"/>
                </a:solidFill>
                <a:latin typeface="Courier New" pitchFamily="34" charset="0"/>
                <a:ea typeface="Courier New" pitchFamily="34" charset="-122"/>
                <a:cs typeface="Courier New" pitchFamily="34" charset="-120"/>
              </a:rPr>
              <a:t>AS</a:t>
            </a:r>
            <a:pPr indent="0" marL="0">
              <a:buNone/>
            </a:pPr>
            <a:r>
              <a:rPr lang="en-US" sz="950" dirty="0">
                <a:solidFill>
                  <a:schemeClr val="bg2"/>
                </a:solidFill>
                <a:latin typeface="Courier New" pitchFamily="34" charset="0"/>
                <a:ea typeface="Courier New" pitchFamily="34" charset="-122"/>
                <a:cs typeface="Courier New" pitchFamily="34" charset="-120"/>
              </a:rPr>
              <a:t> dept_avg</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FROM</a:t>
            </a:r>
            <a:pPr indent="0" marL="0">
              <a:buNone/>
            </a:pPr>
            <a:r>
              <a:rPr lang="en-US" sz="950" dirty="0">
                <a:solidFill>
                  <a:schemeClr val="bg2"/>
                </a:solidFill>
                <a:latin typeface="Courier New" pitchFamily="34" charset="0"/>
                <a:ea typeface="Courier New" pitchFamily="34" charset="-122"/>
                <a:cs typeface="Courier New" pitchFamily="34" charset="-120"/>
              </a:rPr>
              <a:t> payroll_detail p</a:t>
            </a:r>
            <a:pPr indent="0" marL="0">
              <a:buNone/>
            </a:pPr>
            <a:endParaRPr lang="en-US" sz="950" dirty="0"/>
          </a:p>
          <a:p>
            <a:pPr indent="0" marL="0">
              <a:buNone/>
            </a:pPr>
            <a:r>
              <a:rPr lang="en-US" sz="950" b="1" dirty="0">
                <a:solidFill>
                  <a:schemeClr val="accent2"/>
                </a:solidFill>
                <a:latin typeface="Courier New" pitchFamily="34" charset="0"/>
                <a:ea typeface="Courier New" pitchFamily="34" charset="-122"/>
                <a:cs typeface="Courier New" pitchFamily="34" charset="-120"/>
              </a:rPr>
              <a:t>JOIN</a:t>
            </a:r>
            <a:pPr indent="0" marL="0">
              <a:buNone/>
            </a:pPr>
            <a:r>
              <a:rPr lang="en-US" sz="950" dirty="0">
                <a:solidFill>
                  <a:schemeClr val="bg2"/>
                </a:solidFill>
                <a:latin typeface="Courier New" pitchFamily="34" charset="0"/>
                <a:ea typeface="Courier New" pitchFamily="34" charset="-122"/>
                <a:cs typeface="Courier New" pitchFamily="34" charset="-120"/>
              </a:rPr>
              <a:t> employee e </a:t>
            </a:r>
            <a:pPr indent="0" marL="0">
              <a:buNone/>
            </a:pPr>
            <a:r>
              <a:rPr lang="en-US" sz="950" b="1" dirty="0">
                <a:solidFill>
                  <a:schemeClr val="accent2"/>
                </a:solidFill>
                <a:latin typeface="Courier New" pitchFamily="34" charset="0"/>
                <a:ea typeface="Courier New" pitchFamily="34" charset="-122"/>
                <a:cs typeface="Courier New" pitchFamily="34" charset="-120"/>
              </a:rPr>
              <a:t>ON</a:t>
            </a:r>
            <a:pPr indent="0" marL="0">
              <a:buNone/>
            </a:pPr>
            <a:r>
              <a:rPr lang="en-US" sz="950" dirty="0">
                <a:solidFill>
                  <a:schemeClr val="bg2"/>
                </a:solidFill>
                <a:latin typeface="Courier New" pitchFamily="34" charset="0"/>
                <a:ea typeface="Courier New" pitchFamily="34" charset="-122"/>
                <a:cs typeface="Courier New" pitchFamily="34" charset="-120"/>
              </a:rPr>
              <a:t> e.employee_id = p.employee_id;</a:t>
            </a:r>
            <a:pPr indent="0" marL="0">
              <a:buNone/>
            </a:pPr>
            <a:endParaRPr lang="en-US" sz="9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Payroll Calculation Logic</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88720"/>
            <a:ext cx="1920240" cy="868680"/>
          </a:xfrm>
          <a:prstGeom prst="roundRect">
            <a:avLst>
              <a:gd name="adj" fmla="val 842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Text 3"/>
          <p:cNvSpPr txBox="1"/>
          <p:nvPr/>
        </p:nvSpPr>
        <p:spPr>
          <a:xfrm>
            <a:off x="548640" y="1243584"/>
            <a:ext cx="1737360" cy="320040"/>
          </a:xfrm>
          <a:prstGeom prst="rect">
            <a:avLst/>
          </a:prstGeom>
          <a:noFill/>
          <a:ln/>
        </p:spPr>
        <p:txBody>
          <a:bodyPr wrap="square" lIns="0" tIns="0" rIns="0" bIns="0" rtlCol="0" anchor="ctr"/>
          <a:lstStyle/>
          <a:p>
            <a:pPr algn="ctr" indent="0" marL="0">
              <a:buNone/>
            </a:pPr>
            <a:r>
              <a:rPr lang="en-US" sz="1400" b="1" dirty="0">
                <a:solidFill>
                  <a:schemeClr val="tx2"/>
                </a:solidFill>
              </a:rPr>
              <a:t>Fixed gross</a:t>
            </a:r>
            <a:endParaRPr lang="en-US" sz="1400" dirty="0"/>
          </a:p>
        </p:txBody>
      </p:sp>
      <p:sp>
        <p:nvSpPr>
          <p:cNvPr id="8" name="Text 4"/>
          <p:cNvSpPr txBox="1"/>
          <p:nvPr/>
        </p:nvSpPr>
        <p:spPr>
          <a:xfrm>
            <a:off x="548640" y="1572768"/>
            <a:ext cx="1737360" cy="457200"/>
          </a:xfrm>
          <a:prstGeom prst="rect">
            <a:avLst/>
          </a:prstGeom>
          <a:noFill/>
          <a:ln/>
        </p:spPr>
        <p:txBody>
          <a:bodyPr wrap="square" lIns="0" tIns="0" rIns="0" bIns="0" rtlCol="0" anchor="t"/>
          <a:lstStyle/>
          <a:p>
            <a:pPr algn="ctr" indent="0" marL="0">
              <a:buNone/>
            </a:pPr>
            <a:r>
              <a:rPr lang="en-US" sz="1050" dirty="0">
                <a:solidFill>
                  <a:schemeClr val="tx1"/>
                </a:solidFill>
              </a:rPr>
              <a:t>basic + HRA + DA + special</a:t>
            </a:r>
            <a:endParaRPr lang="en-US" sz="1050" dirty="0"/>
          </a:p>
        </p:txBody>
      </p:sp>
      <p:sp>
        <p:nvSpPr>
          <p:cNvPr id="9" name="Shape 5"/>
          <p:cNvSpPr/>
          <p:nvPr/>
        </p:nvSpPr>
        <p:spPr>
          <a:xfrm>
            <a:off x="2395728" y="1618488"/>
            <a:ext cx="192024" cy="0"/>
          </a:xfrm>
          <a:prstGeom prst="line">
            <a:avLst/>
          </a:prstGeom>
          <a:noFill/>
          <a:ln w="25400">
            <a:solidFill>
              <a:schemeClr val="accent2"/>
            </a:solidFill>
            <a:prstDash val="solid"/>
            <a:tailEnd type="triangle"/>
          </a:ln>
        </p:spPr>
      </p:sp>
      <p:sp>
        <p:nvSpPr>
          <p:cNvPr id="10" name="Shape 6"/>
          <p:cNvSpPr/>
          <p:nvPr/>
        </p:nvSpPr>
        <p:spPr>
          <a:xfrm>
            <a:off x="2606040" y="1188720"/>
            <a:ext cx="1920240" cy="868680"/>
          </a:xfrm>
          <a:prstGeom prst="roundRect">
            <a:avLst>
              <a:gd name="adj" fmla="val 842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1" name="Text 7"/>
          <p:cNvSpPr txBox="1"/>
          <p:nvPr/>
        </p:nvSpPr>
        <p:spPr>
          <a:xfrm>
            <a:off x="2697480" y="1243584"/>
            <a:ext cx="1737360" cy="320040"/>
          </a:xfrm>
          <a:prstGeom prst="rect">
            <a:avLst/>
          </a:prstGeom>
          <a:noFill/>
          <a:ln/>
        </p:spPr>
        <p:txBody>
          <a:bodyPr wrap="square" lIns="0" tIns="0" rIns="0" bIns="0" rtlCol="0" anchor="ctr"/>
          <a:lstStyle/>
          <a:p>
            <a:pPr algn="ctr" indent="0" marL="0">
              <a:buNone/>
            </a:pPr>
            <a:r>
              <a:rPr lang="en-US" sz="1400" b="1" dirty="0">
                <a:solidFill>
                  <a:schemeClr val="tx2"/>
                </a:solidFill>
              </a:rPr>
              <a:t>− Loss of pay</a:t>
            </a:r>
            <a:endParaRPr lang="en-US" sz="1400" dirty="0"/>
          </a:p>
        </p:txBody>
      </p:sp>
      <p:sp>
        <p:nvSpPr>
          <p:cNvPr id="12" name="Text 8"/>
          <p:cNvSpPr txBox="1"/>
          <p:nvPr/>
        </p:nvSpPr>
        <p:spPr>
          <a:xfrm>
            <a:off x="2697480" y="1572768"/>
            <a:ext cx="1737360" cy="457200"/>
          </a:xfrm>
          <a:prstGeom prst="rect">
            <a:avLst/>
          </a:prstGeom>
          <a:noFill/>
          <a:ln/>
        </p:spPr>
        <p:txBody>
          <a:bodyPr wrap="square" lIns="0" tIns="0" rIns="0" bIns="0" rtlCol="0" anchor="t"/>
          <a:lstStyle/>
          <a:p>
            <a:pPr algn="ctr" indent="0" marL="0">
              <a:buNone/>
            </a:pPr>
            <a:r>
              <a:rPr lang="en-US" sz="1050" dirty="0">
                <a:solidFill>
                  <a:schemeClr val="tx1"/>
                </a:solidFill>
              </a:rPr>
              <a:t>fixed gross ÷ working days × LOP days</a:t>
            </a:r>
            <a:endParaRPr lang="en-US" sz="1050" dirty="0"/>
          </a:p>
        </p:txBody>
      </p:sp>
      <p:sp>
        <p:nvSpPr>
          <p:cNvPr id="13" name="Shape 9"/>
          <p:cNvSpPr/>
          <p:nvPr/>
        </p:nvSpPr>
        <p:spPr>
          <a:xfrm>
            <a:off x="4544568" y="1618488"/>
            <a:ext cx="192024" cy="0"/>
          </a:xfrm>
          <a:prstGeom prst="line">
            <a:avLst/>
          </a:prstGeom>
          <a:noFill/>
          <a:ln w="25400">
            <a:solidFill>
              <a:schemeClr val="accent2"/>
            </a:solidFill>
            <a:prstDash val="solid"/>
            <a:tailEnd type="triangle"/>
          </a:ln>
        </p:spPr>
      </p:sp>
      <p:sp>
        <p:nvSpPr>
          <p:cNvPr id="14" name="Shape 10"/>
          <p:cNvSpPr/>
          <p:nvPr/>
        </p:nvSpPr>
        <p:spPr>
          <a:xfrm>
            <a:off x="4754880" y="1188720"/>
            <a:ext cx="1920240" cy="868680"/>
          </a:xfrm>
          <a:prstGeom prst="roundRect">
            <a:avLst>
              <a:gd name="adj" fmla="val 842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5" name="Text 11"/>
          <p:cNvSpPr txBox="1"/>
          <p:nvPr/>
        </p:nvSpPr>
        <p:spPr>
          <a:xfrm>
            <a:off x="4846320" y="1243584"/>
            <a:ext cx="1737360" cy="320040"/>
          </a:xfrm>
          <a:prstGeom prst="rect">
            <a:avLst/>
          </a:prstGeom>
          <a:noFill/>
          <a:ln/>
        </p:spPr>
        <p:txBody>
          <a:bodyPr wrap="square" lIns="0" tIns="0" rIns="0" bIns="0" rtlCol="0" anchor="ctr"/>
          <a:lstStyle/>
          <a:p>
            <a:pPr algn="ctr" indent="0" marL="0">
              <a:buNone/>
            </a:pPr>
            <a:r>
              <a:rPr lang="en-US" sz="1400" b="1" dirty="0">
                <a:solidFill>
                  <a:schemeClr val="tx2"/>
                </a:solidFill>
              </a:rPr>
              <a:t>+ Extra earnings</a:t>
            </a:r>
            <a:endParaRPr lang="en-US" sz="1400" dirty="0"/>
          </a:p>
        </p:txBody>
      </p:sp>
      <p:sp>
        <p:nvSpPr>
          <p:cNvPr id="16" name="Text 12"/>
          <p:cNvSpPr txBox="1"/>
          <p:nvPr/>
        </p:nvSpPr>
        <p:spPr>
          <a:xfrm>
            <a:off x="4846320" y="1572768"/>
            <a:ext cx="1737360" cy="457200"/>
          </a:xfrm>
          <a:prstGeom prst="rect">
            <a:avLst/>
          </a:prstGeom>
          <a:noFill/>
          <a:ln/>
        </p:spPr>
        <p:txBody>
          <a:bodyPr wrap="square" lIns="0" tIns="0" rIns="0" bIns="0" rtlCol="0" anchor="t"/>
          <a:lstStyle/>
          <a:p>
            <a:pPr algn="ctr" indent="0" marL="0">
              <a:buNone/>
            </a:pPr>
            <a:r>
              <a:rPr lang="en-US" sz="1050" dirty="0">
                <a:solidFill>
                  <a:schemeClr val="tx1"/>
                </a:solidFill>
              </a:rPr>
              <a:t>bonus, overtime, incentive</a:t>
            </a:r>
            <a:endParaRPr lang="en-US" sz="1050" dirty="0"/>
          </a:p>
        </p:txBody>
      </p:sp>
      <p:sp>
        <p:nvSpPr>
          <p:cNvPr id="17" name="Shape 13"/>
          <p:cNvSpPr/>
          <p:nvPr/>
        </p:nvSpPr>
        <p:spPr>
          <a:xfrm>
            <a:off x="6693408" y="1618488"/>
            <a:ext cx="192024" cy="0"/>
          </a:xfrm>
          <a:prstGeom prst="line">
            <a:avLst/>
          </a:prstGeom>
          <a:noFill/>
          <a:ln w="25400">
            <a:solidFill>
              <a:schemeClr val="accent2"/>
            </a:solidFill>
            <a:prstDash val="solid"/>
            <a:tailEnd type="triangle"/>
          </a:ln>
        </p:spPr>
      </p:sp>
      <p:sp>
        <p:nvSpPr>
          <p:cNvPr id="18" name="Shape 14"/>
          <p:cNvSpPr/>
          <p:nvPr/>
        </p:nvSpPr>
        <p:spPr>
          <a:xfrm>
            <a:off x="6903720" y="1188720"/>
            <a:ext cx="1920240" cy="868680"/>
          </a:xfrm>
          <a:prstGeom prst="roundRect">
            <a:avLst>
              <a:gd name="adj" fmla="val 8421"/>
            </a:avLst>
          </a:prstGeom>
          <a:solidFill>
            <a:schemeClr val="accent3"/>
          </a:solidFill>
          <a:ln w="12700">
            <a:solidFill>
              <a:schemeClr val="accent3"/>
            </a:solidFill>
            <a:prstDash val="solid"/>
          </a:ln>
        </p:spPr>
      </p:sp>
      <p:sp>
        <p:nvSpPr>
          <p:cNvPr id="19" name="Text 15"/>
          <p:cNvSpPr txBox="1"/>
          <p:nvPr/>
        </p:nvSpPr>
        <p:spPr>
          <a:xfrm>
            <a:off x="6995160" y="1243584"/>
            <a:ext cx="1737360" cy="320040"/>
          </a:xfrm>
          <a:prstGeom prst="rect">
            <a:avLst/>
          </a:prstGeom>
          <a:noFill/>
          <a:ln/>
        </p:spPr>
        <p:txBody>
          <a:bodyPr wrap="square" lIns="0" tIns="0" rIns="0" bIns="0" rtlCol="0" anchor="ctr"/>
          <a:lstStyle/>
          <a:p>
            <a:pPr algn="ctr" indent="0" marL="0">
              <a:buNone/>
            </a:pPr>
            <a:r>
              <a:rPr lang="en-US" sz="1400" b="1" dirty="0">
                <a:solidFill>
                  <a:schemeClr val="accent2"/>
                </a:solidFill>
              </a:rPr>
              <a:t>= Gross salary</a:t>
            </a:r>
            <a:endParaRPr lang="en-US" sz="1400" dirty="0"/>
          </a:p>
        </p:txBody>
      </p:sp>
      <p:sp>
        <p:nvSpPr>
          <p:cNvPr id="20" name="Text 16"/>
          <p:cNvSpPr txBox="1"/>
          <p:nvPr/>
        </p:nvSpPr>
        <p:spPr>
          <a:xfrm>
            <a:off x="6995160" y="1572768"/>
            <a:ext cx="1737360" cy="457200"/>
          </a:xfrm>
          <a:prstGeom prst="rect">
            <a:avLst/>
          </a:prstGeom>
          <a:noFill/>
          <a:ln/>
        </p:spPr>
        <p:txBody>
          <a:bodyPr wrap="square" lIns="0" tIns="0" rIns="0" bIns="0" rtlCol="0" anchor="t"/>
          <a:lstStyle/>
          <a:p>
            <a:pPr algn="ctr" indent="0" marL="0">
              <a:buNone/>
            </a:pPr>
            <a:r>
              <a:rPr lang="en-US" sz="1050" dirty="0">
                <a:solidFill>
                  <a:schemeClr val="bg1"/>
                </a:solidFill>
              </a:rPr>
              <a:t>before deductions</a:t>
            </a:r>
            <a:endParaRPr lang="en-US" sz="1050" dirty="0"/>
          </a:p>
        </p:txBody>
      </p:sp>
      <p:sp>
        <p:nvSpPr>
          <p:cNvPr id="21" name="Shape 17"/>
          <p:cNvSpPr/>
          <p:nvPr/>
        </p:nvSpPr>
        <p:spPr>
          <a:xfrm>
            <a:off x="8138160" y="2103120"/>
            <a:ext cx="0" cy="292608"/>
          </a:xfrm>
          <a:prstGeom prst="line">
            <a:avLst/>
          </a:prstGeom>
          <a:noFill/>
          <a:ln w="25400">
            <a:solidFill>
              <a:schemeClr val="accent2"/>
            </a:solidFill>
            <a:prstDash val="solid"/>
            <a:tailEnd type="triangle"/>
          </a:ln>
        </p:spPr>
      </p:sp>
      <p:sp>
        <p:nvSpPr>
          <p:cNvPr id="22" name="Text 18"/>
          <p:cNvSpPr txBox="1"/>
          <p:nvPr/>
        </p:nvSpPr>
        <p:spPr>
          <a:xfrm>
            <a:off x="457200" y="2286000"/>
            <a:ext cx="2743200" cy="27432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Deductions</a:t>
            </a:r>
            <a:endParaRPr lang="en-US" sz="1400" dirty="0"/>
          </a:p>
        </p:txBody>
      </p:sp>
      <p:sp>
        <p:nvSpPr>
          <p:cNvPr id="23" name="Shape 19"/>
          <p:cNvSpPr/>
          <p:nvPr/>
        </p:nvSpPr>
        <p:spPr>
          <a:xfrm>
            <a:off x="457200" y="2606040"/>
            <a:ext cx="155448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4" name="Text 20"/>
          <p:cNvSpPr txBox="1"/>
          <p:nvPr/>
        </p:nvSpPr>
        <p:spPr>
          <a:xfrm>
            <a:off x="530352" y="2651760"/>
            <a:ext cx="1417320" cy="274320"/>
          </a:xfrm>
          <a:prstGeom prst="rect">
            <a:avLst/>
          </a:prstGeom>
          <a:noFill/>
          <a:ln/>
        </p:spPr>
        <p:txBody>
          <a:bodyPr wrap="square" lIns="0" tIns="0" rIns="0" bIns="0" rtlCol="0" anchor="t"/>
          <a:lstStyle/>
          <a:p>
            <a:pPr algn="ctr" indent="0" marL="0">
              <a:buNone/>
            </a:pPr>
            <a:r>
              <a:rPr lang="en-US" sz="1250" b="1" dirty="0">
                <a:solidFill>
                  <a:schemeClr val="accent1"/>
                </a:solidFill>
              </a:rPr>
              <a:t>PF</a:t>
            </a:r>
            <a:endParaRPr lang="en-US" sz="1250" dirty="0"/>
          </a:p>
        </p:txBody>
      </p:sp>
      <p:sp>
        <p:nvSpPr>
          <p:cNvPr id="25" name="Text 21"/>
          <p:cNvSpPr txBox="1"/>
          <p:nvPr/>
        </p:nvSpPr>
        <p:spPr>
          <a:xfrm>
            <a:off x="530352" y="2944368"/>
            <a:ext cx="1417320" cy="685800"/>
          </a:xfrm>
          <a:prstGeom prst="rect">
            <a:avLst/>
          </a:prstGeom>
          <a:noFill/>
          <a:ln/>
        </p:spPr>
        <p:txBody>
          <a:bodyPr wrap="square" lIns="0" tIns="0" rIns="0" bIns="0" rtlCol="0" anchor="t"/>
          <a:lstStyle/>
          <a:p>
            <a:pPr algn="ctr" indent="0" marL="0">
              <a:buNone/>
            </a:pPr>
            <a:r>
              <a:rPr lang="en-US" sz="1050" dirty="0">
                <a:solidFill>
                  <a:schemeClr val="tx1"/>
                </a:solidFill>
              </a:rPr>
              <a:t>12% of basic, basic capped at ₹15,000</a:t>
            </a:r>
            <a:endParaRPr lang="en-US" sz="1050" dirty="0"/>
          </a:p>
        </p:txBody>
      </p:sp>
      <p:sp>
        <p:nvSpPr>
          <p:cNvPr id="26" name="Shape 22"/>
          <p:cNvSpPr/>
          <p:nvPr/>
        </p:nvSpPr>
        <p:spPr>
          <a:xfrm>
            <a:off x="2139696" y="2606040"/>
            <a:ext cx="155448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7" name="Text 23"/>
          <p:cNvSpPr txBox="1"/>
          <p:nvPr/>
        </p:nvSpPr>
        <p:spPr>
          <a:xfrm>
            <a:off x="2212848" y="2651760"/>
            <a:ext cx="1417320" cy="274320"/>
          </a:xfrm>
          <a:prstGeom prst="rect">
            <a:avLst/>
          </a:prstGeom>
          <a:noFill/>
          <a:ln/>
        </p:spPr>
        <p:txBody>
          <a:bodyPr wrap="square" lIns="0" tIns="0" rIns="0" bIns="0" rtlCol="0" anchor="t"/>
          <a:lstStyle/>
          <a:p>
            <a:pPr algn="ctr" indent="0" marL="0">
              <a:buNone/>
            </a:pPr>
            <a:r>
              <a:rPr lang="en-US" sz="1250" b="1" dirty="0">
                <a:solidFill>
                  <a:schemeClr val="accent1"/>
                </a:solidFill>
              </a:rPr>
              <a:t>ESI</a:t>
            </a:r>
            <a:endParaRPr lang="en-US" sz="1250" dirty="0"/>
          </a:p>
        </p:txBody>
      </p:sp>
      <p:sp>
        <p:nvSpPr>
          <p:cNvPr id="28" name="Text 24"/>
          <p:cNvSpPr txBox="1"/>
          <p:nvPr/>
        </p:nvSpPr>
        <p:spPr>
          <a:xfrm>
            <a:off x="2212848" y="2944368"/>
            <a:ext cx="1417320" cy="685800"/>
          </a:xfrm>
          <a:prstGeom prst="rect">
            <a:avLst/>
          </a:prstGeom>
          <a:noFill/>
          <a:ln/>
        </p:spPr>
        <p:txBody>
          <a:bodyPr wrap="square" lIns="0" tIns="0" rIns="0" bIns="0" rtlCol="0" anchor="t"/>
          <a:lstStyle/>
          <a:p>
            <a:pPr algn="ctr" indent="0" marL="0">
              <a:buNone/>
            </a:pPr>
            <a:r>
              <a:rPr lang="en-US" sz="1050" dirty="0">
                <a:solidFill>
                  <a:schemeClr val="tx1"/>
                </a:solidFill>
              </a:rPr>
              <a:t>0.75% of gross, only if gross ≤ ₹21,000</a:t>
            </a:r>
            <a:endParaRPr lang="en-US" sz="1050" dirty="0"/>
          </a:p>
        </p:txBody>
      </p:sp>
      <p:sp>
        <p:nvSpPr>
          <p:cNvPr id="29" name="Shape 25"/>
          <p:cNvSpPr/>
          <p:nvPr/>
        </p:nvSpPr>
        <p:spPr>
          <a:xfrm>
            <a:off x="3822192" y="2606040"/>
            <a:ext cx="155448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0" name="Text 26"/>
          <p:cNvSpPr txBox="1"/>
          <p:nvPr/>
        </p:nvSpPr>
        <p:spPr>
          <a:xfrm>
            <a:off x="3895344" y="2651760"/>
            <a:ext cx="1417320" cy="274320"/>
          </a:xfrm>
          <a:prstGeom prst="rect">
            <a:avLst/>
          </a:prstGeom>
          <a:noFill/>
          <a:ln/>
        </p:spPr>
        <p:txBody>
          <a:bodyPr wrap="square" lIns="0" tIns="0" rIns="0" bIns="0" rtlCol="0" anchor="t"/>
          <a:lstStyle/>
          <a:p>
            <a:pPr algn="ctr" indent="0" marL="0">
              <a:buNone/>
            </a:pPr>
            <a:r>
              <a:rPr lang="en-US" sz="1250" b="1" dirty="0">
                <a:solidFill>
                  <a:schemeClr val="accent1"/>
                </a:solidFill>
              </a:rPr>
              <a:t>Prof. tax</a:t>
            </a:r>
            <a:endParaRPr lang="en-US" sz="1250" dirty="0"/>
          </a:p>
        </p:txBody>
      </p:sp>
      <p:sp>
        <p:nvSpPr>
          <p:cNvPr id="31" name="Text 27"/>
          <p:cNvSpPr txBox="1"/>
          <p:nvPr/>
        </p:nvSpPr>
        <p:spPr>
          <a:xfrm>
            <a:off x="3895344" y="2944368"/>
            <a:ext cx="1417320" cy="685800"/>
          </a:xfrm>
          <a:prstGeom prst="rect">
            <a:avLst/>
          </a:prstGeom>
          <a:noFill/>
          <a:ln/>
        </p:spPr>
        <p:txBody>
          <a:bodyPr wrap="square" lIns="0" tIns="0" rIns="0" bIns="0" rtlCol="0" anchor="t"/>
          <a:lstStyle/>
          <a:p>
            <a:pPr algn="ctr" indent="0" marL="0">
              <a:buNone/>
            </a:pPr>
            <a:r>
              <a:rPr lang="en-US" sz="1050" dirty="0">
                <a:solidFill>
                  <a:schemeClr val="tx1"/>
                </a:solidFill>
              </a:rPr>
              <a:t>₹200 if gross &gt; ₹15,000</a:t>
            </a:r>
            <a:endParaRPr lang="en-US" sz="1050" dirty="0"/>
          </a:p>
        </p:txBody>
      </p:sp>
      <p:sp>
        <p:nvSpPr>
          <p:cNvPr id="32" name="Shape 28"/>
          <p:cNvSpPr/>
          <p:nvPr/>
        </p:nvSpPr>
        <p:spPr>
          <a:xfrm>
            <a:off x="5504688" y="2606040"/>
            <a:ext cx="155448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3" name="Text 29"/>
          <p:cNvSpPr txBox="1"/>
          <p:nvPr/>
        </p:nvSpPr>
        <p:spPr>
          <a:xfrm>
            <a:off x="5577840" y="2651760"/>
            <a:ext cx="1417320" cy="274320"/>
          </a:xfrm>
          <a:prstGeom prst="rect">
            <a:avLst/>
          </a:prstGeom>
          <a:noFill/>
          <a:ln/>
        </p:spPr>
        <p:txBody>
          <a:bodyPr wrap="square" lIns="0" tIns="0" rIns="0" bIns="0" rtlCol="0" anchor="t"/>
          <a:lstStyle/>
          <a:p>
            <a:pPr algn="ctr" indent="0" marL="0">
              <a:buNone/>
            </a:pPr>
            <a:r>
              <a:rPr lang="en-US" sz="1250" b="1" dirty="0">
                <a:solidFill>
                  <a:schemeClr val="accent1"/>
                </a:solidFill>
              </a:rPr>
              <a:t>TDS (illustr.)</a:t>
            </a:r>
            <a:endParaRPr lang="en-US" sz="1250" dirty="0"/>
          </a:p>
        </p:txBody>
      </p:sp>
      <p:sp>
        <p:nvSpPr>
          <p:cNvPr id="34" name="Text 30"/>
          <p:cNvSpPr txBox="1"/>
          <p:nvPr/>
        </p:nvSpPr>
        <p:spPr>
          <a:xfrm>
            <a:off x="5577840" y="2944368"/>
            <a:ext cx="1417320" cy="685800"/>
          </a:xfrm>
          <a:prstGeom prst="rect">
            <a:avLst/>
          </a:prstGeom>
          <a:noFill/>
          <a:ln/>
        </p:spPr>
        <p:txBody>
          <a:bodyPr wrap="square" lIns="0" tIns="0" rIns="0" bIns="0" rtlCol="0" anchor="t"/>
          <a:lstStyle/>
          <a:p>
            <a:pPr algn="ctr" indent="0" marL="0">
              <a:buNone/>
            </a:pPr>
            <a:r>
              <a:rPr lang="en-US" sz="1050" dirty="0">
                <a:solidFill>
                  <a:schemeClr val="tx1"/>
                </a:solidFill>
              </a:rPr>
              <a:t>5% of gross above ₹50,000</a:t>
            </a:r>
            <a:endParaRPr lang="en-US" sz="1050" dirty="0"/>
          </a:p>
        </p:txBody>
      </p:sp>
      <p:sp>
        <p:nvSpPr>
          <p:cNvPr id="35" name="Shape 31"/>
          <p:cNvSpPr/>
          <p:nvPr/>
        </p:nvSpPr>
        <p:spPr>
          <a:xfrm>
            <a:off x="7187184" y="2606040"/>
            <a:ext cx="155448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6" name="Text 32"/>
          <p:cNvSpPr txBox="1"/>
          <p:nvPr/>
        </p:nvSpPr>
        <p:spPr>
          <a:xfrm>
            <a:off x="7260336" y="2651760"/>
            <a:ext cx="1417320" cy="274320"/>
          </a:xfrm>
          <a:prstGeom prst="rect">
            <a:avLst/>
          </a:prstGeom>
          <a:noFill/>
          <a:ln/>
        </p:spPr>
        <p:txBody>
          <a:bodyPr wrap="square" lIns="0" tIns="0" rIns="0" bIns="0" rtlCol="0" anchor="t"/>
          <a:lstStyle/>
          <a:p>
            <a:pPr algn="ctr" indent="0" marL="0">
              <a:buNone/>
            </a:pPr>
            <a:r>
              <a:rPr lang="en-US" sz="1250" b="1" dirty="0">
                <a:solidFill>
                  <a:schemeClr val="accent1"/>
                </a:solidFill>
              </a:rPr>
              <a:t>Loan EMI + manual</a:t>
            </a:r>
            <a:endParaRPr lang="en-US" sz="1250" dirty="0"/>
          </a:p>
        </p:txBody>
      </p:sp>
      <p:sp>
        <p:nvSpPr>
          <p:cNvPr id="37" name="Text 33"/>
          <p:cNvSpPr txBox="1"/>
          <p:nvPr/>
        </p:nvSpPr>
        <p:spPr>
          <a:xfrm>
            <a:off x="7260336" y="2944368"/>
            <a:ext cx="1417320" cy="685800"/>
          </a:xfrm>
          <a:prstGeom prst="rect">
            <a:avLst/>
          </a:prstGeom>
          <a:noFill/>
          <a:ln/>
        </p:spPr>
        <p:txBody>
          <a:bodyPr wrap="square" lIns="0" tIns="0" rIns="0" bIns="0" rtlCol="0" anchor="t"/>
          <a:lstStyle/>
          <a:p>
            <a:pPr algn="ctr" indent="0" marL="0">
              <a:buNone/>
            </a:pPr>
            <a:r>
              <a:rPr lang="en-US" sz="1050" dirty="0">
                <a:solidFill>
                  <a:schemeClr val="tx1"/>
                </a:solidFill>
              </a:rPr>
              <a:t>from loan and deductions tables</a:t>
            </a:r>
            <a:endParaRPr lang="en-US" sz="1050" dirty="0"/>
          </a:p>
        </p:txBody>
      </p:sp>
      <p:sp>
        <p:nvSpPr>
          <p:cNvPr id="38" name="Shape 34"/>
          <p:cNvSpPr/>
          <p:nvPr/>
        </p:nvSpPr>
        <p:spPr>
          <a:xfrm>
            <a:off x="457200" y="3840480"/>
            <a:ext cx="8229600" cy="777240"/>
          </a:xfrm>
          <a:prstGeom prst="roundRect">
            <a:avLst>
              <a:gd name="adj" fmla="val 9412"/>
            </a:avLst>
          </a:prstGeom>
          <a:solidFill>
            <a:schemeClr val="accent3"/>
          </a:solidFill>
          <a:ln w="12700">
            <a:solidFill>
              <a:schemeClr val="accent3"/>
            </a:solidFill>
            <a:prstDash val="solid"/>
          </a:ln>
        </p:spPr>
      </p:sp>
      <p:sp>
        <p:nvSpPr>
          <p:cNvPr id="39" name="Text 35"/>
          <p:cNvSpPr txBox="1"/>
          <p:nvPr/>
        </p:nvSpPr>
        <p:spPr>
          <a:xfrm>
            <a:off x="640080" y="3886200"/>
            <a:ext cx="7863840" cy="685800"/>
          </a:xfrm>
          <a:prstGeom prst="rect">
            <a:avLst/>
          </a:prstGeom>
          <a:noFill/>
          <a:ln/>
        </p:spPr>
        <p:txBody>
          <a:bodyPr wrap="square" lIns="0" tIns="0" rIns="0" bIns="0" rtlCol="0" anchor="ctr"/>
          <a:lstStyle/>
          <a:p>
            <a:pPr algn="ctr" indent="0" marL="0">
              <a:buNone/>
            </a:pPr>
            <a:r>
              <a:rPr lang="en-US" sz="1500" b="1" dirty="0">
                <a:solidFill>
                  <a:schemeClr val="bg1"/>
                </a:solidFill>
              </a:rPr>
              <a:t>Net salary = Gross − (PF + ESI + PT + TDS + Loan EMI + other deductions)</a:t>
            </a:r>
            <a:endParaRPr lang="en-US" sz="1500" dirty="0"/>
          </a:p>
          <a:p>
            <a:pPr algn="ctr" indent="0" marL="0">
              <a:buNone/>
            </a:pPr>
            <a:r>
              <a:rPr lang="en-US" sz="1200" i="1" dirty="0">
                <a:solidFill>
                  <a:schemeClr val="accent2"/>
                </a:solidFill>
              </a:rPr>
              <a:t>All rates are illustrative and editable in payroll_config. They are not official statutory rates.</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Development Progress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411480"/>
                <a:gridCol w="3749040"/>
                <a:gridCol w="1554480"/>
                <a:gridCol w="2514600"/>
              </a:tblGrid>
              <a:tr h="260604">
                <a:tc>
                  <a:txBody>
                    <a:bodyPr/>
                    <a:lstStyle/>
                    <a:p>
                      <a:pPr indent="0" marL="0">
                        <a:buNone/>
                      </a:pPr>
                      <a:r>
                        <a:rPr lang="en-US" sz="1100" b="1" dirty="0">
                          <a:solidFill>
                            <a:schemeClr val="bg1"/>
                          </a:solidFill>
                        </a:rPr>
                        <a:t>#</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1100" b="1" dirty="0">
                          <a:solidFill>
                            <a:schemeClr val="bg1"/>
                          </a:solidFill>
                        </a:rPr>
                        <a:t>Review 1 requirement</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1100" b="1" dirty="0">
                          <a:solidFill>
                            <a:schemeClr val="bg1"/>
                          </a:solidFill>
                        </a:rPr>
                        <a:t>Status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1100" b="1" dirty="0">
                          <a:solidFill>
                            <a:schemeClr val="bg1"/>
                          </a:solidFill>
                        </a:rPr>
                        <a:t>Evidence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r>
              <a:tr h="260604">
                <a:tc>
                  <a:txBody>
                    <a:bodyPr/>
                    <a:lstStyle/>
                    <a:p>
                      <a:pPr indent="0" marL="0">
                        <a:buNone/>
                      </a:pPr>
                      <a:r>
                        <a:rPr lang="en-US" sz="1100" dirty="0">
                          <a:solidFill>
                            <a:schemeClr val="tx1"/>
                          </a:solidFill>
                        </a:rPr>
                        <a:t>1</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Employee add / view / update / delete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Employees, profile page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60604">
                <a:tc>
                  <a:txBody>
                    <a:bodyPr/>
                    <a:lstStyle/>
                    <a:p>
                      <a:pPr indent="0" marL="0">
                        <a:buNone/>
                      </a:pPr>
                      <a:r>
                        <a:rPr lang="en-US" sz="1100" dirty="0">
                          <a:solidFill>
                            <a:schemeClr val="tx1"/>
                          </a:solidFill>
                        </a:rPr>
                        <a:t>2</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Department and designation management</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Master data pages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60604">
                <a:tc>
                  <a:txBody>
                    <a:bodyPr/>
                    <a:lstStyle/>
                    <a:p>
                      <a:pPr indent="0" marL="0">
                        <a:buNone/>
                      </a:pPr>
                      <a:r>
                        <a:rPr lang="en-US" sz="1100" dirty="0">
                          <a:solidFill>
                            <a:schemeClr val="tx1"/>
                          </a:solidFill>
                        </a:rPr>
                        <a:t>3</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Salary structures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1:1 with employee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60604">
                <a:tc>
                  <a:txBody>
                    <a:bodyPr/>
                    <a:lstStyle/>
                    <a:p>
                      <a:pPr indent="0" marL="0">
                        <a:buNone/>
                      </a:pPr>
                      <a:r>
                        <a:rPr lang="en-US" sz="1100" dirty="0">
                          <a:solidFill>
                            <a:schemeClr val="tx1"/>
                          </a:solidFill>
                        </a:rPr>
                        <a:t>4</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Monthly attendance summaries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Per period, LOP derived</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60604">
                <a:tc>
                  <a:txBody>
                    <a:bodyPr/>
                    <a:lstStyle/>
                    <a:p>
                      <a:pPr indent="0" marL="0">
                        <a:buNone/>
                      </a:pPr>
                      <a:r>
                        <a:rPr lang="en-US" sz="1100" dirty="0">
                          <a:solidFill>
                            <a:schemeClr val="tx1"/>
                          </a:solidFill>
                        </a:rPr>
                        <a:t>5</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Employee earnings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Bonus, overtime, ...</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60604">
                <a:tc>
                  <a:txBody>
                    <a:bodyPr/>
                    <a:lstStyle/>
                    <a:p>
                      <a:pPr indent="0" marL="0">
                        <a:buNone/>
                      </a:pPr>
                      <a:r>
                        <a:rPr lang="en-US" sz="1100" dirty="0">
                          <a:solidFill>
                            <a:schemeClr val="tx1"/>
                          </a:solidFill>
                        </a:rPr>
                        <a:t>6</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Statutory and other deductions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AUTO + MANUAL rows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60604">
                <a:tc>
                  <a:txBody>
                    <a:bodyPr/>
                    <a:lstStyle/>
                    <a:p>
                      <a:pPr indent="0" marL="0">
                        <a:buNone/>
                      </a:pPr>
                      <a:r>
                        <a:rPr lang="en-US" sz="1100" dirty="0">
                          <a:solidFill>
                            <a:schemeClr val="tx1"/>
                          </a:solidFill>
                        </a:rPr>
                        <a:t>7</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Loans and repayments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EMI + manual repayment</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60604">
                <a:tc>
                  <a:txBody>
                    <a:bodyPr/>
                    <a:lstStyle/>
                    <a:p>
                      <a:pPr indent="0" marL="0">
                        <a:buNone/>
                      </a:pPr>
                      <a:r>
                        <a:rPr lang="en-US" sz="1100" dirty="0">
                          <a:solidFill>
                            <a:schemeClr val="tx1"/>
                          </a:solidFill>
                        </a:rPr>
                        <a:t>8</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Payroll records per period</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Create, process, lock</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60604">
                <a:tc>
                  <a:txBody>
                    <a:bodyPr/>
                    <a:lstStyle/>
                    <a:p>
                      <a:pPr indent="0" marL="0">
                        <a:buNone/>
                      </a:pPr>
                      <a:r>
                        <a:rPr lang="en-US" sz="1100" dirty="0">
                          <a:solidFill>
                            <a:schemeClr val="tx1"/>
                          </a:solidFill>
                        </a:rPr>
                        <a:t>9</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Gross, deductions, net calculation</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payroll.py, 5 unit tests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60604">
                <a:tc>
                  <a:txBody>
                    <a:bodyPr/>
                    <a:lstStyle/>
                    <a:p>
                      <a:pPr indent="0" marL="0">
                        <a:buNone/>
                      </a:pPr>
                      <a:r>
                        <a:rPr lang="en-US" sz="1100" dirty="0">
                          <a:solidFill>
                            <a:schemeClr val="tx1"/>
                          </a:solidFill>
                        </a:rPr>
                        <a:t>10</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Employee payslips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Printable payslip</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60604">
                <a:tc>
                  <a:txBody>
                    <a:bodyPr/>
                    <a:lstStyle/>
                    <a:p>
                      <a:pPr indent="0" marL="0">
                        <a:buNone/>
                      </a:pPr>
                      <a:r>
                        <a:rPr lang="en-US" sz="1100" dirty="0">
                          <a:solidFill>
                            <a:schemeClr val="tx1"/>
                          </a:solidFill>
                        </a:rPr>
                        <a:t>11</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Bank transfer details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Done (simulated)</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No real bank API</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60604">
                <a:tc>
                  <a:txBody>
                    <a:bodyPr/>
                    <a:lstStyle/>
                    <a:p>
                      <a:pPr indent="0" marL="0">
                        <a:buNone/>
                      </a:pPr>
                      <a:r>
                        <a:rPr lang="en-US" sz="1100" dirty="0">
                          <a:solidFill>
                            <a:schemeClr val="tx1"/>
                          </a:solidFill>
                        </a:rPr>
                        <a:t>12</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Payroll reports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7 SQL reports + CSV</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60604">
                <a:tc>
                  <a:txBody>
                    <a:bodyPr/>
                    <a:lstStyle/>
                    <a:p>
                      <a:pPr indent="0" marL="0">
                        <a:buNone/>
                      </a:pPr>
                      <a:r>
                        <a:rPr lang="en-US" sz="1100" dirty="0">
                          <a:solidFill>
                            <a:schemeClr val="tx1"/>
                          </a:solidFill>
                        </a:rPr>
                        <a:t>+</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Login and user roles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6"/>
                          </a:solidFill>
                        </a:rPr>
                        <a:t>Not started</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Planned</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Prototype: Dashboard</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20624" y="1152144"/>
            <a:ext cx="5376672" cy="3056382"/>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7" name="Image 1" descr="Screenshot of the running application: dashboard before october">    </p:cNvPr>
          <p:cNvPicPr>
            <a:picLocks noChangeAspect="1"/>
          </p:cNvPicPr>
          <p:nvPr/>
        </p:nvPicPr>
        <p:blipFill>
          <a:blip r:embed="rId2"/>
          <a:stretch>
            <a:fillRect/>
          </a:stretch>
        </p:blipFill>
        <p:spPr>
          <a:xfrm>
            <a:off x="457200" y="1188720"/>
            <a:ext cx="5303520" cy="2983230"/>
          </a:xfrm>
          <a:prstGeom prst="rect">
            <a:avLst/>
          </a:prstGeom>
        </p:spPr>
      </p:pic>
      <p:sp>
        <p:nvSpPr>
          <p:cNvPr id="8" name="Text 3"/>
          <p:cNvSpPr txBox="1"/>
          <p:nvPr/>
        </p:nvSpPr>
        <p:spPr>
          <a:xfrm>
            <a:off x="5989320" y="1188720"/>
            <a:ext cx="2743200" cy="3108960"/>
          </a:xfrm>
          <a:prstGeom prst="rect">
            <a:avLst/>
          </a:prstGeom>
          <a:noFill/>
          <a:ln/>
        </p:spPr>
        <p:txBody>
          <a:bodyPr wrap="square" lIns="0" tIns="0" rIns="0" bIns="0" rtlCol="0" anchor="t"/>
          <a:lstStyle/>
          <a:p>
            <a:pPr marL="177800" indent="-177800">
              <a:spcAft>
                <a:spcPts val="700"/>
              </a:spcAft>
              <a:buSzPct val="100000"/>
              <a:buChar char="•"/>
            </a:pPr>
            <a:r>
              <a:rPr lang="en-US" sz="1300" b="1" dirty="0">
                <a:solidFill>
                  <a:schemeClr val="tx2"/>
                </a:solidFill>
              </a:rPr>
              <a:t>Live SQL: </a:t>
            </a:r>
            <a:pPr indent="0" marL="0">
              <a:spcAft>
                <a:spcPts val="700"/>
              </a:spcAft>
              <a:buNone/>
            </a:pPr>
            <a:r>
              <a:rPr lang="en-US" sz="1300" dirty="0">
                <a:solidFill>
                  <a:schemeClr val="tx1"/>
                </a:solidFill>
              </a:rPr>
              <a:t>every tile and chart is an aggregate query</a:t>
            </a:r>
            <a:endParaRPr lang="en-US" sz="1300" dirty="0"/>
          </a:p>
          <a:p>
            <a:pPr marL="177800" indent="-177800">
              <a:spcAft>
                <a:spcPts val="700"/>
              </a:spcAft>
              <a:buSzPct val="100000"/>
              <a:buChar char="•"/>
            </a:pPr>
            <a:r>
              <a:rPr lang="en-US" sz="1300" b="1" dirty="0">
                <a:solidFill>
                  <a:schemeClr val="tx2"/>
                </a:solidFill>
              </a:rPr>
              <a:t>Latest period: </a:t>
            </a:r>
            <a:pPr indent="0" marL="0">
              <a:spcAft>
                <a:spcPts val="700"/>
              </a:spcAft>
              <a:buNone/>
            </a:pPr>
            <a:r>
              <a:rPr lang="en-US" sz="1300" dirty="0">
                <a:solidFill>
                  <a:schemeClr val="tx1"/>
                </a:solidFill>
              </a:rPr>
              <a:t>totals update after each payroll run</a:t>
            </a:r>
            <a:endParaRPr lang="en-US" sz="1300" dirty="0"/>
          </a:p>
          <a:p>
            <a:pPr marL="177800" indent="-177800">
              <a:spcAft>
                <a:spcPts val="700"/>
              </a:spcAft>
              <a:buSzPct val="100000"/>
              <a:buChar char="•"/>
            </a:pPr>
            <a:r>
              <a:rPr lang="en-US" sz="1300" b="1" dirty="0">
                <a:solidFill>
                  <a:schemeClr val="tx2"/>
                </a:solidFill>
              </a:rPr>
              <a:t>Charts: </a:t>
            </a:r>
            <a:pPr indent="0" marL="0">
              <a:spcAft>
                <a:spcPts val="700"/>
              </a:spcAft>
              <a:buNone/>
            </a:pPr>
            <a:r>
              <a:rPr lang="en-US" sz="1300" dirty="0">
                <a:solidFill>
                  <a:schemeClr val="tx1"/>
                </a:solidFill>
              </a:rPr>
              <a:t>gross vs deductions vs net; headcount by department</a:t>
            </a:r>
            <a:endParaRPr lang="en-US" sz="1300" dirty="0"/>
          </a:p>
          <a:p>
            <a:pPr marL="177800" indent="-177800">
              <a:spcAft>
                <a:spcPts val="700"/>
              </a:spcAft>
              <a:buSzPct val="100000"/>
              <a:buChar char="•"/>
            </a:pPr>
            <a:r>
              <a:rPr lang="en-US" sz="1300" b="1" dirty="0">
                <a:solidFill>
                  <a:schemeClr val="tx2"/>
                </a:solidFill>
              </a:rPr>
              <a:t>Quick action: </a:t>
            </a:r>
            <a:pPr indent="0" marL="0">
              <a:spcAft>
                <a:spcPts val="700"/>
              </a:spcAft>
              <a:buNone/>
            </a:pPr>
            <a:r>
              <a:rPr lang="en-US" sz="1300" dirty="0">
                <a:solidFill>
                  <a:schemeClr val="tx1"/>
                </a:solidFill>
              </a:rPr>
              <a:t>Process payroll button</a:t>
            </a:r>
            <a:endParaRPr lang="en-US" sz="13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Prototype: Employee Management</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2062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7" name="Image 1" descr="Screenshot of the running application: employees list">    </p:cNvPr>
          <p:cNvPicPr>
            <a:picLocks noChangeAspect="1"/>
          </p:cNvPicPr>
          <p:nvPr/>
        </p:nvPicPr>
        <p:blipFill>
          <a:blip r:embed="rId2"/>
          <a:stretch>
            <a:fillRect/>
          </a:stretch>
        </p:blipFill>
        <p:spPr>
          <a:xfrm>
            <a:off x="457200" y="1188720"/>
            <a:ext cx="4023360" cy="2263418"/>
          </a:xfrm>
          <a:prstGeom prst="rect">
            <a:avLst/>
          </a:prstGeom>
        </p:spPr>
      </p:pic>
      <p:sp>
        <p:nvSpPr>
          <p:cNvPr id="8" name="Shape 3"/>
          <p:cNvSpPr/>
          <p:nvPr/>
        </p:nvSpPr>
        <p:spPr>
          <a:xfrm>
            <a:off x="462686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9" name="Image 2" descr="Screenshot of the running application: employee add form">    </p:cNvPr>
          <p:cNvPicPr>
            <a:picLocks noChangeAspect="1"/>
          </p:cNvPicPr>
          <p:nvPr/>
        </p:nvPicPr>
        <p:blipFill>
          <a:blip r:embed="rId3"/>
          <a:stretch>
            <a:fillRect/>
          </a:stretch>
        </p:blipFill>
        <p:spPr>
          <a:xfrm>
            <a:off x="4663440" y="1188720"/>
            <a:ext cx="4023360" cy="2263418"/>
          </a:xfrm>
          <a:prstGeom prst="rect">
            <a:avLst/>
          </a:prstGeom>
        </p:spPr>
      </p:pic>
      <p:sp>
        <p:nvSpPr>
          <p:cNvPr id="10" name="Text 4"/>
          <p:cNvSpPr txBox="1"/>
          <p:nvPr/>
        </p:nvSpPr>
        <p:spPr>
          <a:xfrm>
            <a:off x="457200" y="3520440"/>
            <a:ext cx="4023360" cy="274320"/>
          </a:xfrm>
          <a:prstGeom prst="rect">
            <a:avLst/>
          </a:prstGeom>
          <a:noFill/>
          <a:ln/>
        </p:spPr>
        <p:txBody>
          <a:bodyPr wrap="square" lIns="0" tIns="0" rIns="0" bIns="0" rtlCol="0" anchor="t"/>
          <a:lstStyle/>
          <a:p>
            <a:pPr algn="ctr" indent="0" marL="0">
              <a:buNone/>
            </a:pPr>
            <a:r>
              <a:rPr lang="en-US" sz="1200" b="1" dirty="0">
                <a:solidFill>
                  <a:schemeClr val="tx2"/>
                </a:solidFill>
              </a:rPr>
              <a:t>Employee list with search, view, edit and delete</a:t>
            </a:r>
            <a:endParaRPr lang="en-US" sz="1200" dirty="0"/>
          </a:p>
        </p:txBody>
      </p:sp>
      <p:sp>
        <p:nvSpPr>
          <p:cNvPr id="11" name="Text 5"/>
          <p:cNvSpPr txBox="1"/>
          <p:nvPr/>
        </p:nvSpPr>
        <p:spPr>
          <a:xfrm>
            <a:off x="4663440" y="3520440"/>
            <a:ext cx="4023360" cy="274320"/>
          </a:xfrm>
          <a:prstGeom prst="rect">
            <a:avLst/>
          </a:prstGeom>
          <a:noFill/>
          <a:ln/>
        </p:spPr>
        <p:txBody>
          <a:bodyPr wrap="square" lIns="0" tIns="0" rIns="0" bIns="0" rtlCol="0" anchor="t"/>
          <a:lstStyle/>
          <a:p>
            <a:pPr algn="ctr" indent="0" marL="0">
              <a:buNone/>
            </a:pPr>
            <a:r>
              <a:rPr lang="en-US" sz="1200" b="1" dirty="0">
                <a:solidFill>
                  <a:schemeClr val="tx2"/>
                </a:solidFill>
              </a:rPr>
              <a:t>Add form with department and designation dropdowns</a:t>
            </a:r>
            <a:endParaRPr lang="en-US" sz="1200" dirty="0"/>
          </a:p>
        </p:txBody>
      </p:sp>
      <p:sp>
        <p:nvSpPr>
          <p:cNvPr id="12" name="Shape 6"/>
          <p:cNvSpPr/>
          <p:nvPr/>
        </p:nvSpPr>
        <p:spPr>
          <a:xfrm>
            <a:off x="457200" y="3931920"/>
            <a:ext cx="8229600" cy="685800"/>
          </a:xfrm>
          <a:prstGeom prst="roundRect">
            <a:avLst>
              <a:gd name="adj" fmla="val 1066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3" name="Text 7"/>
          <p:cNvSpPr txBox="1"/>
          <p:nvPr/>
        </p:nvSpPr>
        <p:spPr>
          <a:xfrm>
            <a:off x="640080" y="3931920"/>
            <a:ext cx="7863840" cy="685800"/>
          </a:xfrm>
          <a:prstGeom prst="rect">
            <a:avLst/>
          </a:prstGeom>
          <a:noFill/>
          <a:ln/>
        </p:spPr>
        <p:txBody>
          <a:bodyPr wrap="square" lIns="0" tIns="0" rIns="0" bIns="0" rtlCol="0" anchor="ctr"/>
          <a:lstStyle/>
          <a:p>
            <a:pPr indent="0" marL="0">
              <a:buNone/>
            </a:pPr>
            <a:r>
              <a:rPr lang="en-US" sz="1200" b="1" dirty="0">
                <a:solidFill>
                  <a:schemeClr val="tx2"/>
                </a:solidFill>
              </a:rPr>
              <a:t>Validation: </a:t>
            </a:r>
            <a:pPr indent="0" marL="0">
              <a:buNone/>
            </a:pPr>
            <a:r>
              <a:rPr lang="en-US" sz="1200" dirty="0">
                <a:solidFill>
                  <a:schemeClr val="tx1"/>
                </a:solidFill>
              </a:rPr>
              <a:t>required fields checked first, then database constraints (UNIQUE, FK, CHECK) with a readable error message; employees with payroll history cannot be deleted.</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Prototype: Salary and Attendance</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2062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7" name="Image 1" descr="Screenshot of the running application: salary structures">    </p:cNvPr>
          <p:cNvPicPr>
            <a:picLocks noChangeAspect="1"/>
          </p:cNvPicPr>
          <p:nvPr/>
        </p:nvPicPr>
        <p:blipFill>
          <a:blip r:embed="rId2"/>
          <a:stretch>
            <a:fillRect/>
          </a:stretch>
        </p:blipFill>
        <p:spPr>
          <a:xfrm>
            <a:off x="457200" y="1188720"/>
            <a:ext cx="4023360" cy="2263418"/>
          </a:xfrm>
          <a:prstGeom prst="rect">
            <a:avLst/>
          </a:prstGeom>
        </p:spPr>
      </p:pic>
      <p:sp>
        <p:nvSpPr>
          <p:cNvPr id="8" name="Shape 3"/>
          <p:cNvSpPr/>
          <p:nvPr/>
        </p:nvSpPr>
        <p:spPr>
          <a:xfrm>
            <a:off x="462686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9" name="Image 2" descr="Screenshot of the running application: attendance october">    </p:cNvPr>
          <p:cNvPicPr>
            <a:picLocks noChangeAspect="1"/>
          </p:cNvPicPr>
          <p:nvPr/>
        </p:nvPicPr>
        <p:blipFill>
          <a:blip r:embed="rId3"/>
          <a:stretch>
            <a:fillRect/>
          </a:stretch>
        </p:blipFill>
        <p:spPr>
          <a:xfrm>
            <a:off x="4663440" y="1188720"/>
            <a:ext cx="4023360" cy="2263418"/>
          </a:xfrm>
          <a:prstGeom prst="rect">
            <a:avLst/>
          </a:prstGeom>
        </p:spPr>
      </p:pic>
      <p:sp>
        <p:nvSpPr>
          <p:cNvPr id="10" name="Text 4"/>
          <p:cNvSpPr txBox="1"/>
          <p:nvPr/>
        </p:nvSpPr>
        <p:spPr>
          <a:xfrm>
            <a:off x="457200" y="3520440"/>
            <a:ext cx="4023360" cy="274320"/>
          </a:xfrm>
          <a:prstGeom prst="rect">
            <a:avLst/>
          </a:prstGeom>
          <a:noFill/>
          <a:ln/>
        </p:spPr>
        <p:txBody>
          <a:bodyPr wrap="square" lIns="0" tIns="0" rIns="0" bIns="0" rtlCol="0" anchor="t"/>
          <a:lstStyle/>
          <a:p>
            <a:pPr algn="ctr" indent="0" marL="0">
              <a:buNone/>
            </a:pPr>
            <a:r>
              <a:rPr lang="en-US" sz="1200" b="1" dirty="0">
                <a:solidFill>
                  <a:schemeClr val="tx2"/>
                </a:solidFill>
              </a:rPr>
              <a:t>Salary structures with derived fixed gross</a:t>
            </a:r>
            <a:endParaRPr lang="en-US" sz="1200" dirty="0"/>
          </a:p>
        </p:txBody>
      </p:sp>
      <p:sp>
        <p:nvSpPr>
          <p:cNvPr id="11" name="Text 5"/>
          <p:cNvSpPr txBox="1"/>
          <p:nvPr/>
        </p:nvSpPr>
        <p:spPr>
          <a:xfrm>
            <a:off x="4663440" y="3520440"/>
            <a:ext cx="4023360" cy="274320"/>
          </a:xfrm>
          <a:prstGeom prst="rect">
            <a:avLst/>
          </a:prstGeom>
          <a:noFill/>
          <a:ln/>
        </p:spPr>
        <p:txBody>
          <a:bodyPr wrap="square" lIns="0" tIns="0" rIns="0" bIns="0" rtlCol="0" anchor="t"/>
          <a:lstStyle/>
          <a:p>
            <a:pPr algn="ctr" indent="0" marL="0">
              <a:buNone/>
            </a:pPr>
            <a:r>
              <a:rPr lang="en-US" sz="1200" b="1" dirty="0">
                <a:solidFill>
                  <a:schemeClr val="tx2"/>
                </a:solidFill>
              </a:rPr>
              <a:t>Attendance for a period; LOP days derived</a:t>
            </a:r>
            <a:endParaRPr lang="en-US" sz="1200" dirty="0"/>
          </a:p>
        </p:txBody>
      </p:sp>
      <p:sp>
        <p:nvSpPr>
          <p:cNvPr id="12" name="Shape 6"/>
          <p:cNvSpPr/>
          <p:nvPr/>
        </p:nvSpPr>
        <p:spPr>
          <a:xfrm>
            <a:off x="457200" y="3931920"/>
            <a:ext cx="8229600" cy="685800"/>
          </a:xfrm>
          <a:prstGeom prst="roundRect">
            <a:avLst>
              <a:gd name="adj" fmla="val 1066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3" name="Text 7"/>
          <p:cNvSpPr txBox="1"/>
          <p:nvPr/>
        </p:nvSpPr>
        <p:spPr>
          <a:xfrm>
            <a:off x="640080" y="3931920"/>
            <a:ext cx="7863840" cy="685800"/>
          </a:xfrm>
          <a:prstGeom prst="rect">
            <a:avLst/>
          </a:prstGeom>
          <a:noFill/>
          <a:ln/>
        </p:spPr>
        <p:txBody>
          <a:bodyPr wrap="square" lIns="0" tIns="0" rIns="0" bIns="0" rtlCol="0" anchor="ctr"/>
          <a:lstStyle/>
          <a:p>
            <a:pPr indent="0" marL="0">
              <a:buNone/>
            </a:pPr>
            <a:r>
              <a:rPr lang="en-US" sz="1200" b="1" dirty="0">
                <a:solidFill>
                  <a:schemeClr val="tx2"/>
                </a:solidFill>
              </a:rPr>
              <a:t>Also built: </a:t>
            </a:r>
            <a:pPr indent="0" marL="0">
              <a:buNone/>
            </a:pPr>
            <a:r>
              <a:rPr lang="en-US" sz="1200" dirty="0">
                <a:solidFill>
                  <a:schemeClr val="tx1"/>
                </a:solidFill>
              </a:rPr>
              <a:t>Earnings and Deductions pages (AUTO rows are read-only) and period locking once payroll is processed.</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Prototype: Loans and Repayments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2062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7" name="Image 1" descr="Screenshot of the running application: loans">    </p:cNvPr>
          <p:cNvPicPr>
            <a:picLocks noChangeAspect="1"/>
          </p:cNvPicPr>
          <p:nvPr/>
        </p:nvPicPr>
        <p:blipFill>
          <a:blip r:embed="rId2"/>
          <a:stretch>
            <a:fillRect/>
          </a:stretch>
        </p:blipFill>
        <p:spPr>
          <a:xfrm>
            <a:off x="457200" y="1188720"/>
            <a:ext cx="4023360" cy="2263418"/>
          </a:xfrm>
          <a:prstGeom prst="rect">
            <a:avLst/>
          </a:prstGeom>
        </p:spPr>
      </p:pic>
      <p:sp>
        <p:nvSpPr>
          <p:cNvPr id="8" name="Shape 3"/>
          <p:cNvSpPr/>
          <p:nvPr/>
        </p:nvSpPr>
        <p:spPr>
          <a:xfrm>
            <a:off x="462686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9" name="Image 2" descr="Screenshot of the running application: loan repayments">    </p:cNvPr>
          <p:cNvPicPr>
            <a:picLocks noChangeAspect="1"/>
          </p:cNvPicPr>
          <p:nvPr/>
        </p:nvPicPr>
        <p:blipFill>
          <a:blip r:embed="rId3"/>
          <a:stretch>
            <a:fillRect/>
          </a:stretch>
        </p:blipFill>
        <p:spPr>
          <a:xfrm>
            <a:off x="4663440" y="1188720"/>
            <a:ext cx="4023360" cy="2263418"/>
          </a:xfrm>
          <a:prstGeom prst="rect">
            <a:avLst/>
          </a:prstGeom>
        </p:spPr>
      </p:pic>
      <p:sp>
        <p:nvSpPr>
          <p:cNvPr id="10" name="Text 4"/>
          <p:cNvSpPr txBox="1"/>
          <p:nvPr/>
        </p:nvSpPr>
        <p:spPr>
          <a:xfrm>
            <a:off x="457200" y="3520440"/>
            <a:ext cx="4023360" cy="274320"/>
          </a:xfrm>
          <a:prstGeom prst="rect">
            <a:avLst/>
          </a:prstGeom>
          <a:noFill/>
          <a:ln/>
        </p:spPr>
        <p:txBody>
          <a:bodyPr wrap="square" lIns="0" tIns="0" rIns="0" bIns="0" rtlCol="0" anchor="t"/>
          <a:lstStyle/>
          <a:p>
            <a:pPr algn="ctr" indent="0" marL="0">
              <a:buNone/>
            </a:pPr>
            <a:r>
              <a:rPr lang="en-US" sz="1200" b="1" dirty="0">
                <a:solidFill>
                  <a:schemeClr val="tx2"/>
                </a:solidFill>
              </a:rPr>
              <a:t>Loans: amount, EMI, outstanding balance</a:t>
            </a:r>
            <a:endParaRPr lang="en-US" sz="1200" dirty="0"/>
          </a:p>
        </p:txBody>
      </p:sp>
      <p:sp>
        <p:nvSpPr>
          <p:cNvPr id="11" name="Text 5"/>
          <p:cNvSpPr txBox="1"/>
          <p:nvPr/>
        </p:nvSpPr>
        <p:spPr>
          <a:xfrm>
            <a:off x="4663440" y="3520440"/>
            <a:ext cx="4023360" cy="274320"/>
          </a:xfrm>
          <a:prstGeom prst="rect">
            <a:avLst/>
          </a:prstGeom>
          <a:noFill/>
          <a:ln/>
        </p:spPr>
        <p:txBody>
          <a:bodyPr wrap="square" lIns="0" tIns="0" rIns="0" bIns="0" rtlCol="0" anchor="t"/>
          <a:lstStyle/>
          <a:p>
            <a:pPr algn="ctr" indent="0" marL="0">
              <a:buNone/>
            </a:pPr>
            <a:r>
              <a:rPr lang="en-US" sz="1200" b="1" dirty="0">
                <a:solidFill>
                  <a:schemeClr val="tx2"/>
                </a:solidFill>
              </a:rPr>
              <a:t>Repayment history linked to payroll runs</a:t>
            </a:r>
            <a:endParaRPr lang="en-US" sz="1200" dirty="0"/>
          </a:p>
        </p:txBody>
      </p:sp>
      <p:sp>
        <p:nvSpPr>
          <p:cNvPr id="12" name="Shape 6"/>
          <p:cNvSpPr/>
          <p:nvPr/>
        </p:nvSpPr>
        <p:spPr>
          <a:xfrm>
            <a:off x="457200" y="3931920"/>
            <a:ext cx="8229600" cy="685800"/>
          </a:xfrm>
          <a:prstGeom prst="roundRect">
            <a:avLst>
              <a:gd name="adj" fmla="val 1066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3" name="Text 7"/>
          <p:cNvSpPr txBox="1"/>
          <p:nvPr/>
        </p:nvSpPr>
        <p:spPr>
          <a:xfrm>
            <a:off x="640080" y="3931920"/>
            <a:ext cx="7863840" cy="685800"/>
          </a:xfrm>
          <a:prstGeom prst="rect">
            <a:avLst/>
          </a:prstGeom>
          <a:noFill/>
          <a:ln/>
        </p:spPr>
        <p:txBody>
          <a:bodyPr wrap="square" lIns="0" tIns="0" rIns="0" bIns="0" rtlCol="0" anchor="ctr"/>
          <a:lstStyle/>
          <a:p>
            <a:pPr indent="0" marL="0">
              <a:buNone/>
            </a:pPr>
            <a:r>
              <a:rPr lang="en-US" sz="1200" b="1" dirty="0">
                <a:solidFill>
                  <a:schemeClr val="tx2"/>
                </a:solidFill>
              </a:rPr>
              <a:t>Rule: </a:t>
            </a:r>
            <a:pPr indent="0" marL="0">
              <a:buNone/>
            </a:pPr>
            <a:r>
              <a:rPr lang="en-US" sz="1200" dirty="0">
                <a:solidFill>
                  <a:schemeClr val="tx1"/>
                </a:solidFill>
              </a:rPr>
              <a:t>EMI = min(EMI, outstanding balance); a loan starts deducting from the period that contains its start date; balance never goes below zero (CHECK).</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Prototype: Payroll Processing</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2062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7" name="Image 1" descr="Screenshot of the running application: periods october open">    </p:cNvPr>
          <p:cNvPicPr>
            <a:picLocks noChangeAspect="1"/>
          </p:cNvPicPr>
          <p:nvPr/>
        </p:nvPicPr>
        <p:blipFill>
          <a:blip r:embed="rId2"/>
          <a:stretch>
            <a:fillRect/>
          </a:stretch>
        </p:blipFill>
        <p:spPr>
          <a:xfrm>
            <a:off x="457200" y="1188720"/>
            <a:ext cx="4023360" cy="2263418"/>
          </a:xfrm>
          <a:prstGeom prst="rect">
            <a:avLst/>
          </a:prstGeom>
        </p:spPr>
      </p:pic>
      <p:sp>
        <p:nvSpPr>
          <p:cNvPr id="8" name="Shape 3"/>
          <p:cNvSpPr/>
          <p:nvPr/>
        </p:nvSpPr>
        <p:spPr>
          <a:xfrm>
            <a:off x="4498848" y="2377440"/>
            <a:ext cx="146304" cy="0"/>
          </a:xfrm>
          <a:prstGeom prst="line">
            <a:avLst/>
          </a:prstGeom>
          <a:noFill/>
          <a:ln w="38100">
            <a:solidFill>
              <a:schemeClr val="accent2"/>
            </a:solidFill>
            <a:prstDash val="solid"/>
            <a:tailEnd type="triangle"/>
          </a:ln>
        </p:spPr>
      </p:sp>
      <p:sp>
        <p:nvSpPr>
          <p:cNvPr id="9" name="Shape 4"/>
          <p:cNvSpPr/>
          <p:nvPr/>
        </p:nvSpPr>
        <p:spPr>
          <a:xfrm>
            <a:off x="462686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10" name="Image 2" descr="Screenshot of the running application: payroll processed">    </p:cNvPr>
          <p:cNvPicPr>
            <a:picLocks noChangeAspect="1"/>
          </p:cNvPicPr>
          <p:nvPr/>
        </p:nvPicPr>
        <p:blipFill>
          <a:blip r:embed="rId3"/>
          <a:stretch>
            <a:fillRect/>
          </a:stretch>
        </p:blipFill>
        <p:spPr>
          <a:xfrm>
            <a:off x="4663440" y="1188720"/>
            <a:ext cx="4023360" cy="2263418"/>
          </a:xfrm>
          <a:prstGeom prst="rect">
            <a:avLst/>
          </a:prstGeom>
        </p:spPr>
      </p:pic>
      <p:sp>
        <p:nvSpPr>
          <p:cNvPr id="11" name="Text 5"/>
          <p:cNvSpPr txBox="1"/>
          <p:nvPr/>
        </p:nvSpPr>
        <p:spPr>
          <a:xfrm>
            <a:off x="457200" y="3520440"/>
            <a:ext cx="4023360" cy="274320"/>
          </a:xfrm>
          <a:prstGeom prst="rect">
            <a:avLst/>
          </a:prstGeom>
          <a:noFill/>
          <a:ln/>
        </p:spPr>
        <p:txBody>
          <a:bodyPr wrap="square" lIns="0" tIns="0" rIns="0" bIns="0" rtlCol="0" anchor="t"/>
          <a:lstStyle/>
          <a:p>
            <a:pPr algn="ctr" indent="0" marL="0">
              <a:buNone/>
            </a:pPr>
            <a:r>
              <a:rPr lang="en-US" sz="1200" b="1" dirty="0">
                <a:solidFill>
                  <a:schemeClr val="tx2"/>
                </a:solidFill>
              </a:rPr>
              <a:t>Before: October 2026 is OPEN</a:t>
            </a:r>
            <a:endParaRPr lang="en-US" sz="1200" dirty="0"/>
          </a:p>
        </p:txBody>
      </p:sp>
      <p:sp>
        <p:nvSpPr>
          <p:cNvPr id="12" name="Text 6"/>
          <p:cNvSpPr txBox="1"/>
          <p:nvPr/>
        </p:nvSpPr>
        <p:spPr>
          <a:xfrm>
            <a:off x="4663440" y="3520440"/>
            <a:ext cx="4023360" cy="274320"/>
          </a:xfrm>
          <a:prstGeom prst="rect">
            <a:avLst/>
          </a:prstGeom>
          <a:noFill/>
          <a:ln/>
        </p:spPr>
        <p:txBody>
          <a:bodyPr wrap="square" lIns="0" tIns="0" rIns="0" bIns="0" rtlCol="0" anchor="t"/>
          <a:lstStyle/>
          <a:p>
            <a:pPr algn="ctr" indent="0" marL="0">
              <a:buNone/>
            </a:pPr>
            <a:r>
              <a:rPr lang="en-US" sz="1200" b="1" dirty="0">
                <a:solidFill>
                  <a:schemeClr val="tx2"/>
                </a:solidFill>
              </a:rPr>
              <a:t>After: 29 payslips created, status PROCESSED</a:t>
            </a:r>
            <a:endParaRPr lang="en-US" sz="1200" dirty="0"/>
          </a:p>
        </p:txBody>
      </p:sp>
      <p:sp>
        <p:nvSpPr>
          <p:cNvPr id="13" name="Shape 7"/>
          <p:cNvSpPr/>
          <p:nvPr/>
        </p:nvSpPr>
        <p:spPr>
          <a:xfrm>
            <a:off x="457200" y="3931920"/>
            <a:ext cx="8229600" cy="685800"/>
          </a:xfrm>
          <a:prstGeom prst="roundRect">
            <a:avLst>
              <a:gd name="adj" fmla="val 1066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4" name="Text 8"/>
          <p:cNvSpPr txBox="1"/>
          <p:nvPr/>
        </p:nvSpPr>
        <p:spPr>
          <a:xfrm>
            <a:off x="640080" y="3931920"/>
            <a:ext cx="7863840" cy="685800"/>
          </a:xfrm>
          <a:prstGeom prst="rect">
            <a:avLst/>
          </a:prstGeom>
          <a:noFill/>
          <a:ln/>
        </p:spPr>
        <p:txBody>
          <a:bodyPr wrap="square" lIns="0" tIns="0" rIns="0" bIns="0" rtlCol="0" anchor="ctr"/>
          <a:lstStyle/>
          <a:p>
            <a:pPr indent="0" marL="0">
              <a:buNone/>
            </a:pPr>
            <a:r>
              <a:rPr lang="en-US" sz="1200" b="1" dirty="0">
                <a:solidFill>
                  <a:schemeClr val="tx2"/>
                </a:solidFill>
              </a:rPr>
              <a:t>Safety: </a:t>
            </a:r>
            <a:pPr indent="0" marL="0">
              <a:buNone/>
            </a:pPr>
            <a:r>
              <a:rPr lang="en-US" sz="1200" dirty="0">
                <a:solidFill>
                  <a:schemeClr val="tx1"/>
                </a:solidFill>
              </a:rPr>
              <a:t>one transaction (all or nothing), inactive employees skipped, missing salary or attendance reported, a period can only be processed once.</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Testing</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graphicFrame>
        <p:nvGraphicFramePr>
          <p:cNvPr id="6" name="Chart 0" descr=""/>
          <p:cNvGraphicFramePr/>
          <p:nvPr/>
        </p:nvGraphicFramePr>
        <p:xfrm>
          <a:off x="457200" y="1143000"/>
          <a:ext cx="4754880" cy="274320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486400" y="1143000"/>
            <a:ext cx="320040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8" name="Text 3"/>
          <p:cNvSpPr txBox="1"/>
          <p:nvPr/>
        </p:nvSpPr>
        <p:spPr>
          <a:xfrm>
            <a:off x="5486400" y="1290218"/>
            <a:ext cx="3200400" cy="525780"/>
          </a:xfrm>
          <a:prstGeom prst="rect">
            <a:avLst/>
          </a:prstGeom>
          <a:noFill/>
          <a:ln/>
        </p:spPr>
        <p:txBody>
          <a:bodyPr wrap="square" lIns="0" tIns="0" rIns="0" bIns="0" rtlCol="0" anchor="ctr"/>
          <a:lstStyle/>
          <a:p>
            <a:pPr algn="ctr" indent="0" marL="0">
              <a:buNone/>
            </a:pPr>
            <a:r>
              <a:rPr lang="en-US" sz="3400" b="1" dirty="0">
                <a:solidFill>
                  <a:schemeClr val="accent3"/>
                </a:solidFill>
                <a:latin typeface="Cambria" pitchFamily="34" charset="0"/>
                <a:ea typeface="Cambria" pitchFamily="34" charset="-122"/>
                <a:cs typeface="Cambria" pitchFamily="34" charset="-120"/>
              </a:rPr>
              <a:t>40 / 40</a:t>
            </a:r>
            <a:endParaRPr lang="en-US" sz="3400" dirty="0"/>
          </a:p>
        </p:txBody>
      </p:sp>
      <p:sp>
        <p:nvSpPr>
          <p:cNvPr id="9" name="Text 4"/>
          <p:cNvSpPr txBox="1"/>
          <p:nvPr/>
        </p:nvSpPr>
        <p:spPr>
          <a:xfrm>
            <a:off x="5577840" y="1794967"/>
            <a:ext cx="3017520" cy="315468"/>
          </a:xfrm>
          <a:prstGeom prst="rect">
            <a:avLst/>
          </a:prstGeom>
          <a:noFill/>
          <a:ln/>
        </p:spPr>
        <p:txBody>
          <a:bodyPr wrap="square" lIns="0" tIns="0" rIns="0" bIns="0" rtlCol="0" anchor="t"/>
          <a:lstStyle/>
          <a:p>
            <a:pPr algn="ctr" indent="0" marL="0">
              <a:buNone/>
            </a:pPr>
            <a:r>
              <a:rPr lang="en-US" sz="1200" dirty="0">
                <a:solidFill>
                  <a:schemeClr val="tx1"/>
                </a:solidFill>
              </a:rPr>
              <a:t>tests passed</a:t>
            </a:r>
            <a:endParaRPr lang="en-US" sz="1200" dirty="0"/>
          </a:p>
        </p:txBody>
      </p:sp>
      <p:sp>
        <p:nvSpPr>
          <p:cNvPr id="10" name="Shape 5"/>
          <p:cNvSpPr/>
          <p:nvPr/>
        </p:nvSpPr>
        <p:spPr>
          <a:xfrm>
            <a:off x="5486400" y="2331720"/>
            <a:ext cx="3200400" cy="1554480"/>
          </a:xfrm>
          <a:prstGeom prst="roundRect">
            <a:avLst>
              <a:gd name="adj" fmla="val 4706"/>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1" name="Text 6"/>
          <p:cNvSpPr txBox="1"/>
          <p:nvPr/>
        </p:nvSpPr>
        <p:spPr>
          <a:xfrm>
            <a:off x="5669280" y="2423160"/>
            <a:ext cx="2926080" cy="1417320"/>
          </a:xfrm>
          <a:prstGeom prst="rect">
            <a:avLst/>
          </a:prstGeom>
          <a:noFill/>
          <a:ln/>
        </p:spPr>
        <p:txBody>
          <a:bodyPr wrap="square" lIns="0" tIns="0" rIns="0" bIns="0" rtlCol="0" anchor="t"/>
          <a:lstStyle/>
          <a:p>
            <a:pPr indent="0" marL="0">
              <a:spcAft>
                <a:spcPts val="200"/>
              </a:spcAft>
              <a:buNone/>
            </a:pPr>
            <a:r>
              <a:rPr lang="en-US" sz="1300" b="1" dirty="0">
                <a:solidFill>
                  <a:schemeClr val="tx2"/>
                </a:solidFill>
              </a:rPr>
              <a:t>Verified</a:t>
            </a:r>
            <a:endParaRPr lang="en-US" sz="1200" dirty="0"/>
          </a:p>
          <a:p>
            <a:pPr marL="177800" indent="-177800">
              <a:spcAft>
                <a:spcPts val="200"/>
              </a:spcAft>
              <a:buSzPct val="100000"/>
              <a:buChar char="•"/>
            </a:pPr>
            <a:r>
              <a:rPr lang="en-US" sz="1200" dirty="0">
                <a:solidFill>
                  <a:schemeClr val="tx1"/>
                </a:solidFill>
              </a:rPr>
              <a:t>Hand-computed formulas</a:t>
            </a:r>
            <a:endParaRPr lang="en-US" sz="1200" dirty="0"/>
          </a:p>
          <a:p>
            <a:pPr marL="177800" indent="-177800">
              <a:spcAft>
                <a:spcPts val="200"/>
              </a:spcAft>
              <a:buSzPct val="100000"/>
              <a:buChar char="•"/>
            </a:pPr>
            <a:r>
              <a:rPr lang="en-US" sz="1200" dirty="0">
                <a:solidFill>
                  <a:schemeClr val="tx1"/>
                </a:solidFill>
              </a:rPr>
              <a:t>Constraint rejection</a:t>
            </a:r>
            <a:endParaRPr lang="en-US" sz="1200" dirty="0"/>
          </a:p>
          <a:p>
            <a:pPr marL="177800" indent="-177800">
              <a:spcAft>
                <a:spcPts val="200"/>
              </a:spcAft>
              <a:buSzPct val="100000"/>
              <a:buChar char="•"/>
            </a:pPr>
            <a:r>
              <a:rPr lang="en-US" sz="1200" dirty="0">
                <a:solidFill>
                  <a:schemeClr val="tx1"/>
                </a:solidFill>
              </a:rPr>
              <a:t>Rollback on failure</a:t>
            </a:r>
            <a:endParaRPr lang="en-US" sz="1200" dirty="0"/>
          </a:p>
          <a:p>
            <a:pPr marL="177800" indent="-177800">
              <a:spcAft>
                <a:spcPts val="200"/>
              </a:spcAft>
              <a:buSzPct val="100000"/>
              <a:buChar char="•"/>
            </a:pPr>
            <a:r>
              <a:rPr lang="en-US" sz="1200" dirty="0">
                <a:solidFill>
                  <a:schemeClr val="tx1"/>
                </a:solidFill>
              </a:rPr>
              <a:t>queries.sql runs fully</a:t>
            </a:r>
            <a:endParaRPr lang="en-US" sz="1200" dirty="0"/>
          </a:p>
        </p:txBody>
      </p:sp>
      <p:sp>
        <p:nvSpPr>
          <p:cNvPr id="12" name="Shape 7"/>
          <p:cNvSpPr/>
          <p:nvPr/>
        </p:nvSpPr>
        <p:spPr>
          <a:xfrm>
            <a:off x="457200" y="4023360"/>
            <a:ext cx="8229600" cy="640080"/>
          </a:xfrm>
          <a:prstGeom prst="roundRect">
            <a:avLst>
              <a:gd name="adj" fmla="val 11429"/>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3" name="Text 8"/>
          <p:cNvSpPr txBox="1"/>
          <p:nvPr/>
        </p:nvSpPr>
        <p:spPr>
          <a:xfrm>
            <a:off x="640080" y="4023360"/>
            <a:ext cx="7863840" cy="640080"/>
          </a:xfrm>
          <a:prstGeom prst="rect">
            <a:avLst/>
          </a:prstGeom>
          <a:noFill/>
          <a:ln/>
        </p:spPr>
        <p:txBody>
          <a:bodyPr wrap="square" lIns="0" tIns="0" rIns="0" bIns="0" rtlCol="0" anchor="ctr"/>
          <a:lstStyle/>
          <a:p>
            <a:pPr indent="0" marL="0">
              <a:buNone/>
            </a:pPr>
            <a:r>
              <a:rPr lang="en-US" sz="1200" b="1" dirty="0">
                <a:solidFill>
                  <a:schemeClr val="accent6"/>
                </a:solidFill>
              </a:rPr>
              <a:t>Not yet tested: </a:t>
            </a:r>
            <a:pPr indent="0" marL="0">
              <a:buNone/>
            </a:pPr>
            <a:r>
              <a:rPr lang="en-US" sz="1200" dirty="0">
                <a:solidFill>
                  <a:schemeClr val="tx1"/>
                </a:solidFill>
              </a:rPr>
              <a:t>live MySQL server run · browsers other than headless Chromium · many concurrent users.</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Challenges and Solutions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468880"/>
                <a:gridCol w="3383280"/>
                <a:gridCol w="2377440"/>
              </a:tblGrid>
              <a:tr h="713232">
                <a:tc>
                  <a:txBody>
                    <a:bodyPr/>
                    <a:lstStyle/>
                    <a:p>
                      <a:pPr indent="0" marL="0">
                        <a:buNone/>
                      </a:pPr>
                      <a:r>
                        <a:rPr lang="en-US" sz="1200" b="1" dirty="0">
                          <a:solidFill>
                            <a:schemeClr val="bg1"/>
                          </a:solidFill>
                        </a:rPr>
                        <a:t>Challenge</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Solution</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Verified by</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r>
              <a:tr h="713232">
                <a:tc>
                  <a:txBody>
                    <a:bodyPr/>
                    <a:lstStyle/>
                    <a:p>
                      <a:pPr indent="0" marL="0">
                        <a:buNone/>
                      </a:pPr>
                      <a:r>
                        <a:rPr lang="en-US" sz="1200" dirty="0">
                          <a:solidFill>
                            <a:schemeClr val="tx1"/>
                          </a:solidFill>
                        </a:rPr>
                        <a:t>MySQL and SQLite differ in syntax</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MySQL schema is the master; script generates the SQLite file; SQL kept portable</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Schema loads in SQLite in tests</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713232">
                <a:tc>
                  <a:txBody>
                    <a:bodyPr/>
                    <a:lstStyle/>
                    <a:p>
                      <a:pPr indent="0" marL="0">
                        <a:buNone/>
                      </a:pPr>
                      <a:r>
                        <a:rPr lang="en-US" sz="1200" dirty="0">
                          <a:solidFill>
                            <a:schemeClr val="tx1"/>
                          </a:solidFill>
                        </a:rPr>
                        <a:t>Exact money arithmetic</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Decimal maths rounded to 2 places; DB layer converts Decimal for SQLite</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 hand-computed calculation tests</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713232">
                <a:tc>
                  <a:txBody>
                    <a:bodyPr/>
                    <a:lstStyle/>
                    <a:p>
                      <a:pPr indent="0" marL="0">
                        <a:buNone/>
                      </a:pPr>
                      <a:r>
                        <a:rPr lang="en-US" sz="1200" dirty="0">
                          <a:solidFill>
                            <a:schemeClr val="tx1"/>
                          </a:solidFill>
                        </a:rPr>
                        <a:t>Edits after payroll would corrupt history</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Period status locks inputs; processing is one all-or-nothing transaction</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Locked-period, double-process and rollback tests</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713232">
                <a:tc>
                  <a:txBody>
                    <a:bodyPr/>
                    <a:lstStyle/>
                    <a:p>
                      <a:pPr indent="0" marL="0">
                        <a:buNone/>
                      </a:pPr>
                      <a:r>
                        <a:rPr lang="en-US" sz="1200" dirty="0">
                          <a:solidFill>
                            <a:schemeClr val="tx1"/>
                          </a:solidFill>
                        </a:rPr>
                        <a:t>Review 1 had no repayment record</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Added loan_repayment table linked to payroll_detail</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EMI and balance tests</a:t>
                      </a:r>
                      <a:endParaRPr lang="en-US" sz="12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Future Improvements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88720"/>
            <a:ext cx="2606040" cy="1600200"/>
          </a:xfrm>
          <a:prstGeom prst="roundRect">
            <a:avLst>
              <a:gd name="adj" fmla="val 457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Shape 3"/>
          <p:cNvSpPr/>
          <p:nvPr/>
        </p:nvSpPr>
        <p:spPr>
          <a:xfrm>
            <a:off x="640080" y="1371600"/>
            <a:ext cx="548640" cy="548640"/>
          </a:xfrm>
          <a:prstGeom prst="ellipse">
            <a:avLst/>
          </a:prstGeom>
          <a:solidFill>
            <a:schemeClr val="accent2"/>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782726" y="1514246"/>
            <a:ext cx="263347" cy="263347"/>
          </a:xfrm>
          <a:prstGeom prst="rect">
            <a:avLst/>
          </a:prstGeom>
        </p:spPr>
      </p:pic>
      <p:sp>
        <p:nvSpPr>
          <p:cNvPr id="9" name="Text 4"/>
          <p:cNvSpPr txBox="1"/>
          <p:nvPr/>
        </p:nvSpPr>
        <p:spPr>
          <a:xfrm>
            <a:off x="1325880" y="137160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Login and roles</a:t>
            </a:r>
            <a:endParaRPr lang="en-US" sz="1400" dirty="0"/>
          </a:p>
        </p:txBody>
      </p:sp>
      <p:sp>
        <p:nvSpPr>
          <p:cNvPr id="10" name="Text 5"/>
          <p:cNvSpPr txBox="1"/>
          <p:nvPr/>
        </p:nvSpPr>
        <p:spPr>
          <a:xfrm>
            <a:off x="640080" y="2057400"/>
            <a:ext cx="2286000" cy="640080"/>
          </a:xfrm>
          <a:prstGeom prst="rect">
            <a:avLst/>
          </a:prstGeom>
          <a:noFill/>
          <a:ln/>
        </p:spPr>
        <p:txBody>
          <a:bodyPr wrap="square" lIns="0" tIns="0" rIns="0" bIns="0" rtlCol="0" anchor="t"/>
          <a:lstStyle/>
          <a:p>
            <a:pPr indent="0" marL="0">
              <a:buNone/>
            </a:pPr>
            <a:r>
              <a:rPr lang="en-US" sz="1200" dirty="0">
                <a:solidFill>
                  <a:schemeClr val="tx1"/>
                </a:solidFill>
              </a:rPr>
              <a:t>HR, payroll officer, employee, management from Review 1</a:t>
            </a:r>
            <a:endParaRPr lang="en-US" sz="1200" dirty="0"/>
          </a:p>
        </p:txBody>
      </p:sp>
      <p:sp>
        <p:nvSpPr>
          <p:cNvPr id="11" name="Shape 6"/>
          <p:cNvSpPr/>
          <p:nvPr/>
        </p:nvSpPr>
        <p:spPr>
          <a:xfrm>
            <a:off x="3264408" y="1188720"/>
            <a:ext cx="2606040" cy="1600200"/>
          </a:xfrm>
          <a:prstGeom prst="roundRect">
            <a:avLst>
              <a:gd name="adj" fmla="val 457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2" name="Shape 7"/>
          <p:cNvSpPr/>
          <p:nvPr/>
        </p:nvSpPr>
        <p:spPr>
          <a:xfrm>
            <a:off x="3447288" y="1371600"/>
            <a:ext cx="548640" cy="548640"/>
          </a:xfrm>
          <a:prstGeom prst="ellipse">
            <a:avLst/>
          </a:prstGeom>
          <a:solidFill>
            <a:schemeClr val="accent3"/>
          </a:solidFill>
          <a:ln w="12700">
            <a:solidFill>
              <a:schemeClr val="accent3"/>
            </a:solidFill>
            <a:prstDash val="solid"/>
          </a:ln>
        </p:spPr>
      </p:sp>
      <p:pic>
        <p:nvPicPr>
          <p:cNvPr id="13" name="Image 2" descr="preencoded.png">    </p:cNvPr>
          <p:cNvPicPr>
            <a:picLocks noChangeAspect="1"/>
          </p:cNvPicPr>
          <p:nvPr/>
        </p:nvPicPr>
        <p:blipFill>
          <a:blip r:embed="rId3"/>
          <a:stretch>
            <a:fillRect/>
          </a:stretch>
        </p:blipFill>
        <p:spPr>
          <a:xfrm>
            <a:off x="3589934" y="1514246"/>
            <a:ext cx="263347" cy="263347"/>
          </a:xfrm>
          <a:prstGeom prst="rect">
            <a:avLst/>
          </a:prstGeom>
        </p:spPr>
      </p:pic>
      <p:sp>
        <p:nvSpPr>
          <p:cNvPr id="14" name="Text 8"/>
          <p:cNvSpPr txBox="1"/>
          <p:nvPr/>
        </p:nvSpPr>
        <p:spPr>
          <a:xfrm>
            <a:off x="4133088" y="137160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Live MySQL test</a:t>
            </a:r>
            <a:endParaRPr lang="en-US" sz="1400" dirty="0"/>
          </a:p>
        </p:txBody>
      </p:sp>
      <p:sp>
        <p:nvSpPr>
          <p:cNvPr id="15" name="Text 9"/>
          <p:cNvSpPr txBox="1"/>
          <p:nvPr/>
        </p:nvSpPr>
        <p:spPr>
          <a:xfrm>
            <a:off x="3447288" y="2057400"/>
            <a:ext cx="2286000" cy="640080"/>
          </a:xfrm>
          <a:prstGeom prst="rect">
            <a:avLst/>
          </a:prstGeom>
          <a:noFill/>
          <a:ln/>
        </p:spPr>
        <p:txBody>
          <a:bodyPr wrap="square" lIns="0" tIns="0" rIns="0" bIns="0" rtlCol="0" anchor="t"/>
          <a:lstStyle/>
          <a:p>
            <a:pPr indent="0" marL="0">
              <a:buNone/>
            </a:pPr>
            <a:r>
              <a:rPr lang="en-US" sz="1200" dirty="0">
                <a:solidFill>
                  <a:schemeClr val="tx1"/>
                </a:solidFill>
              </a:rPr>
              <a:t>Run the provided MySQL scripts on a real server</a:t>
            </a:r>
            <a:endParaRPr lang="en-US" sz="1200" dirty="0"/>
          </a:p>
        </p:txBody>
      </p:sp>
      <p:sp>
        <p:nvSpPr>
          <p:cNvPr id="16" name="Shape 10"/>
          <p:cNvSpPr/>
          <p:nvPr/>
        </p:nvSpPr>
        <p:spPr>
          <a:xfrm>
            <a:off x="6071616" y="1188720"/>
            <a:ext cx="2606040" cy="1600200"/>
          </a:xfrm>
          <a:prstGeom prst="roundRect">
            <a:avLst>
              <a:gd name="adj" fmla="val 457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7" name="Shape 11"/>
          <p:cNvSpPr/>
          <p:nvPr/>
        </p:nvSpPr>
        <p:spPr>
          <a:xfrm>
            <a:off x="6254496" y="1371600"/>
            <a:ext cx="548640" cy="548640"/>
          </a:xfrm>
          <a:prstGeom prst="ellipse">
            <a:avLst/>
          </a:prstGeom>
          <a:solidFill>
            <a:schemeClr val="accent3"/>
          </a:solidFill>
          <a:ln w="12700">
            <a:solidFill>
              <a:schemeClr val="accent3"/>
            </a:solidFill>
            <a:prstDash val="solid"/>
          </a:ln>
        </p:spPr>
      </p:sp>
      <p:pic>
        <p:nvPicPr>
          <p:cNvPr id="18" name="Image 3" descr="preencoded.png">    </p:cNvPr>
          <p:cNvPicPr>
            <a:picLocks noChangeAspect="1"/>
          </p:cNvPicPr>
          <p:nvPr/>
        </p:nvPicPr>
        <p:blipFill>
          <a:blip r:embed="rId4"/>
          <a:stretch>
            <a:fillRect/>
          </a:stretch>
        </p:blipFill>
        <p:spPr>
          <a:xfrm>
            <a:off x="6397142" y="1514246"/>
            <a:ext cx="263347" cy="263347"/>
          </a:xfrm>
          <a:prstGeom prst="rect">
            <a:avLst/>
          </a:prstGeom>
        </p:spPr>
      </p:pic>
      <p:sp>
        <p:nvSpPr>
          <p:cNvPr id="19" name="Text 12"/>
          <p:cNvSpPr txBox="1"/>
          <p:nvPr/>
        </p:nvSpPr>
        <p:spPr>
          <a:xfrm>
            <a:off x="6940296" y="137160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Official slabs</a:t>
            </a:r>
            <a:endParaRPr lang="en-US" sz="1400" dirty="0"/>
          </a:p>
        </p:txBody>
      </p:sp>
      <p:sp>
        <p:nvSpPr>
          <p:cNvPr id="20" name="Text 13"/>
          <p:cNvSpPr txBox="1"/>
          <p:nvPr/>
        </p:nvSpPr>
        <p:spPr>
          <a:xfrm>
            <a:off x="6254496" y="2057400"/>
            <a:ext cx="2286000" cy="640080"/>
          </a:xfrm>
          <a:prstGeom prst="rect">
            <a:avLst/>
          </a:prstGeom>
          <a:noFill/>
          <a:ln/>
        </p:spPr>
        <p:txBody>
          <a:bodyPr wrap="square" lIns="0" tIns="0" rIns="0" bIns="0" rtlCol="0" anchor="t"/>
          <a:lstStyle/>
          <a:p>
            <a:pPr indent="0" marL="0">
              <a:buNone/>
            </a:pPr>
            <a:r>
              <a:rPr lang="en-US" sz="1200" dirty="0">
                <a:solidFill>
                  <a:schemeClr val="tx1"/>
                </a:solidFill>
              </a:rPr>
              <a:t>Replace illustrative rates with statutory rules</a:t>
            </a:r>
            <a:endParaRPr lang="en-US" sz="1200" dirty="0"/>
          </a:p>
        </p:txBody>
      </p:sp>
      <p:sp>
        <p:nvSpPr>
          <p:cNvPr id="21" name="Shape 14"/>
          <p:cNvSpPr/>
          <p:nvPr/>
        </p:nvSpPr>
        <p:spPr>
          <a:xfrm>
            <a:off x="457200" y="2971800"/>
            <a:ext cx="2606040" cy="1600200"/>
          </a:xfrm>
          <a:prstGeom prst="roundRect">
            <a:avLst>
              <a:gd name="adj" fmla="val 457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2" name="Shape 15"/>
          <p:cNvSpPr/>
          <p:nvPr/>
        </p:nvSpPr>
        <p:spPr>
          <a:xfrm>
            <a:off x="640080" y="3154680"/>
            <a:ext cx="548640" cy="548640"/>
          </a:xfrm>
          <a:prstGeom prst="ellipse">
            <a:avLst/>
          </a:prstGeom>
          <a:solidFill>
            <a:schemeClr val="accent3"/>
          </a:solidFill>
          <a:ln w="12700">
            <a:solidFill>
              <a:schemeClr val="accent3"/>
            </a:solidFill>
            <a:prstDash val="solid"/>
          </a:ln>
        </p:spPr>
      </p:sp>
      <p:pic>
        <p:nvPicPr>
          <p:cNvPr id="23" name="Image 4" descr="preencoded.png">    </p:cNvPr>
          <p:cNvPicPr>
            <a:picLocks noChangeAspect="1"/>
          </p:cNvPicPr>
          <p:nvPr/>
        </p:nvPicPr>
        <p:blipFill>
          <a:blip r:embed="rId5"/>
          <a:stretch>
            <a:fillRect/>
          </a:stretch>
        </p:blipFill>
        <p:spPr>
          <a:xfrm>
            <a:off x="782726" y="3297326"/>
            <a:ext cx="263347" cy="263347"/>
          </a:xfrm>
          <a:prstGeom prst="rect">
            <a:avLst/>
          </a:prstGeom>
        </p:spPr>
      </p:pic>
      <p:sp>
        <p:nvSpPr>
          <p:cNvPr id="24" name="Text 16"/>
          <p:cNvSpPr txBox="1"/>
          <p:nvPr/>
        </p:nvSpPr>
        <p:spPr>
          <a:xfrm>
            <a:off x="1325880" y="315468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PDF payslips</a:t>
            </a:r>
            <a:endParaRPr lang="en-US" sz="1400" dirty="0"/>
          </a:p>
        </p:txBody>
      </p:sp>
      <p:sp>
        <p:nvSpPr>
          <p:cNvPr id="25" name="Text 17"/>
          <p:cNvSpPr txBox="1"/>
          <p:nvPr/>
        </p:nvSpPr>
        <p:spPr>
          <a:xfrm>
            <a:off x="640080" y="3840480"/>
            <a:ext cx="2286000" cy="640080"/>
          </a:xfrm>
          <a:prstGeom prst="rect">
            <a:avLst/>
          </a:prstGeom>
          <a:noFill/>
          <a:ln/>
        </p:spPr>
        <p:txBody>
          <a:bodyPr wrap="square" lIns="0" tIns="0" rIns="0" bIns="0" rtlCol="0" anchor="t"/>
          <a:lstStyle/>
          <a:p>
            <a:pPr indent="0" marL="0">
              <a:buNone/>
            </a:pPr>
            <a:r>
              <a:rPr lang="en-US" sz="1200" dirty="0">
                <a:solidFill>
                  <a:schemeClr val="tx1"/>
                </a:solidFill>
              </a:rPr>
              <a:t>Download or e-mail each payslip</a:t>
            </a:r>
            <a:endParaRPr lang="en-US" sz="1200" dirty="0"/>
          </a:p>
        </p:txBody>
      </p:sp>
      <p:sp>
        <p:nvSpPr>
          <p:cNvPr id="26" name="Shape 18"/>
          <p:cNvSpPr/>
          <p:nvPr/>
        </p:nvSpPr>
        <p:spPr>
          <a:xfrm>
            <a:off x="3264408" y="2971800"/>
            <a:ext cx="2606040" cy="1600200"/>
          </a:xfrm>
          <a:prstGeom prst="roundRect">
            <a:avLst>
              <a:gd name="adj" fmla="val 457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7" name="Shape 19"/>
          <p:cNvSpPr/>
          <p:nvPr/>
        </p:nvSpPr>
        <p:spPr>
          <a:xfrm>
            <a:off x="3447288" y="3154680"/>
            <a:ext cx="548640" cy="548640"/>
          </a:xfrm>
          <a:prstGeom prst="ellipse">
            <a:avLst/>
          </a:prstGeom>
          <a:solidFill>
            <a:schemeClr val="accent3"/>
          </a:solidFill>
          <a:ln w="12700">
            <a:solidFill>
              <a:schemeClr val="accent3"/>
            </a:solidFill>
            <a:prstDash val="solid"/>
          </a:ln>
        </p:spPr>
      </p:sp>
      <p:pic>
        <p:nvPicPr>
          <p:cNvPr id="28" name="Image 5" descr="preencoded.png">    </p:cNvPr>
          <p:cNvPicPr>
            <a:picLocks noChangeAspect="1"/>
          </p:cNvPicPr>
          <p:nvPr/>
        </p:nvPicPr>
        <p:blipFill>
          <a:blip r:embed="rId6"/>
          <a:stretch>
            <a:fillRect/>
          </a:stretch>
        </p:blipFill>
        <p:spPr>
          <a:xfrm>
            <a:off x="3589934" y="3297326"/>
            <a:ext cx="263347" cy="263347"/>
          </a:xfrm>
          <a:prstGeom prst="rect">
            <a:avLst/>
          </a:prstGeom>
        </p:spPr>
      </p:pic>
      <p:sp>
        <p:nvSpPr>
          <p:cNvPr id="29" name="Text 20"/>
          <p:cNvSpPr txBox="1"/>
          <p:nvPr/>
        </p:nvSpPr>
        <p:spPr>
          <a:xfrm>
            <a:off x="4133088" y="315468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Audit log</a:t>
            </a:r>
            <a:endParaRPr lang="en-US" sz="1400" dirty="0"/>
          </a:p>
        </p:txBody>
      </p:sp>
      <p:sp>
        <p:nvSpPr>
          <p:cNvPr id="30" name="Text 21"/>
          <p:cNvSpPr txBox="1"/>
          <p:nvPr/>
        </p:nvSpPr>
        <p:spPr>
          <a:xfrm>
            <a:off x="3447288" y="3840480"/>
            <a:ext cx="2286000" cy="640080"/>
          </a:xfrm>
          <a:prstGeom prst="rect">
            <a:avLst/>
          </a:prstGeom>
          <a:noFill/>
          <a:ln/>
        </p:spPr>
        <p:txBody>
          <a:bodyPr wrap="square" lIns="0" tIns="0" rIns="0" bIns="0" rtlCol="0" anchor="t"/>
          <a:lstStyle/>
          <a:p>
            <a:pPr indent="0" marL="0">
              <a:buNone/>
            </a:pPr>
            <a:r>
              <a:rPr lang="en-US" sz="1200" dirty="0">
                <a:solidFill>
                  <a:schemeClr val="tx1"/>
                </a:solidFill>
              </a:rPr>
              <a:t>Who changed what and when</a:t>
            </a:r>
            <a:endParaRPr lang="en-US" sz="1200" dirty="0"/>
          </a:p>
        </p:txBody>
      </p:sp>
      <p:sp>
        <p:nvSpPr>
          <p:cNvPr id="31" name="Shape 22"/>
          <p:cNvSpPr/>
          <p:nvPr/>
        </p:nvSpPr>
        <p:spPr>
          <a:xfrm>
            <a:off x="6071616" y="2971800"/>
            <a:ext cx="2606040" cy="1600200"/>
          </a:xfrm>
          <a:prstGeom prst="roundRect">
            <a:avLst>
              <a:gd name="adj" fmla="val 457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2" name="Shape 23"/>
          <p:cNvSpPr/>
          <p:nvPr/>
        </p:nvSpPr>
        <p:spPr>
          <a:xfrm>
            <a:off x="6254496" y="3154680"/>
            <a:ext cx="548640" cy="548640"/>
          </a:xfrm>
          <a:prstGeom prst="ellipse">
            <a:avLst/>
          </a:prstGeom>
          <a:solidFill>
            <a:schemeClr val="accent3"/>
          </a:solidFill>
          <a:ln w="12700">
            <a:solidFill>
              <a:schemeClr val="accent3"/>
            </a:solidFill>
            <a:prstDash val="solid"/>
          </a:ln>
        </p:spPr>
      </p:sp>
      <p:pic>
        <p:nvPicPr>
          <p:cNvPr id="33" name="Image 6" descr="preencoded.png">    </p:cNvPr>
          <p:cNvPicPr>
            <a:picLocks noChangeAspect="1"/>
          </p:cNvPicPr>
          <p:nvPr/>
        </p:nvPicPr>
        <p:blipFill>
          <a:blip r:embed="rId7"/>
          <a:stretch>
            <a:fillRect/>
          </a:stretch>
        </p:blipFill>
        <p:spPr>
          <a:xfrm>
            <a:off x="6397142" y="3297326"/>
            <a:ext cx="263347" cy="263347"/>
          </a:xfrm>
          <a:prstGeom prst="rect">
            <a:avLst/>
          </a:prstGeom>
        </p:spPr>
      </p:pic>
      <p:sp>
        <p:nvSpPr>
          <p:cNvPr id="34" name="Text 24"/>
          <p:cNvSpPr txBox="1"/>
          <p:nvPr/>
        </p:nvSpPr>
        <p:spPr>
          <a:xfrm>
            <a:off x="6940296" y="315468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Bank file export</a:t>
            </a:r>
            <a:endParaRPr lang="en-US" sz="1400" dirty="0"/>
          </a:p>
        </p:txBody>
      </p:sp>
      <p:sp>
        <p:nvSpPr>
          <p:cNvPr id="35" name="Text 25"/>
          <p:cNvSpPr txBox="1"/>
          <p:nvPr/>
        </p:nvSpPr>
        <p:spPr>
          <a:xfrm>
            <a:off x="6254496" y="3840480"/>
            <a:ext cx="2286000" cy="640080"/>
          </a:xfrm>
          <a:prstGeom prst="rect">
            <a:avLst/>
          </a:prstGeom>
          <a:noFill/>
          <a:ln/>
        </p:spPr>
        <p:txBody>
          <a:bodyPr wrap="square" lIns="0" tIns="0" rIns="0" bIns="0" rtlCol="0" anchor="t"/>
          <a:lstStyle/>
          <a:p>
            <a:pPr indent="0" marL="0">
              <a:buNone/>
            </a:pPr>
            <a:r>
              <a:rPr lang="en-US" sz="1200" dirty="0">
                <a:solidFill>
                  <a:schemeClr val="tx1"/>
                </a:solidFill>
              </a:rPr>
              <a:t>Generate a bulk-payment file</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bg1"/>
                </a:solidFill>
              </a:rPr>
              <a:t>Summary and Next Review</a:t>
            </a:r>
            <a:endParaRPr lang="en-US" sz="3000" dirty="0"/>
          </a:p>
        </p:txBody>
      </p:sp>
      <p:sp>
        <p:nvSpPr>
          <p:cNvPr id="4" name="Shape 1"/>
          <p:cNvSpPr/>
          <p:nvPr/>
        </p:nvSpPr>
        <p:spPr>
          <a:xfrm>
            <a:off x="457200" y="274320"/>
            <a:ext cx="603504" cy="603504"/>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280160"/>
            <a:ext cx="1920240" cy="1371600"/>
          </a:xfrm>
          <a:prstGeom prst="roundRect">
            <a:avLst>
              <a:gd name="adj" fmla="val 5333"/>
            </a:avLst>
          </a:prstGeom>
          <a:solidFill>
            <a:schemeClr val="accent3"/>
          </a:solidFill>
          <a:ln w="12700">
            <a:solidFill>
              <a:schemeClr val="accent3"/>
            </a:solidFill>
            <a:prstDash val="solid"/>
          </a:ln>
        </p:spPr>
      </p:sp>
      <p:sp>
        <p:nvSpPr>
          <p:cNvPr id="7" name="Text 3"/>
          <p:cNvSpPr txBox="1"/>
          <p:nvPr/>
        </p:nvSpPr>
        <p:spPr>
          <a:xfrm>
            <a:off x="457200" y="1371600"/>
            <a:ext cx="1920240" cy="640080"/>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14</a:t>
            </a:r>
            <a:endParaRPr lang="en-US" sz="3000" dirty="0"/>
          </a:p>
        </p:txBody>
      </p:sp>
      <p:sp>
        <p:nvSpPr>
          <p:cNvPr id="8" name="Text 4"/>
          <p:cNvSpPr txBox="1"/>
          <p:nvPr/>
        </p:nvSpPr>
        <p:spPr>
          <a:xfrm>
            <a:off x="548640" y="2011680"/>
            <a:ext cx="1737360" cy="594360"/>
          </a:xfrm>
          <a:prstGeom prst="rect">
            <a:avLst/>
          </a:prstGeom>
          <a:noFill/>
          <a:ln/>
        </p:spPr>
        <p:txBody>
          <a:bodyPr wrap="square" lIns="0" tIns="0" rIns="0" bIns="0" rtlCol="0" anchor="t"/>
          <a:lstStyle/>
          <a:p>
            <a:pPr algn="ctr" indent="0" marL="0">
              <a:buNone/>
            </a:pPr>
            <a:r>
              <a:rPr lang="en-US" sz="1200" dirty="0">
                <a:solidFill>
                  <a:schemeClr val="bg1"/>
                </a:solidFill>
              </a:rPr>
              <a:t>tables with PK, FK, CHECK, UNIQUE</a:t>
            </a:r>
            <a:endParaRPr lang="en-US" sz="1200" dirty="0"/>
          </a:p>
        </p:txBody>
      </p:sp>
      <p:sp>
        <p:nvSpPr>
          <p:cNvPr id="9" name="Shape 5"/>
          <p:cNvSpPr/>
          <p:nvPr/>
        </p:nvSpPr>
        <p:spPr>
          <a:xfrm>
            <a:off x="2578608" y="1280160"/>
            <a:ext cx="1920240" cy="1371600"/>
          </a:xfrm>
          <a:prstGeom prst="roundRect">
            <a:avLst>
              <a:gd name="adj" fmla="val 5333"/>
            </a:avLst>
          </a:prstGeom>
          <a:solidFill>
            <a:schemeClr val="accent3"/>
          </a:solidFill>
          <a:ln w="12700">
            <a:solidFill>
              <a:schemeClr val="accent3"/>
            </a:solidFill>
            <a:prstDash val="solid"/>
          </a:ln>
        </p:spPr>
      </p:sp>
      <p:sp>
        <p:nvSpPr>
          <p:cNvPr id="10" name="Text 6"/>
          <p:cNvSpPr txBox="1"/>
          <p:nvPr/>
        </p:nvSpPr>
        <p:spPr>
          <a:xfrm>
            <a:off x="2578608" y="1371600"/>
            <a:ext cx="1920240" cy="640080"/>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12 / 12</a:t>
            </a:r>
            <a:endParaRPr lang="en-US" sz="3000" dirty="0"/>
          </a:p>
        </p:txBody>
      </p:sp>
      <p:sp>
        <p:nvSpPr>
          <p:cNvPr id="11" name="Text 7"/>
          <p:cNvSpPr txBox="1"/>
          <p:nvPr/>
        </p:nvSpPr>
        <p:spPr>
          <a:xfrm>
            <a:off x="2670048" y="2011680"/>
            <a:ext cx="1737360" cy="594360"/>
          </a:xfrm>
          <a:prstGeom prst="rect">
            <a:avLst/>
          </a:prstGeom>
          <a:noFill/>
          <a:ln/>
        </p:spPr>
        <p:txBody>
          <a:bodyPr wrap="square" lIns="0" tIns="0" rIns="0" bIns="0" rtlCol="0" anchor="t"/>
          <a:lstStyle/>
          <a:p>
            <a:pPr algn="ctr" indent="0" marL="0">
              <a:buNone/>
            </a:pPr>
            <a:r>
              <a:rPr lang="en-US" sz="1200" dirty="0">
                <a:solidFill>
                  <a:schemeClr val="bg1"/>
                </a:solidFill>
              </a:rPr>
              <a:t>Review 1 requirements implemented</a:t>
            </a:r>
            <a:endParaRPr lang="en-US" sz="1200" dirty="0"/>
          </a:p>
        </p:txBody>
      </p:sp>
      <p:sp>
        <p:nvSpPr>
          <p:cNvPr id="12" name="Shape 8"/>
          <p:cNvSpPr/>
          <p:nvPr/>
        </p:nvSpPr>
        <p:spPr>
          <a:xfrm>
            <a:off x="4700016" y="1280160"/>
            <a:ext cx="1920240" cy="1371600"/>
          </a:xfrm>
          <a:prstGeom prst="roundRect">
            <a:avLst>
              <a:gd name="adj" fmla="val 5333"/>
            </a:avLst>
          </a:prstGeom>
          <a:solidFill>
            <a:schemeClr val="accent3"/>
          </a:solidFill>
          <a:ln w="12700">
            <a:solidFill>
              <a:schemeClr val="accent3"/>
            </a:solidFill>
            <a:prstDash val="solid"/>
          </a:ln>
        </p:spPr>
      </p:sp>
      <p:sp>
        <p:nvSpPr>
          <p:cNvPr id="13" name="Text 9"/>
          <p:cNvSpPr txBox="1"/>
          <p:nvPr/>
        </p:nvSpPr>
        <p:spPr>
          <a:xfrm>
            <a:off x="4700016" y="1371600"/>
            <a:ext cx="1920240" cy="640080"/>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40 / 40</a:t>
            </a:r>
            <a:endParaRPr lang="en-US" sz="3000" dirty="0"/>
          </a:p>
        </p:txBody>
      </p:sp>
      <p:sp>
        <p:nvSpPr>
          <p:cNvPr id="14" name="Text 10"/>
          <p:cNvSpPr txBox="1"/>
          <p:nvPr/>
        </p:nvSpPr>
        <p:spPr>
          <a:xfrm>
            <a:off x="4791456" y="2011680"/>
            <a:ext cx="1737360" cy="594360"/>
          </a:xfrm>
          <a:prstGeom prst="rect">
            <a:avLst/>
          </a:prstGeom>
          <a:noFill/>
          <a:ln/>
        </p:spPr>
        <p:txBody>
          <a:bodyPr wrap="square" lIns="0" tIns="0" rIns="0" bIns="0" rtlCol="0" anchor="t"/>
          <a:lstStyle/>
          <a:p>
            <a:pPr algn="ctr" indent="0" marL="0">
              <a:buNone/>
            </a:pPr>
            <a:r>
              <a:rPr lang="en-US" sz="1200" dirty="0">
                <a:solidFill>
                  <a:schemeClr val="bg1"/>
                </a:solidFill>
              </a:rPr>
              <a:t>automated tests passing</a:t>
            </a:r>
            <a:endParaRPr lang="en-US" sz="1200" dirty="0"/>
          </a:p>
        </p:txBody>
      </p:sp>
      <p:sp>
        <p:nvSpPr>
          <p:cNvPr id="15" name="Shape 11"/>
          <p:cNvSpPr/>
          <p:nvPr/>
        </p:nvSpPr>
        <p:spPr>
          <a:xfrm>
            <a:off x="6821424" y="1280160"/>
            <a:ext cx="1920240" cy="1371600"/>
          </a:xfrm>
          <a:prstGeom prst="roundRect">
            <a:avLst>
              <a:gd name="adj" fmla="val 5333"/>
            </a:avLst>
          </a:prstGeom>
          <a:solidFill>
            <a:schemeClr val="accent3"/>
          </a:solidFill>
          <a:ln w="12700">
            <a:solidFill>
              <a:schemeClr val="accent3"/>
            </a:solidFill>
            <a:prstDash val="solid"/>
          </a:ln>
        </p:spPr>
      </p:sp>
      <p:sp>
        <p:nvSpPr>
          <p:cNvPr id="16" name="Text 12"/>
          <p:cNvSpPr txBox="1"/>
          <p:nvPr/>
        </p:nvSpPr>
        <p:spPr>
          <a:xfrm>
            <a:off x="6821424" y="1371600"/>
            <a:ext cx="1920240" cy="640080"/>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27</a:t>
            </a:r>
            <a:endParaRPr lang="en-US" sz="3000" dirty="0"/>
          </a:p>
        </p:txBody>
      </p:sp>
      <p:sp>
        <p:nvSpPr>
          <p:cNvPr id="17" name="Text 13"/>
          <p:cNvSpPr txBox="1"/>
          <p:nvPr/>
        </p:nvSpPr>
        <p:spPr>
          <a:xfrm>
            <a:off x="6912864" y="2011680"/>
            <a:ext cx="1737360" cy="594360"/>
          </a:xfrm>
          <a:prstGeom prst="rect">
            <a:avLst/>
          </a:prstGeom>
          <a:noFill/>
          <a:ln/>
        </p:spPr>
        <p:txBody>
          <a:bodyPr wrap="square" lIns="0" tIns="0" rIns="0" bIns="0" rtlCol="0" anchor="t"/>
          <a:lstStyle/>
          <a:p>
            <a:pPr algn="ctr" indent="0" marL="0">
              <a:buNone/>
            </a:pPr>
            <a:r>
              <a:rPr lang="en-US" sz="1200" dirty="0">
                <a:solidFill>
                  <a:schemeClr val="bg1"/>
                </a:solidFill>
              </a:rPr>
              <a:t>real screenshots captured</a:t>
            </a:r>
            <a:endParaRPr lang="en-US" sz="1200" dirty="0"/>
          </a:p>
        </p:txBody>
      </p:sp>
      <p:sp>
        <p:nvSpPr>
          <p:cNvPr id="18" name="Text 14"/>
          <p:cNvSpPr txBox="1"/>
          <p:nvPr/>
        </p:nvSpPr>
        <p:spPr>
          <a:xfrm>
            <a:off x="457200" y="2926080"/>
            <a:ext cx="3657600" cy="32004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Review 3 will show</a:t>
            </a:r>
            <a:endParaRPr lang="en-US" sz="1600" dirty="0"/>
          </a:p>
        </p:txBody>
      </p:sp>
      <p:sp>
        <p:nvSpPr>
          <p:cNvPr id="19" name="Text 15"/>
          <p:cNvSpPr txBox="1"/>
          <p:nvPr/>
        </p:nvSpPr>
        <p:spPr>
          <a:xfrm>
            <a:off x="457200" y="3291840"/>
            <a:ext cx="5029200" cy="10972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Complete payroll workflow, live</a:t>
            </a:r>
            <a:endParaRPr lang="en-US" sz="1400" dirty="0"/>
          </a:p>
          <a:p>
            <a:pPr marL="177800" indent="-177800">
              <a:spcAft>
                <a:spcPts val="500"/>
              </a:spcAft>
              <a:buSzPct val="100000"/>
              <a:buChar char="•"/>
            </a:pPr>
            <a:r>
              <a:rPr lang="en-US" sz="1400" dirty="0">
                <a:solidFill>
                  <a:schemeClr val="bg1"/>
                </a:solidFill>
              </a:rPr>
              <a:t>Payslip, bank transfers and reports</a:t>
            </a:r>
            <a:endParaRPr lang="en-US" sz="1400" dirty="0"/>
          </a:p>
          <a:p>
            <a:pPr marL="177800" indent="-177800">
              <a:spcAft>
                <a:spcPts val="500"/>
              </a:spcAft>
              <a:buSzPct val="100000"/>
              <a:buChar char="•"/>
            </a:pPr>
            <a:r>
              <a:rPr lang="en-US" sz="1400" dirty="0">
                <a:solidFill>
                  <a:schemeClr val="bg1"/>
                </a:solidFill>
              </a:rPr>
              <a:t>Final results, limitations, viva readiness</a:t>
            </a:r>
            <a:endParaRPr lang="en-US" sz="1400" dirty="0"/>
          </a:p>
        </p:txBody>
      </p:sp>
      <p:sp>
        <p:nvSpPr>
          <p:cNvPr id="20" name="Text 16"/>
          <p:cNvSpPr txBox="1"/>
          <p:nvPr/>
        </p:nvSpPr>
        <p:spPr>
          <a:xfrm>
            <a:off x="5669280" y="3291840"/>
            <a:ext cx="3017520" cy="822960"/>
          </a:xfrm>
          <a:prstGeom prst="rect">
            <a:avLst/>
          </a:prstGeom>
          <a:noFill/>
          <a:ln/>
        </p:spPr>
        <p:txBody>
          <a:bodyPr wrap="square" lIns="0" tIns="0" rIns="0" bIns="0" rtlCol="0" anchor="ctr"/>
          <a:lstStyle/>
          <a:p>
            <a:pPr algn="r" indent="0" marL="0">
              <a:buNone/>
            </a:pPr>
            <a:r>
              <a:rPr lang="en-US" sz="3600" b="1" dirty="0">
                <a:solidFill>
                  <a:schemeClr val="bg1"/>
                </a:solidFill>
                <a:latin typeface="Cambria" pitchFamily="34" charset="0"/>
                <a:ea typeface="Cambria" pitchFamily="34" charset="-122"/>
                <a:cs typeface="Cambria" pitchFamily="34" charset="-120"/>
              </a:rPr>
              <a:t>Thank You</a:t>
            </a:r>
            <a:endParaRPr lang="en-US" sz="36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1" lang="en-US"/>
              <a:t>23</a:t>
            </a:fld>
            <a:endParaRPr lang="en-US"/>
          </a:p>
        </p:txBody>
      </p:sp>
    </p:spTree>
  </p:cSld>
  <p:clrMapOvr>
    <a:masterClrMapping/>
  </p:clrMapOvr>
</p:sld>
</file>

<file path=ppt/theme/theme1.xml><?xml version="1.0" encoding="utf-8"?>
<a:theme xmlns:a="http://schemas.openxmlformats.org/drawingml/2006/main" name="Payroll Review">
  <a:themeElements>
    <a:clrScheme name="Payroll Review">
      <a:dk1>
        <a:srgbClr val="1B2146"/>
      </a:dk1>
      <a:lt1>
        <a:srgbClr val="FFFFFF"/>
      </a:lt1>
      <a:dk2>
        <a:srgbClr val="141B41"/>
      </a:dk2>
      <a:lt2>
        <a:srgbClr val="F2F5FC"/>
      </a:lt2>
      <a:accent1>
        <a:srgbClr val="3D5A9B"/>
      </a:accent1>
      <a:accent2>
        <a:srgbClr val="C9971C"/>
      </a:accent2>
      <a:accent3>
        <a:srgbClr val="1E2761"/>
      </a:accent3>
      <a:accent4>
        <a:srgbClr val="8AA4D6"/>
      </a:accent4>
      <a:accent5>
        <a:srgbClr val="16643A"/>
      </a:accent5>
      <a:accent6>
        <a:srgbClr val="B3261E"/>
      </a:accent6>
      <a:hlink>
        <a:srgbClr val="3D5A9B"/>
      </a:hlink>
      <a:folHlink>
        <a:srgbClr val="1E2761"/>
      </a:folHlink>
    </a:clrScheme>
    <a:fontScheme name="Payroll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36 - DBMS Review 2</dc:title>
  <dc:subject>DBMS Project 36 - Employee Payroll and Statutory Deduction Management System</dc:subject>
  <dc:creator>G Madhan (25WU0102344)</dc:creator>
  <cp:lastModifiedBy>G Madhan (25WU0102344)</cp:lastModifiedBy>
  <cp:revision>1</cp:revision>
  <dcterms:created xsi:type="dcterms:W3CDTF">2026-10-15T06:09:06Z</dcterms:created>
  <dcterms:modified xsi:type="dcterms:W3CDTF">2026-10-15T06:09:06Z</dcterms:modified>
</cp:coreProperties>
</file>