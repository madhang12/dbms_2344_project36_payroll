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fa616c3-6748-994f-227c-0bcf5fe8de2e}">
          <p14:sldIdLst>
            <p14:sldId id="256"/>
            <p14:sldId id="257"/>
            <p14:sldId id="258"/>
          </p14:sldIdLst>
        </p14:section>
        <p14:section name="Application" id="{97c3a853-db55-2cd3-5a60-6740c2fc483d}">
          <p14:sldIdLst>
            <p14:sldId id="259"/>
            <p14:sldId id="263"/>
            <p14:sldId id="264"/>
            <p14:sldId id="265"/>
          </p14:sldIdLst>
        </p14:section>
        <p14:section name="Database" id="{260d2bd6-b2cc-88a6-0d85-50cac1f6a217}">
          <p14:sldIdLst>
            <p14:sldId id="260"/>
            <p14:sldId id="261"/>
            <p14:sldId id="262"/>
          </p14:sldIdLst>
        </p14:section>
        <p14:section name="Payroll" id="{cc2d91b6-3c5a-48d3-66a9-6f8a07f02adf}">
          <p14:sldIdLst>
            <p14:sldId id="266"/>
            <p14:sldId id="267"/>
            <p14:sldId id="268"/>
            <p14:sldId id="269"/>
          </p14:sldIdLst>
        </p14:section>
        <p14:section name="Reports" id="{c08dd6d4-70f3-f721-d615-7a52965a0b20}">
          <p14:sldIdLst>
            <p14:sldId id="270"/>
            <p14:sldId id="271"/>
            <p14:sldId id="272"/>
          </p14:sldIdLst>
        </p14:section>
        <p14:section name="Results" id="{02a9b688-750c-4514-f33b-b86db19053aa}">
          <p14:sldIdLst>
            <p14:sldId id="273"/>
            <p14:sldId id="274"/>
            <p14:sldId id="275"/>
          </p14:sldIdLst>
        </p14:section>
        <p14:section name="Conclusion" id="{59886ee2-0a28-4ed0-fde0-33ea28b27899}">
          <p14:sldIdLst>
            <p14:sldId id="276"/>
            <p14:sldId id="277"/>
            <p14:sldId id="280"/>
            <p14:sldId id="281"/>
          </p14:sldIdLst>
        </p14:section>
        <p14:section name="Viva" id="{3449a68d-2288-bbb9-04c4-edb02537ced4}">
          <p14:sldIdLst>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B41"/>
                </a:solidFill>
                <a:latin typeface="+mn-lt"/>
              </a:defRPr>
            </a:pPr>
            <a:r>
              <a:rPr sz="1300" b="0" i="0" u="none" strike="noStrike">
                <a:solidFill>
                  <a:srgbClr val="141B41"/>
                </a:solidFill>
                <a:latin typeface="+mn-lt"/>
              </a:rPr>
              <a:t>Rs thousands per month</a:t>
            </a:r>
          </a:p>
        </c:rich>
      </c:tx>
      <c:layout/>
      <c:overlay val="0"/>
    </c:title>
    <c:autoTitleDeleted val="0"/>
    <c:plotArea>
      <c:layout/>
      <c:barChart>
        <c:barDir val="col"/>
        <c:grouping val="clustered"/>
        <c:varyColors val="0"/>
        <c:ser>
          <c:idx val="0"/>
          <c:order val="0"/>
          <c:tx>
            <c:strRef>
              <c:f>Sheet1!$B$1</c:f>
              <c:strCache>
                <c:ptCount val="1"/>
                <c:pt idx="0">
                  <c:v>Gross</c:v>
                </c:pt>
              </c:strCache>
            </c:strRef>
          </c:tx>
          <c:spPr>
            <a:solidFill>
              <a:srgbClr val="3D5A9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August</c:v>
                  </c:pt>
                  <c:pt idx="1">
                    <c:v>September</c:v>
                  </c:pt>
                  <c:pt idx="2">
                    <c:v>October</c:v>
                  </c:pt>
                </c:lvl>
              </c:multiLvlStrCache>
            </c:multiLvlStrRef>
          </c:cat>
          <c:val>
            <c:numRef>
              <c:f>Sheet1!$B$2:$B$4</c:f>
              <c:numCache>
                <c:formatCode>General</c:formatCode>
                <c:ptCount val="3"/>
                <c:pt idx="0">
                  <c:v>1955</c:v>
                </c:pt>
                <c:pt idx="1">
                  <c:v>1939</c:v>
                </c:pt>
                <c:pt idx="2">
                  <c:v>1958</c:v>
                </c:pt>
              </c:numCache>
            </c:numRef>
          </c:val>
        </c:ser>
        <c:ser>
          <c:idx val="1"/>
          <c:order val="1"/>
          <c:tx>
            <c:strRef>
              <c:f>Sheet1!$C$1</c:f>
              <c:strCache>
                <c:ptCount val="1"/>
                <c:pt idx="0">
                  <c:v>Deductions</c:v>
                </c:pt>
              </c:strCache>
            </c:strRef>
          </c:tx>
          <c:spPr>
            <a:solidFill>
              <a:srgbClr val="C9971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August</c:v>
                  </c:pt>
                  <c:pt idx="1">
                    <c:v>September</c:v>
                  </c:pt>
                  <c:pt idx="2">
                    <c:v>October</c:v>
                  </c:pt>
                </c:lvl>
              </c:multiLvlStrCache>
            </c:multiLvlStrRef>
          </c:cat>
          <c:val>
            <c:numRef>
              <c:f>Sheet1!$C$2:$C$4</c:f>
              <c:numCache>
                <c:formatCode>General</c:formatCode>
                <c:ptCount val="3"/>
                <c:pt idx="0">
                  <c:v>119</c:v>
                </c:pt>
                <c:pt idx="1">
                  <c:v>133</c:v>
                </c:pt>
                <c:pt idx="2">
                  <c:v>139</c:v>
                </c:pt>
              </c:numCache>
            </c:numRef>
          </c:val>
        </c:ser>
        <c:ser>
          <c:idx val="2"/>
          <c:order val="2"/>
          <c:tx>
            <c:strRef>
              <c:f>Sheet1!$D$1</c:f>
              <c:strCache>
                <c:ptCount val="1"/>
                <c:pt idx="0">
                  <c:v>Net</c:v>
                </c:pt>
              </c:strCache>
            </c:strRef>
          </c:tx>
          <c:spPr>
            <a:solidFill>
              <a:srgbClr val="141B4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August</c:v>
                  </c:pt>
                  <c:pt idx="1">
                    <c:v>September</c:v>
                  </c:pt>
                  <c:pt idx="2">
                    <c:v>October</c:v>
                  </c:pt>
                </c:lvl>
              </c:multiLvlStrCache>
            </c:multiLvlStrRef>
          </c:cat>
          <c:val>
            <c:numRef>
              <c:f>Sheet1!$D$2:$D$4</c:f>
              <c:numCache>
                <c:formatCode>General</c:formatCode>
                <c:ptCount val="3"/>
                <c:pt idx="0">
                  <c:v>1836</c:v>
                </c:pt>
                <c:pt idx="1">
                  <c:v>1806</c:v>
                </c:pt>
                <c:pt idx="2">
                  <c:v>1819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14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E2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69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214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B41"/>
                </a:solidFill>
                <a:latin typeface="+mn-lt"/>
              </a:defRPr>
            </a:pPr>
            <a:r>
              <a:rPr sz="1300" b="0" i="0" u="none" strike="noStrike">
                <a:solidFill>
                  <a:srgbClr val="141B41"/>
                </a:solidFill>
                <a:latin typeface="+mn-lt"/>
              </a:rPr>
              <a:t>SQLite tests by suite</a:t>
            </a:r>
          </a:p>
        </c:rich>
      </c:tx>
      <c:layout/>
      <c:overlay val="0"/>
    </c:title>
    <c:autoTitleDeleted val="0"/>
    <c:plotArea>
      <c:layout/>
      <c:barChart>
        <c:barDir val="bar"/>
        <c:grouping val="clustered"/>
        <c:varyColors val="0"/>
        <c:ser>
          <c:idx val="0"/>
          <c:order val="0"/>
          <c:tx>
            <c:strRef>
              <c:f>Sheet1!$B$1</c:f>
              <c:strCache>
                <c:ptCount val="1"/>
                <c:pt idx="0">
                  <c:v>Tests passed</c:v>
                </c:pt>
              </c:strCache>
            </c:strRef>
          </c:tx>
          <c:spPr>
            <a:solidFill>
              <a:srgbClr val="3D5A9B"/>
            </a:solidFill>
            <a:effectLst/>
          </c:spPr>
          <c:invertIfNegative val="0"/>
          <c:dLbls>
            <c:numFmt formatCode="#,##0" sourceLinked="0"/>
            <c:txPr>
              <a:bodyPr/>
              <a:lstStyle/>
              <a:p>
                <a:pPr>
                  <a:defRPr b="0" i="0" strike="noStrike" sz="1100" u="none">
                    <a:solidFill>
                      <a:srgbClr val="1B2146"/>
                    </a:solidFill>
                    <a:latin typeface="+mn-lt"/>
                  </a:defRPr>
                </a:pPr>
              </a:p>
            </c:txPr>
            <c:showLegendKey val="0"/>
            <c:showVal val="1"/>
            <c:showCatName val="0"/>
            <c:showSerName val="0"/>
            <c:showPercent val="0"/>
            <c:showBubbleSize val="0"/>
            <c:showLeaderLines val="0"/>
          </c:dLbls>
          <c:cat>
            <c:multiLvlStrRef>
              <c:f>Sheet1!$A$2:$A$9</c:f>
              <c:multiLvlStrCache>
                <c:ptCount val="8"/>
                <c:lvl>
                  <c:pt idx="0">
                    <c:v>Web / CRUD</c:v>
                  </c:pt>
                  <c:pt idx="1">
                    <c:v>Authentication + roles</c:v>
                  </c:pt>
                  <c:pt idx="2">
                    <c:v>Payroll processing</c:v>
                  </c:pt>
                  <c:pt idx="3">
                    <c:v>Database</c:v>
                  </c:pt>
                  <c:pt idx="4">
                    <c:v>Triggers + views</c:v>
                  </c:pt>
                  <c:pt idx="5">
                    <c:v>Explorer</c:v>
                  </c:pt>
                  <c:pt idx="6">
                    <c:v>Password reset + words</c:v>
                  </c:pt>
                  <c:pt idx="7">
                    <c:v>Calculation</c:v>
                  </c:pt>
                </c:lvl>
              </c:multiLvlStrCache>
            </c:multiLvlStrRef>
          </c:cat>
          <c:val>
            <c:numRef>
              <c:f>Sheet1!$B$2:$B$9</c:f>
              <c:numCache>
                <c:formatCode>General</c:formatCode>
                <c:ptCount val="8"/>
                <c:pt idx="0">
                  <c:v>17</c:v>
                </c:pt>
                <c:pt idx="1">
                  <c:v>13</c:v>
                </c:pt>
                <c:pt idx="2">
                  <c:v>9</c:v>
                </c:pt>
                <c:pt idx="3">
                  <c:v>9</c:v>
                </c:pt>
                <c:pt idx="4">
                  <c:v>6</c:v>
                </c:pt>
                <c:pt idx="5">
                  <c:v>6</c:v>
                </c:pt>
                <c:pt idx="6">
                  <c:v>9</c:v>
                </c:pt>
                <c:pt idx="7">
                  <c:v>5</c:v>
                </c:pt>
              </c:numCache>
            </c:numRef>
          </c:val>
        </c:ser>
        <c:dLbls>
          <c:numFmt formatCode="#,##0" sourceLinked="0"/>
          <c:txPr>
            <a:bodyPr/>
            <a:lstStyle/>
            <a:p>
              <a:pPr>
                <a:defRPr b="0" i="0" strike="noStrike" sz="1100" u="none">
                  <a:solidFill>
                    <a:srgbClr val="1B2146"/>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146"/>
                </a:solidFill>
                <a:latin typeface="+mn-lt"/>
              </a:defRPr>
            </a:pPr>
            <a:endParaRPr lang="en-US"/>
          </a:p>
        </c:txPr>
        <c:crossAx val="2094734552"/>
        <c:crosses val="autoZero"/>
        <c:auto val="1"/>
        <c:lblAlgn val="ctr"/>
        <c:noMultiLvlLbl val="1"/>
      </c:catAx>
      <c:valAx>
        <c:axId val="2094734552"/>
        <c:scaling>
          <c:orientation val="minMax"/>
          <c:max val="20"/>
          <c:min val="0"/>
        </c:scaling>
        <c:delete val="0"/>
        <c:axPos val="b"/>
        <c:majorGridlines>
          <c:spPr>
            <a:ln w="6350" cap="flat">
              <a:solidFill>
                <a:srgbClr val="D9E2F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694"/>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G Madhan from AI ML Rhinos. This is the final review, DBMS Review 3, for Project 36, the Employee Payroll and Statutory Deduction Management System. In Review 1 I presented the design and in Review 2 the database and prototype. Today I will show the finished application, run through the payroll workflow, show the SQL and reports, the test results, the honest limitations, and the concepts I am ready to answer questions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from Review 1 is unchanged: small and mid-sized organisations still calculate salary in spreadsheets, which causes mistakes in loss of pay, statutory deductions and loan recovery, and leaves no reliable payslip or audit trail. The solution is a relational database that is the single source of truth, plus a web application on top of it. All twelve requirements from Review 1 are implemented. Since Review 2 I added login with three roles, database triggers that lock paid payroll and write an audit trail, reporting views, a Database Explorer for the administrator, and I tested the MySQL scripts on a real MySQL 8 server. All data in the demo is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maps every functional requirement from Review 1 to what exists in the application. All twelve are implemented and each has a page or SQL evidence behind it. The bank transfer requirement is implemented as simulated records: the system creates a transfer row per payslip and lets the officer mark them paid, but there is no real bank connection. Loan management goes slightly beyond Review 1 with a repayment history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is organised into eight modules that follow the sidebar. Master data covers departments and designations. Employees has search, add, edit, delete and a profile page. Salary and attendance hold the monthly inputs. Earnings and deductions hold bonuses and manual deductions, while statutory deductions are generated automatically and shown read-only. Loans track EMI and outstanding balance. Payroll periods drive processing. Payslips and bank transfers are the outputs. Reports includes the editable illustrative rates page for the administrator. New since Review 2 are login with roles and the Database Explorer.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entity relationship diagram. The twelve Review 1 entities are all here, plus two additions: Loan Repayment and Payroll Config. App User and Audit Log are on the next slide. Department and Designation each have many employees. Employee has exactly one salary structure and many attendance, earnings, deduction and loan rows. A payroll period has many payroll detail rows, one per employee per month, and each payroll detail has exactly one payslip and one bank transfer. A loan repayment links a loan to the payroll run in which it was deducted, or to nothing when it is a manual repayment.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tables were added after Review 2. App User stores login accounts: username, role and a salted password hash, never the password. An employee account is linked to an employee row. Audit Log has no foreign keys on purpose: it is written only by database triggers. There are six triggers. Three audit triggers fire after an update of a salary structure, an employee's status, or a payroll rate, and write the old and new values to Audit Log. Three lock triggers fire before an insert, update or delete on payroll detail and refuse the change when the payroll period is no longer OPEN, so paid payroll cannot be altered even by someone who bypasses the application. The trigger on the right is the SQLite version; MySQL uses SIGNAL instead of RAISE, so I wrote the two files separately. There are also three views for reporting. I tested all of this on SQLite and on a real MySQL 8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summarises the final relational schema: sixteen tables, sixteen primary keys and seventeen foreign keys. App User and Audit Log are the two tables added after Review 2. Most tables are in third normal form. Payroll detail is the one deliberate exception: it stores a snapshot of the calculated gross, deductions and net for each employee and month, so that a payslip never changes later even if the salary structure or rates are edited. Loss of pay days are not stored because they can be derived from working days, days present and paid leave. Row counts are the counts in the current demo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finished dashboard after October 2026 has been processed. The tiles and charts are live SQL aggregates, not typed-in numbers: active employees, gross, deductions and net for the latest processed period, departments, open loans and outstanding balance, and pending transfers. The charts compare gross, deductions and net across the three payroll months and show headcount by department. The screenshot was taken from the running application against the synthetic demo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now requires a login. There are three roles. The administrator can do everything, including editing rates, managing user accounts and using the Database Explorer. HR can manage employees, salaries, attendance, loans and run payroll, but cannot open rates, users or the explorer. An employee can see only their own profile, loans and payslips: on the left is the employee view for EMP003 Pranav, and on the right is what happens when that employee tries to open the payroll register: a 403 Not allowed page. Passwords are never stored; only salted PBKDF2 hashes are. Every form carries a CSRF token, five failed logins lock a username for five minutes, the session is renewed at login, and a Forgot password link creates a signed reset link that expires after fifteen minutes and works only once. The demo has no e-mail server, so the link is shown on screen. This is a local demo: there is no HTTPS and the login throttle is in memory, so I do not claim it is ready for the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order I will follow in the live demo, and it takes about five minutes. One: sign in as the administrator and show the dashboard. Two: open the employee list and add a new employee. Three: show the salary structure and the October attendance. Four: show the loan with its repayment history. Five: process October payroll with one click. Six: open a payslip and check the arithmetic. Seven: generate bank transfers and mark them paid. Eight: open the Database Explorer to show the triggers, the audit trail and the read-only SQL console, then a report with its SQL. Every step in the deck corresponds to a real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Payroll runs through a fixed life cycle. First the officer enters or confirms the inputs for the month: attendance, extra earnings and manual deductions. A period starts as OPEN. Pressing Process payroll calculates every active employee in one database transaction, writes the payroll detail, the itemised deduction rows, the payslip numbers and the loan repayments, and moves the period to PROCESSED. Because it is one transaction, any failure rolls everything back, and from then on database triggers refuse any change to that period's payroll rows. Then Generate bank transfers creates one pending transfer per payslip, and Mark transfers paid completes the cycle and sets the period to PAID. Once processed, the inputs for that period are locked, and a period cannot be processed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payroll rules, and I want to be clear that the rates are illustrative and editable in the configuration table; they are not official statutory rates. Gross is the fixed salary components minus loss of pay plus any extra earnings. Provident fund is twelve percent of basic capped at fifteen thousand. ESI is zero point seven five percent of gross, only when gross is twenty-one thousand or less. Professional tax is a flat two hundred above fifteen thousand. TDS is a simple five percent of gross above fifty thousand. Loan EMI is the smaller of the EMI and the outstanding balance. On the right is a worked example for employee EMP003 in October 2026: fixed gross is one lakh one hundred thirty rupees, PF is eighteen hundred, PT two hundred, TDS twenty-five hundred and six point five, EMI five thousand, so total deductions are nine thousand five hundred six point five and net salary is ninety thousand six hundred twenty-three point five. These numbers are also hand-checked in the unit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payslip for EMP003 in October, generated by the application from the payroll detail row. It shows the earnings and deductions side by side, the gross, total deductions and the net salary payable, the working and loss of pay days, the bank details, and the linked bank transfer reference. The payslip number is built from the year, month and employee code. It can be printed or saved as PDF from the browser. The footer states plainly that the rates are illustrative and the data is synthetic. The figures match the worked example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processing, the system generates one transfer record per payslip using the employee's stored bank details, the net salary as the amount, and a reference number. On the left they are PENDING. After the officer chooses Mark transfers paid, they become SUCCESS with a date, as on the right, and the period moves to PAID. I want to be explicit that this is a simulation of the record keeping: there is no connection to any real bank and no money moves. The bank account numbers are fake.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reports page offers seven reports, and each one has a View SQL button that shows the exact query that produced it. They are: payroll summary by period, department wise payroll cost, statutory deduction breakdown, top five net salaries, employees above their department's average gross, active loans with outstanding balance, and active employees without payroll in the selected period. The screenshot on the right shows the subquery report with its SQL expanded, which is useful in the viva because the query and result are on one screen. The payroll register can also be exported to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simplified excerpts from database/queries.sql, which I run in full as part of the automated tests. On the left is the cross-check I use to prove the payroll is internally consistent: for every payroll row, net must equal gross minus total deductions. The query returns zero rows when the data is correct. In the middle is NOT EXISTS, which finds active employees that have no payroll yet for a period. On the right is an aggregate with GROUP BY that totals gross, deductions and net per period. The same file also contains inner and left joins, HAVING, scalar, IN, correlated and derived-table subqueries, and a view for payslip summaries.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Explorer is an administrator-only page that reads the live structure of the connected database: tables with row counts, columns, primary keys, foreign keys with their delete rules, the three views and the six triggers. Below it is a SQL console. It accepts a single SELECT, runs it on a separate read-only connection with a five second limit and a two hundred row limit, and refuses the user table so password hashes are never shown. On the left I ran a SELECT on the department cost view. On the right I typed a DELETE and it was refused. The strip at the bottom is a real audit row: I edited a salary structure through the normal form and the database trigger recorded the old and new salary. The same page works on MySQL; I tested introspection and the console there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results from the three payroll months in the demo database, taken directly from the database. Each month has twenty-nine paid employees; the thirtieth employee is inactive and is skipped. Gross is about nineteen and a half lakh to nineteen point six lakh a month, total deductions rise from about 1.19 lakh in August to 1.39 lakh in October, and net salary stays around eighteen lakh. The table beside the chart gives the exact numbers. The data is synthetic, so these are demonstration results, not statistics of any real 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screenshots show the database protecting the data. On the left I tried to add an employee with a code that already exists. The UNIQUE constraint rejected it and the application shows a readable message instead of a stack trace. On the right I tried to add a bonus to August 2026, which is already paid. The application refuses because processed periods are locked. Together with foreign keys, CHECK constraints and ON DELETE RESTRICT on payroll history, these rules mean a payroll record cannot be silently changed or orphaned.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74 automated SQLite tests pass, and a separate suite of 11 tests also passes on a real MySQL 8.0.46 server. The recorded outputs are in tests slash test_results dot txt and test_results_mysql dot txt. The SQLite suites cover calculation against hand-computed numbers, database constraints, payroll processing including rollback and double processing, the triggers and views, authentication and roles, password reset, amounts in words, the explorer, and the web layer. The MySQL suite checks that the payroll totals are identical to SQLite, that constraints and triggers work, that queries dot sql runs completely, and that the web app works and processes October. The MySQL run found one real bug: MySQL reports a violated CHECK constraint and a trigger signal as an operational error instead of an integrity error, which would have crashed pages; it is fixed. What I have not tested: the GitHub Actions workflow has not run yet, other MySQL versions or MariaDB, other browsers than headless Chromium, and many concurrent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honest about what this project is not. Security is demo-grade: there are roles, hashed passwords and CSRF tokens, but no HTTPS, and the login throttle is in memory. The bank transfers are simulated records. The deduction rates are illustrative and editable, and are not official statutory rates, so the output must not be used for real payroll. The MySQL scripts were run and tested on one server, version 8.0.46; other versions and MariaDB are untested. The data is synthetic with about thirty employees. Finally, the audit trail records what changed but not which web user changed it, because triggers cannot see the web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 took the Review 1 design and delivered a working payroll system. The database has sixteen tables with primary keys, foreign keys, unique and check constraints, plus triggers and views. The payroll engine computes gross, statutory and loan deductions and net salary for each employee in one safe transaction. Payslips, simulated bank transfers and seven reports are produced from that data, with login roles on top. 74 automated tests pass on SQLite and 11 on a real MySQL 8 server. The project taught me that the database should enforce the rules, not only the application. With more time I would replace the illustrative rates with official ones, record the acting user in the audit trail, add PDF payslips and deploy behind HTTPS.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DBMS concepts in this project that I can explain and show in the code. Normalisation: the schema is in third normal form, with payroll detail as a deliberate snapshot. Keys: every table has a primary key, and sixteen foreign keys link them. Constraints: UNIQUE on employee code and email, CHECK on amounts and status values. Referential actions: RESTRICT protects paid history, CASCADE removes employee inputs. Transactions: payroll processing is atomic with commit and rollback. Joins and subqueries are in queries.sql. Indexes speed up lookups by period and employee. Derived data: loss of pay days are computed, not stored, to avoid redundancy.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questions I expect, with short answers. Why is payroll detail stored if it can be calculated? Because a payslip must not change if rates or salaries are edited later, so it is a deliberate snapshot. Why RESTRICT on payroll history? So paid records cannot be deleted by accident. How do you avoid a half-finished payroll? The whole run is one transaction. Where are the deduction rates? In payroll_config, and they are illustrative. Is the bank transfer real? No, it is a simulated record. Does it use MySQL? The scripts support MySQL 8 and the app runs on SQLite by default; I tested both, SQLite with 74 tests and a real MySQL 8.0.46 server with 11. What would you add next? Official tax rules, and recording the acting user in the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I used: the official documentation for Flask, SQLite, MySQL 8, PyMySQL, Bootstrap and Chart.js, and two standard textbooks for the database theory. The deduction rates in this project are illustrative and are not taken from any statutory document, so I have not cited any tax or provident fund rules as a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source code, SQL scripts, screenshots, report and test results are in the submission folder. I am happy to demonstrate any part of the application live or to answer questions on the database design, the SQL, or the payroll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457200" y="4846320"/>
            <a:ext cx="7680960" cy="201168"/>
          </a:xfrm>
          <a:prstGeom prst="rect">
            <a:avLst/>
          </a:prstGeom>
          <a:noFill/>
          <a:ln/>
        </p:spPr>
        <p:txBody>
          <a:bodyPr wrap="square" lIns="0" tIns="0" rIns="0" bIns="0" rtlCol="0" anchor="ctr"/>
          <a:lstStyle/>
          <a:p>
            <a:pPr indent="0" marL="0">
              <a:buNone/>
            </a:pPr>
            <a:r>
              <a:rPr lang="en-US" sz="900" dirty="0">
                <a:solidFill>
                  <a:schemeClr val="tx1">
                    <a:alpha val="65000"/>
                  </a:schemeClr>
                </a:solidFill>
              </a:rPr>
              <a:t>PROJECT 36  |  EMPLOYEE PAYROLL AND STATUTORY DEDUCTION MANAGEMENT SYSTEM  |  DBMS REVIEW 3</a:t>
            </a:r>
            <a:endParaRPr lang="en-US" sz="9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457200" y="4846320"/>
            <a:ext cx="7680960" cy="201168"/>
          </a:xfrm>
          <a:prstGeom prst="rect">
            <a:avLst/>
          </a:prstGeom>
          <a:noFill/>
          <a:ln/>
        </p:spPr>
        <p:txBody>
          <a:bodyPr wrap="square" lIns="0" tIns="0" rIns="0" bIns="0" rtlCol="0" anchor="ctr"/>
          <a:lstStyle/>
          <a:p>
            <a:pPr indent="0" marL="0">
              <a:buNone/>
            </a:pPr>
            <a:r>
              <a:rPr lang="en-US" sz="900" dirty="0">
                <a:solidFill>
                  <a:schemeClr val="bg1">
                    <a:alpha val="55000"/>
                  </a:schemeClr>
                </a:solidFill>
              </a:rPr>
              <a:t>PROJECT 36  |  EMPLOYEE PAYROLL AND STATUTORY DEDUCTION MANAGEMENT SYSTEM  |  DBMS REVIEW 3</a:t>
            </a:r>
            <a:endParaRPr lang="en-US" sz="9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4.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slideLayout" Target="../slideLayouts/slideLayout2.xml"/><Relationship Id="rId1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8-1.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20-1.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2.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6400800" y="-1828800"/>
            <a:ext cx="4206240" cy="4206240"/>
          </a:xfrm>
          <a:prstGeom prst="ellipse">
            <a:avLst/>
          </a:prstGeom>
          <a:solidFill>
            <a:schemeClr val="accent3"/>
          </a:solidFill>
          <a:ln w="12700">
            <a:solidFill>
              <a:schemeClr val="accent3"/>
            </a:solidFill>
            <a:prstDash val="solid"/>
          </a:ln>
        </p:spPr>
      </p:sp>
      <p:sp>
        <p:nvSpPr>
          <p:cNvPr id="4" name="Shape 1"/>
          <p:cNvSpPr/>
          <p:nvPr/>
        </p:nvSpPr>
        <p:spPr>
          <a:xfrm>
            <a:off x="-1463040" y="3291840"/>
            <a:ext cx="3291840" cy="3291840"/>
          </a:xfrm>
          <a:prstGeom prst="ellipse">
            <a:avLst/>
          </a:prstGeom>
          <a:solidFill>
            <a:schemeClr val="accent3"/>
          </a:solidFill>
          <a:ln w="12700">
            <a:solidFill>
              <a:schemeClr val="accent3"/>
            </a:solidFill>
            <a:prstDash val="solid"/>
          </a:ln>
        </p:spPr>
      </p:sp>
      <p:sp>
        <p:nvSpPr>
          <p:cNvPr id="5" name="Text 2"/>
          <p:cNvSpPr txBox="1"/>
          <p:nvPr/>
        </p:nvSpPr>
        <p:spPr>
          <a:xfrm>
            <a:off x="2468880" y="411480"/>
            <a:ext cx="4206240" cy="329184"/>
          </a:xfrm>
          <a:prstGeom prst="roundRect">
            <a:avLst>
              <a:gd name="adj" fmla="val 41667"/>
            </a:avLst>
          </a:prstGeom>
          <a:solidFill>
            <a:schemeClr val="accent1"/>
          </a:solidFill>
          <a:ln/>
        </p:spPr>
        <p:txBody>
          <a:bodyPr wrap="square" lIns="0" tIns="0" rIns="0" bIns="0" rtlCol="0" anchor="ctr"/>
          <a:lstStyle/>
          <a:p>
            <a:pPr algn="ctr" indent="0" marL="0">
              <a:buNone/>
            </a:pPr>
            <a:r>
              <a:rPr lang="en-US" sz="1100" b="1" dirty="0">
                <a:solidFill>
                  <a:schemeClr val="bg1"/>
                </a:solidFill>
              </a:rPr>
              <a:t>PROJECT 36   |   DBMS REVIEW 3   |   FINAL</a:t>
            </a:r>
            <a:endParaRPr lang="en-US" sz="1100" dirty="0"/>
          </a:p>
        </p:txBody>
      </p:sp>
      <p:sp>
        <p:nvSpPr>
          <p:cNvPr id="6" name="Text 3"/>
          <p:cNvSpPr txBox="1"/>
          <p:nvPr/>
        </p:nvSpPr>
        <p:spPr>
          <a:xfrm>
            <a:off x="914400" y="914400"/>
            <a:ext cx="7315200" cy="1371600"/>
          </a:xfrm>
          <a:prstGeom prst="rect">
            <a:avLst/>
          </a:prstGeom>
          <a:noFill/>
          <a:ln/>
        </p:spPr>
        <p:txBody>
          <a:bodyPr wrap="square" lIns="0" tIns="0" rIns="0" bIns="0" rtlCol="0" anchor="ctr"/>
          <a:lstStyle/>
          <a:p>
            <a:pPr algn="ctr" indent="0" marL="0">
              <a:buNone/>
            </a:pPr>
            <a:r>
              <a:rPr lang="en-US" sz="3200" b="1" dirty="0">
                <a:solidFill>
                  <a:schemeClr val="bg1"/>
                </a:solidFill>
                <a:latin typeface="Cambria" pitchFamily="34" charset="0"/>
                <a:ea typeface="Cambria" pitchFamily="34" charset="-122"/>
                <a:cs typeface="Cambria" pitchFamily="34" charset="-120"/>
              </a:rPr>
              <a:t>EMPLOYEE PAYROLL AND STATUTORY DEDUCTION MANAGEMENT SYSTEM</a:t>
            </a:r>
            <a:endParaRPr lang="en-US" sz="3200" dirty="0"/>
          </a:p>
        </p:txBody>
      </p:sp>
      <p:sp>
        <p:nvSpPr>
          <p:cNvPr id="7" name="Text 4"/>
          <p:cNvSpPr txBox="1"/>
          <p:nvPr/>
        </p:nvSpPr>
        <p:spPr>
          <a:xfrm>
            <a:off x="914400" y="2331720"/>
            <a:ext cx="7315200" cy="365760"/>
          </a:xfrm>
          <a:prstGeom prst="rect">
            <a:avLst/>
          </a:prstGeom>
          <a:noFill/>
          <a:ln/>
        </p:spPr>
        <p:txBody>
          <a:bodyPr wrap="square" lIns="0" tIns="0" rIns="0" bIns="0" rtlCol="0" anchor="t"/>
          <a:lstStyle/>
          <a:p>
            <a:pPr algn="ctr" indent="0" marL="0">
              <a:buNone/>
            </a:pPr>
            <a:r>
              <a:rPr lang="en-US" sz="1600" i="1" dirty="0">
                <a:solidFill>
                  <a:schemeClr val="accent4"/>
                </a:solidFill>
              </a:rPr>
              <a:t>Final application, security, results and viva readiness</a:t>
            </a:r>
            <a:endParaRPr lang="en-US" sz="1600" dirty="0"/>
          </a:p>
        </p:txBody>
      </p:sp>
      <p:sp>
        <p:nvSpPr>
          <p:cNvPr id="8" name="Shape 5"/>
          <p:cNvSpPr/>
          <p:nvPr/>
        </p:nvSpPr>
        <p:spPr>
          <a:xfrm>
            <a:off x="1188720" y="2880360"/>
            <a:ext cx="548640" cy="548640"/>
          </a:xfrm>
          <a:prstGeom prst="ellipse">
            <a:avLst/>
          </a:prstGeom>
          <a:solidFill>
            <a:schemeClr val="bg1"/>
          </a:solidFill>
          <a:ln w="12700">
            <a:solidFill>
              <a:schemeClr val="bg1"/>
            </a:solidFill>
            <a:prstDash val="solid"/>
          </a:ln>
        </p:spPr>
      </p:sp>
      <p:pic>
        <p:nvPicPr>
          <p:cNvPr id="9" name="Image 0" descr="preencoded.png">    </p:cNvPr>
          <p:cNvPicPr>
            <a:picLocks noChangeAspect="1"/>
          </p:cNvPicPr>
          <p:nvPr/>
        </p:nvPicPr>
        <p:blipFill>
          <a:blip r:embed="rId1"/>
          <a:stretch>
            <a:fillRect/>
          </a:stretch>
        </p:blipFill>
        <p:spPr>
          <a:xfrm>
            <a:off x="1331366" y="3023006"/>
            <a:ext cx="263347" cy="263347"/>
          </a:xfrm>
          <a:prstGeom prst="rect">
            <a:avLst/>
          </a:prstGeom>
        </p:spPr>
      </p:pic>
      <p:sp>
        <p:nvSpPr>
          <p:cNvPr id="10" name="Text 6"/>
          <p:cNvSpPr txBox="1"/>
          <p:nvPr/>
        </p:nvSpPr>
        <p:spPr>
          <a:xfrm>
            <a:off x="914400" y="3474720"/>
            <a:ext cx="1097280" cy="228600"/>
          </a:xfrm>
          <a:prstGeom prst="rect">
            <a:avLst/>
          </a:prstGeom>
          <a:noFill/>
          <a:ln/>
        </p:spPr>
        <p:txBody>
          <a:bodyPr wrap="square" lIns="0" tIns="0" rIns="0" bIns="0" rtlCol="0" anchor="t"/>
          <a:lstStyle/>
          <a:p>
            <a:pPr algn="ctr" indent="0" marL="0">
              <a:buNone/>
            </a:pPr>
            <a:r>
              <a:rPr lang="en-US" sz="1100" dirty="0">
                <a:solidFill>
                  <a:schemeClr val="accent4"/>
                </a:solidFill>
              </a:rPr>
              <a:t>16 tables</a:t>
            </a:r>
            <a:endParaRPr lang="en-US" sz="1100" dirty="0"/>
          </a:p>
        </p:txBody>
      </p:sp>
      <p:sp>
        <p:nvSpPr>
          <p:cNvPr id="11" name="Shape 7"/>
          <p:cNvSpPr/>
          <p:nvPr/>
        </p:nvSpPr>
        <p:spPr>
          <a:xfrm>
            <a:off x="2377440" y="2880360"/>
            <a:ext cx="548640" cy="548640"/>
          </a:xfrm>
          <a:prstGeom prst="ellipse">
            <a:avLst/>
          </a:prstGeom>
          <a:solidFill>
            <a:schemeClr val="bg1"/>
          </a:solidFill>
          <a:ln w="12700">
            <a:solidFill>
              <a:schemeClr val="bg1"/>
            </a:solidFill>
            <a:prstDash val="solid"/>
          </a:ln>
        </p:spPr>
      </p:sp>
      <p:pic>
        <p:nvPicPr>
          <p:cNvPr id="12" name="Image 1" descr="preencoded.png">    </p:cNvPr>
          <p:cNvPicPr>
            <a:picLocks noChangeAspect="1"/>
          </p:cNvPicPr>
          <p:nvPr/>
        </p:nvPicPr>
        <p:blipFill>
          <a:blip r:embed="rId2"/>
          <a:stretch>
            <a:fillRect/>
          </a:stretch>
        </p:blipFill>
        <p:spPr>
          <a:xfrm>
            <a:off x="2520086" y="3023006"/>
            <a:ext cx="263347" cy="263347"/>
          </a:xfrm>
          <a:prstGeom prst="rect">
            <a:avLst/>
          </a:prstGeom>
        </p:spPr>
      </p:pic>
      <p:sp>
        <p:nvSpPr>
          <p:cNvPr id="13" name="Text 8"/>
          <p:cNvSpPr txBox="1"/>
          <p:nvPr/>
        </p:nvSpPr>
        <p:spPr>
          <a:xfrm>
            <a:off x="2103120" y="3474720"/>
            <a:ext cx="1097280" cy="228600"/>
          </a:xfrm>
          <a:prstGeom prst="rect">
            <a:avLst/>
          </a:prstGeom>
          <a:noFill/>
          <a:ln/>
        </p:spPr>
        <p:txBody>
          <a:bodyPr wrap="square" lIns="0" tIns="0" rIns="0" bIns="0" rtlCol="0" anchor="t"/>
          <a:lstStyle/>
          <a:p>
            <a:pPr algn="ctr" indent="0" marL="0">
              <a:buNone/>
            </a:pPr>
            <a:r>
              <a:rPr lang="en-US" sz="1100" dirty="0">
                <a:solidFill>
                  <a:schemeClr val="accent4"/>
                </a:solidFill>
              </a:rPr>
              <a:t>Payroll engine</a:t>
            </a:r>
            <a:endParaRPr lang="en-US" sz="1100" dirty="0"/>
          </a:p>
        </p:txBody>
      </p:sp>
      <p:sp>
        <p:nvSpPr>
          <p:cNvPr id="14" name="Shape 9"/>
          <p:cNvSpPr/>
          <p:nvPr/>
        </p:nvSpPr>
        <p:spPr>
          <a:xfrm>
            <a:off x="3566160" y="2880360"/>
            <a:ext cx="548640" cy="548640"/>
          </a:xfrm>
          <a:prstGeom prst="ellipse">
            <a:avLst/>
          </a:prstGeom>
          <a:solidFill>
            <a:schemeClr val="bg1"/>
          </a:solidFill>
          <a:ln w="12700">
            <a:solidFill>
              <a:schemeClr val="bg1"/>
            </a:solidFill>
            <a:prstDash val="solid"/>
          </a:ln>
        </p:spPr>
      </p:sp>
      <p:pic>
        <p:nvPicPr>
          <p:cNvPr id="15" name="Image 2" descr="preencoded.png">    </p:cNvPr>
          <p:cNvPicPr>
            <a:picLocks noChangeAspect="1"/>
          </p:cNvPicPr>
          <p:nvPr/>
        </p:nvPicPr>
        <p:blipFill>
          <a:blip r:embed="rId3"/>
          <a:stretch>
            <a:fillRect/>
          </a:stretch>
        </p:blipFill>
        <p:spPr>
          <a:xfrm>
            <a:off x="3708806" y="3023006"/>
            <a:ext cx="263347" cy="263347"/>
          </a:xfrm>
          <a:prstGeom prst="rect">
            <a:avLst/>
          </a:prstGeom>
        </p:spPr>
      </p:pic>
      <p:sp>
        <p:nvSpPr>
          <p:cNvPr id="16" name="Text 10"/>
          <p:cNvSpPr txBox="1"/>
          <p:nvPr/>
        </p:nvSpPr>
        <p:spPr>
          <a:xfrm>
            <a:off x="3291840" y="3474720"/>
            <a:ext cx="1097280" cy="228600"/>
          </a:xfrm>
          <a:prstGeom prst="rect">
            <a:avLst/>
          </a:prstGeom>
          <a:noFill/>
          <a:ln/>
        </p:spPr>
        <p:txBody>
          <a:bodyPr wrap="square" lIns="0" tIns="0" rIns="0" bIns="0" rtlCol="0" anchor="t"/>
          <a:lstStyle/>
          <a:p>
            <a:pPr algn="ctr" indent="0" marL="0">
              <a:buNone/>
            </a:pPr>
            <a:r>
              <a:rPr lang="en-US" sz="1100" dirty="0">
                <a:solidFill>
                  <a:schemeClr val="accent4"/>
                </a:solidFill>
              </a:rPr>
              <a:t>Payslips</a:t>
            </a:r>
            <a:endParaRPr lang="en-US" sz="1100" dirty="0"/>
          </a:p>
        </p:txBody>
      </p:sp>
      <p:sp>
        <p:nvSpPr>
          <p:cNvPr id="17" name="Shape 11"/>
          <p:cNvSpPr/>
          <p:nvPr/>
        </p:nvSpPr>
        <p:spPr>
          <a:xfrm>
            <a:off x="4754880" y="2880360"/>
            <a:ext cx="548640" cy="548640"/>
          </a:xfrm>
          <a:prstGeom prst="ellipse">
            <a:avLst/>
          </a:prstGeom>
          <a:solidFill>
            <a:schemeClr val="bg1"/>
          </a:solidFill>
          <a:ln w="12700">
            <a:solidFill>
              <a:schemeClr val="bg1"/>
            </a:solidFill>
            <a:prstDash val="solid"/>
          </a:ln>
        </p:spPr>
      </p:sp>
      <p:pic>
        <p:nvPicPr>
          <p:cNvPr id="18" name="Image 3" descr="preencoded.png">    </p:cNvPr>
          <p:cNvPicPr>
            <a:picLocks noChangeAspect="1"/>
          </p:cNvPicPr>
          <p:nvPr/>
        </p:nvPicPr>
        <p:blipFill>
          <a:blip r:embed="rId4"/>
          <a:stretch>
            <a:fillRect/>
          </a:stretch>
        </p:blipFill>
        <p:spPr>
          <a:xfrm>
            <a:off x="4897526" y="3023006"/>
            <a:ext cx="263347" cy="263347"/>
          </a:xfrm>
          <a:prstGeom prst="rect">
            <a:avLst/>
          </a:prstGeom>
        </p:spPr>
      </p:pic>
      <p:sp>
        <p:nvSpPr>
          <p:cNvPr id="19" name="Text 12"/>
          <p:cNvSpPr txBox="1"/>
          <p:nvPr/>
        </p:nvSpPr>
        <p:spPr>
          <a:xfrm>
            <a:off x="4480560" y="3474720"/>
            <a:ext cx="1097280" cy="228600"/>
          </a:xfrm>
          <a:prstGeom prst="rect">
            <a:avLst/>
          </a:prstGeom>
          <a:noFill/>
          <a:ln/>
        </p:spPr>
        <p:txBody>
          <a:bodyPr wrap="square" lIns="0" tIns="0" rIns="0" bIns="0" rtlCol="0" anchor="t"/>
          <a:lstStyle/>
          <a:p>
            <a:pPr algn="ctr" indent="0" marL="0">
              <a:buNone/>
            </a:pPr>
            <a:r>
              <a:rPr lang="en-US" sz="1100" dirty="0">
                <a:solidFill>
                  <a:schemeClr val="accent4"/>
                </a:solidFill>
              </a:rPr>
              <a:t>Transfers</a:t>
            </a:r>
            <a:endParaRPr lang="en-US" sz="1100" dirty="0"/>
          </a:p>
        </p:txBody>
      </p:sp>
      <p:sp>
        <p:nvSpPr>
          <p:cNvPr id="20" name="Shape 13"/>
          <p:cNvSpPr/>
          <p:nvPr/>
        </p:nvSpPr>
        <p:spPr>
          <a:xfrm>
            <a:off x="5943600" y="2880360"/>
            <a:ext cx="548640" cy="548640"/>
          </a:xfrm>
          <a:prstGeom prst="ellipse">
            <a:avLst/>
          </a:prstGeom>
          <a:solidFill>
            <a:schemeClr val="bg1"/>
          </a:solidFill>
          <a:ln w="12700">
            <a:solidFill>
              <a:schemeClr val="bg1"/>
            </a:solidFill>
            <a:prstDash val="solid"/>
          </a:ln>
        </p:spPr>
      </p:sp>
      <p:pic>
        <p:nvPicPr>
          <p:cNvPr id="21" name="Image 4" descr="preencoded.png">    </p:cNvPr>
          <p:cNvPicPr>
            <a:picLocks noChangeAspect="1"/>
          </p:cNvPicPr>
          <p:nvPr/>
        </p:nvPicPr>
        <p:blipFill>
          <a:blip r:embed="rId5"/>
          <a:stretch>
            <a:fillRect/>
          </a:stretch>
        </p:blipFill>
        <p:spPr>
          <a:xfrm>
            <a:off x="6086246" y="3023006"/>
            <a:ext cx="263347" cy="263347"/>
          </a:xfrm>
          <a:prstGeom prst="rect">
            <a:avLst/>
          </a:prstGeom>
        </p:spPr>
      </p:pic>
      <p:sp>
        <p:nvSpPr>
          <p:cNvPr id="22" name="Text 14"/>
          <p:cNvSpPr txBox="1"/>
          <p:nvPr/>
        </p:nvSpPr>
        <p:spPr>
          <a:xfrm>
            <a:off x="5669280" y="3474720"/>
            <a:ext cx="1097280" cy="228600"/>
          </a:xfrm>
          <a:prstGeom prst="rect">
            <a:avLst/>
          </a:prstGeom>
          <a:noFill/>
          <a:ln/>
        </p:spPr>
        <p:txBody>
          <a:bodyPr wrap="square" lIns="0" tIns="0" rIns="0" bIns="0" rtlCol="0" anchor="t"/>
          <a:lstStyle/>
          <a:p>
            <a:pPr algn="ctr" indent="0" marL="0">
              <a:buNone/>
            </a:pPr>
            <a:r>
              <a:rPr lang="en-US" sz="1100" dirty="0">
                <a:solidFill>
                  <a:schemeClr val="accent4"/>
                </a:solidFill>
              </a:rPr>
              <a:t>Reports</a:t>
            </a:r>
            <a:endParaRPr lang="en-US" sz="1100" dirty="0"/>
          </a:p>
        </p:txBody>
      </p:sp>
      <p:sp>
        <p:nvSpPr>
          <p:cNvPr id="23" name="Shape 15"/>
          <p:cNvSpPr/>
          <p:nvPr/>
        </p:nvSpPr>
        <p:spPr>
          <a:xfrm>
            <a:off x="7132320" y="2880360"/>
            <a:ext cx="548640" cy="548640"/>
          </a:xfrm>
          <a:prstGeom prst="ellipse">
            <a:avLst/>
          </a:prstGeom>
          <a:solidFill>
            <a:schemeClr val="bg1"/>
          </a:solidFill>
          <a:ln w="12700">
            <a:solidFill>
              <a:schemeClr val="bg1"/>
            </a:solidFill>
            <a:prstDash val="solid"/>
          </a:ln>
        </p:spPr>
      </p:sp>
      <p:pic>
        <p:nvPicPr>
          <p:cNvPr id="24" name="Image 5" descr="preencoded.png">    </p:cNvPr>
          <p:cNvPicPr>
            <a:picLocks noChangeAspect="1"/>
          </p:cNvPicPr>
          <p:nvPr/>
        </p:nvPicPr>
        <p:blipFill>
          <a:blip r:embed="rId6"/>
          <a:stretch>
            <a:fillRect/>
          </a:stretch>
        </p:blipFill>
        <p:spPr>
          <a:xfrm>
            <a:off x="7274966" y="3023006"/>
            <a:ext cx="263347" cy="263347"/>
          </a:xfrm>
          <a:prstGeom prst="rect">
            <a:avLst/>
          </a:prstGeom>
        </p:spPr>
      </p:pic>
      <p:sp>
        <p:nvSpPr>
          <p:cNvPr id="25" name="Text 16"/>
          <p:cNvSpPr txBox="1"/>
          <p:nvPr/>
        </p:nvSpPr>
        <p:spPr>
          <a:xfrm>
            <a:off x="6858000" y="3474720"/>
            <a:ext cx="1097280" cy="228600"/>
          </a:xfrm>
          <a:prstGeom prst="rect">
            <a:avLst/>
          </a:prstGeom>
          <a:noFill/>
          <a:ln/>
        </p:spPr>
        <p:txBody>
          <a:bodyPr wrap="square" lIns="0" tIns="0" rIns="0" bIns="0" rtlCol="0" anchor="t"/>
          <a:lstStyle/>
          <a:p>
            <a:pPr algn="ctr" indent="0" marL="0">
              <a:buNone/>
            </a:pPr>
            <a:r>
              <a:rPr lang="en-US" sz="1100" dirty="0">
                <a:solidFill>
                  <a:schemeClr val="accent4"/>
                </a:solidFill>
              </a:rPr>
              <a:t>74 + 11 tests</a:t>
            </a:r>
            <a:endParaRPr lang="en-US" sz="1100" dirty="0"/>
          </a:p>
        </p:txBody>
      </p:sp>
      <p:sp>
        <p:nvSpPr>
          <p:cNvPr id="26" name="Shape 17"/>
          <p:cNvSpPr/>
          <p:nvPr/>
        </p:nvSpPr>
        <p:spPr>
          <a:xfrm>
            <a:off x="914400" y="3931920"/>
            <a:ext cx="7315200" cy="777240"/>
          </a:xfrm>
          <a:prstGeom prst="roundRect">
            <a:avLst>
              <a:gd name="adj" fmla="val 9412"/>
            </a:avLst>
          </a:prstGeom>
          <a:solidFill>
            <a:schemeClr val="accent3"/>
          </a:solidFill>
          <a:ln w="12700">
            <a:solidFill>
              <a:schemeClr val="accent3"/>
            </a:solidFill>
            <a:prstDash val="solid"/>
          </a:ln>
        </p:spPr>
      </p:sp>
      <p:sp>
        <p:nvSpPr>
          <p:cNvPr id="27" name="Text 18"/>
          <p:cNvSpPr txBox="1"/>
          <p:nvPr/>
        </p:nvSpPr>
        <p:spPr>
          <a:xfrm>
            <a:off x="1188720" y="4041648"/>
            <a:ext cx="5029200" cy="548640"/>
          </a:xfrm>
          <a:prstGeom prst="rect">
            <a:avLst/>
          </a:prstGeom>
          <a:noFill/>
          <a:ln/>
        </p:spPr>
        <p:txBody>
          <a:bodyPr wrap="square" lIns="0" tIns="0" rIns="0" bIns="0" rtlCol="0" anchor="ctr"/>
          <a:lstStyle/>
          <a:p>
            <a:pPr indent="0" marL="0">
              <a:buNone/>
            </a:pPr>
            <a:r>
              <a:rPr lang="en-US" sz="1100" b="1" dirty="0">
                <a:solidFill>
                  <a:schemeClr val="accent2"/>
                </a:solidFill>
              </a:rPr>
              <a:t>PRESENTED BY   </a:t>
            </a:r>
            <a:pPr indent="0" marL="0">
              <a:buNone/>
            </a:pPr>
            <a:r>
              <a:rPr lang="en-US" sz="1800" b="1" dirty="0">
                <a:solidFill>
                  <a:schemeClr val="accent2"/>
                </a:solidFill>
              </a:rPr>
              <a:t>G MADHAN   25WU0102344</a:t>
            </a:r>
            <a:endParaRPr lang="en-US" sz="1100" dirty="0"/>
          </a:p>
        </p:txBody>
      </p:sp>
      <p:sp>
        <p:nvSpPr>
          <p:cNvPr id="28" name="Text 19"/>
          <p:cNvSpPr txBox="1"/>
          <p:nvPr/>
        </p:nvSpPr>
        <p:spPr>
          <a:xfrm>
            <a:off x="6583680" y="4041648"/>
            <a:ext cx="1554480" cy="548640"/>
          </a:xfrm>
          <a:prstGeom prst="rect">
            <a:avLst/>
          </a:prstGeom>
          <a:noFill/>
          <a:ln/>
        </p:spPr>
        <p:txBody>
          <a:bodyPr wrap="square" lIns="0" tIns="0" rIns="0" bIns="0" rtlCol="0" anchor="ctr"/>
          <a:lstStyle/>
          <a:p>
            <a:pPr indent="0" marL="0">
              <a:buNone/>
            </a:pPr>
            <a:r>
              <a:rPr lang="en-US" sz="1100" b="1" dirty="0">
                <a:solidFill>
                  <a:schemeClr val="accent2"/>
                </a:solidFill>
              </a:rPr>
              <a:t>Department</a:t>
            </a:r>
            <a:endParaRPr lang="en-US" sz="1100" dirty="0"/>
          </a:p>
          <a:p>
            <a:pPr indent="0" marL="0">
              <a:buNone/>
            </a:pPr>
            <a:r>
              <a:rPr lang="en-US" sz="1400" dirty="0">
                <a:solidFill>
                  <a:schemeClr val="bg1"/>
                </a:solidFill>
              </a:rPr>
              <a:t>AI ML RHINOS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Final Project Overview</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57200" y="1143000"/>
            <a:ext cx="4023360" cy="1417320"/>
          </a:xfrm>
          <a:prstGeom prst="roundRect">
            <a:avLst>
              <a:gd name="adj" fmla="val 5161"/>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7" name="Text 3"/>
          <p:cNvSpPr txBox="1"/>
          <p:nvPr/>
        </p:nvSpPr>
        <p:spPr>
          <a:xfrm>
            <a:off x="640080" y="1216152"/>
            <a:ext cx="3657600" cy="274320"/>
          </a:xfrm>
          <a:prstGeom prst="rect">
            <a:avLst/>
          </a:prstGeom>
          <a:noFill/>
          <a:ln/>
        </p:spPr>
        <p:txBody>
          <a:bodyPr wrap="square" lIns="0" tIns="0" rIns="0" bIns="0" rtlCol="0" anchor="t"/>
          <a:lstStyle/>
          <a:p>
            <a:pPr indent="0" marL="0">
              <a:buNone/>
            </a:pPr>
            <a:r>
              <a:rPr lang="en-US" sz="1500" b="1" dirty="0">
                <a:solidFill>
                  <a:schemeClr val="tx2"/>
                </a:solidFill>
              </a:rPr>
              <a:t>Problem (Review 1)</a:t>
            </a:r>
            <a:endParaRPr lang="en-US" sz="1500" dirty="0"/>
          </a:p>
        </p:txBody>
      </p:sp>
      <p:sp>
        <p:nvSpPr>
          <p:cNvPr id="8" name="Text 4"/>
          <p:cNvSpPr txBox="1"/>
          <p:nvPr/>
        </p:nvSpPr>
        <p:spPr>
          <a:xfrm>
            <a:off x="640080" y="1536192"/>
            <a:ext cx="3657600" cy="960120"/>
          </a:xfrm>
          <a:prstGeom prst="rect">
            <a:avLst/>
          </a:prstGeom>
          <a:noFill/>
          <a:ln/>
        </p:spPr>
        <p:txBody>
          <a:bodyPr wrap="square" lIns="0" tIns="0" rIns="0" bIns="0" rtlCol="0" anchor="t"/>
          <a:lstStyle/>
          <a:p>
            <a:pPr indent="0" marL="0">
              <a:buNone/>
            </a:pPr>
            <a:r>
              <a:rPr lang="en-US" sz="1300" dirty="0">
                <a:solidFill>
                  <a:schemeClr val="tx1"/>
                </a:solidFill>
              </a:rPr>
              <a:t>Manual or spreadsheet payroll gives calculation errors, inconsistent statutory deductions, untracked loans and no reliable payslip history.</a:t>
            </a:r>
            <a:endParaRPr lang="en-US" sz="1300" dirty="0"/>
          </a:p>
        </p:txBody>
      </p:sp>
      <p:sp>
        <p:nvSpPr>
          <p:cNvPr id="9" name="Shape 5"/>
          <p:cNvSpPr/>
          <p:nvPr/>
        </p:nvSpPr>
        <p:spPr>
          <a:xfrm>
            <a:off x="4663440" y="1143000"/>
            <a:ext cx="4023360" cy="1417320"/>
          </a:xfrm>
          <a:prstGeom prst="roundRect">
            <a:avLst>
              <a:gd name="adj" fmla="val 5161"/>
            </a:avLst>
          </a:prstGeom>
          <a:solidFill>
            <a:schemeClr val="accent3"/>
          </a:solidFill>
          <a:ln w="12700">
            <a:solidFill>
              <a:schemeClr val="accent3"/>
            </a:solidFill>
            <a:prstDash val="solid"/>
          </a:ln>
        </p:spPr>
      </p:sp>
      <p:sp>
        <p:nvSpPr>
          <p:cNvPr id="10" name="Text 6"/>
          <p:cNvSpPr txBox="1"/>
          <p:nvPr/>
        </p:nvSpPr>
        <p:spPr>
          <a:xfrm>
            <a:off x="4846320" y="1216152"/>
            <a:ext cx="3657600" cy="274320"/>
          </a:xfrm>
          <a:prstGeom prst="rect">
            <a:avLst/>
          </a:prstGeom>
          <a:noFill/>
          <a:ln/>
        </p:spPr>
        <p:txBody>
          <a:bodyPr wrap="square" lIns="0" tIns="0" rIns="0" bIns="0" rtlCol="0" anchor="t"/>
          <a:lstStyle/>
          <a:p>
            <a:pPr indent="0" marL="0">
              <a:buNone/>
            </a:pPr>
            <a:r>
              <a:rPr lang="en-US" sz="1500" b="1" dirty="0">
                <a:solidFill>
                  <a:schemeClr val="accent2"/>
                </a:solidFill>
              </a:rPr>
              <a:t>Solution</a:t>
            </a:r>
            <a:endParaRPr lang="en-US" sz="1500" dirty="0"/>
          </a:p>
        </p:txBody>
      </p:sp>
      <p:sp>
        <p:nvSpPr>
          <p:cNvPr id="11" name="Text 7"/>
          <p:cNvSpPr txBox="1"/>
          <p:nvPr/>
        </p:nvSpPr>
        <p:spPr>
          <a:xfrm>
            <a:off x="4846320" y="1536192"/>
            <a:ext cx="3657600" cy="960120"/>
          </a:xfrm>
          <a:prstGeom prst="rect">
            <a:avLst/>
          </a:prstGeom>
          <a:noFill/>
          <a:ln/>
        </p:spPr>
        <p:txBody>
          <a:bodyPr wrap="square" lIns="0" tIns="0" rIns="0" bIns="0" rtlCol="0" anchor="t"/>
          <a:lstStyle/>
          <a:p>
            <a:pPr indent="0" marL="0">
              <a:buNone/>
            </a:pPr>
            <a:r>
              <a:rPr lang="en-US" sz="1300" dirty="0">
                <a:solidFill>
                  <a:schemeClr val="bg1"/>
                </a:solidFill>
              </a:rPr>
              <a:t>A normalised 16-table database with constraints, triggers and views, a payroll engine that writes gross, deductions and net per employee per month, and a secure Flask web interface.</a:t>
            </a:r>
            <a:endParaRPr lang="en-US" sz="1300" dirty="0"/>
          </a:p>
        </p:txBody>
      </p:sp>
      <p:sp>
        <p:nvSpPr>
          <p:cNvPr id="12" name="Shape 8"/>
          <p:cNvSpPr/>
          <p:nvPr/>
        </p:nvSpPr>
        <p:spPr>
          <a:xfrm>
            <a:off x="457200" y="2788920"/>
            <a:ext cx="1554480" cy="914400"/>
          </a:xfrm>
          <a:prstGeom prst="roundRect">
            <a:avLst>
              <a:gd name="adj" fmla="val 8000"/>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3" name="Text 9"/>
          <p:cNvSpPr txBox="1"/>
          <p:nvPr/>
        </p:nvSpPr>
        <p:spPr>
          <a:xfrm>
            <a:off x="457200" y="2916936"/>
            <a:ext cx="1554480" cy="457200"/>
          </a:xfrm>
          <a:prstGeom prst="rect">
            <a:avLst/>
          </a:prstGeom>
          <a:noFill/>
          <a:ln/>
        </p:spPr>
        <p:txBody>
          <a:bodyPr wrap="square" lIns="0" tIns="0" rIns="0" bIns="0" rtlCol="0" anchor="ctr"/>
          <a:lstStyle/>
          <a:p>
            <a:pPr algn="ctr" indent="0" marL="0">
              <a:buNone/>
            </a:pPr>
            <a:r>
              <a:rPr lang="en-US" sz="2600" b="1" dirty="0">
                <a:solidFill>
                  <a:schemeClr val="accent3"/>
                </a:solidFill>
                <a:latin typeface="Cambria" pitchFamily="34" charset="0"/>
                <a:ea typeface="Cambria" pitchFamily="34" charset="-122"/>
                <a:cs typeface="Cambria" pitchFamily="34" charset="-120"/>
              </a:rPr>
              <a:t>16</a:t>
            </a:r>
            <a:endParaRPr lang="en-US" sz="2600" dirty="0"/>
          </a:p>
        </p:txBody>
      </p:sp>
      <p:sp>
        <p:nvSpPr>
          <p:cNvPr id="14" name="Text 10"/>
          <p:cNvSpPr txBox="1"/>
          <p:nvPr/>
        </p:nvSpPr>
        <p:spPr>
          <a:xfrm>
            <a:off x="548640" y="3355848"/>
            <a:ext cx="1371600" cy="274320"/>
          </a:xfrm>
          <a:prstGeom prst="rect">
            <a:avLst/>
          </a:prstGeom>
          <a:noFill/>
          <a:ln/>
        </p:spPr>
        <p:txBody>
          <a:bodyPr wrap="square" lIns="0" tIns="0" rIns="0" bIns="0" rtlCol="0" anchor="t"/>
          <a:lstStyle/>
          <a:p>
            <a:pPr algn="ctr" indent="0" marL="0">
              <a:buNone/>
            </a:pPr>
            <a:r>
              <a:rPr lang="en-US" sz="1200" dirty="0">
                <a:solidFill>
                  <a:schemeClr val="tx1"/>
                </a:solidFill>
              </a:rPr>
              <a:t>tables (3NF)</a:t>
            </a:r>
            <a:endParaRPr lang="en-US" sz="1200" dirty="0"/>
          </a:p>
        </p:txBody>
      </p:sp>
      <p:sp>
        <p:nvSpPr>
          <p:cNvPr id="15" name="Shape 11"/>
          <p:cNvSpPr/>
          <p:nvPr/>
        </p:nvSpPr>
        <p:spPr>
          <a:xfrm>
            <a:off x="2130552" y="2788920"/>
            <a:ext cx="1554480" cy="914400"/>
          </a:xfrm>
          <a:prstGeom prst="roundRect">
            <a:avLst>
              <a:gd name="adj" fmla="val 8000"/>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6" name="Text 12"/>
          <p:cNvSpPr txBox="1"/>
          <p:nvPr/>
        </p:nvSpPr>
        <p:spPr>
          <a:xfrm>
            <a:off x="2130552" y="2916936"/>
            <a:ext cx="1554480" cy="457200"/>
          </a:xfrm>
          <a:prstGeom prst="rect">
            <a:avLst/>
          </a:prstGeom>
          <a:noFill/>
          <a:ln/>
        </p:spPr>
        <p:txBody>
          <a:bodyPr wrap="square" lIns="0" tIns="0" rIns="0" bIns="0" rtlCol="0" anchor="ctr"/>
          <a:lstStyle/>
          <a:p>
            <a:pPr algn="ctr" indent="0" marL="0">
              <a:buNone/>
            </a:pPr>
            <a:r>
              <a:rPr lang="en-US" sz="2600" b="1" dirty="0">
                <a:solidFill>
                  <a:schemeClr val="accent3"/>
                </a:solidFill>
                <a:latin typeface="Cambria" pitchFamily="34" charset="0"/>
                <a:ea typeface="Cambria" pitchFamily="34" charset="-122"/>
                <a:cs typeface="Cambria" pitchFamily="34" charset="-120"/>
              </a:rPr>
              <a:t>12 / 12</a:t>
            </a:r>
            <a:endParaRPr lang="en-US" sz="2600" dirty="0"/>
          </a:p>
        </p:txBody>
      </p:sp>
      <p:sp>
        <p:nvSpPr>
          <p:cNvPr id="17" name="Text 13"/>
          <p:cNvSpPr txBox="1"/>
          <p:nvPr/>
        </p:nvSpPr>
        <p:spPr>
          <a:xfrm>
            <a:off x="2221992" y="3355848"/>
            <a:ext cx="1371600" cy="274320"/>
          </a:xfrm>
          <a:prstGeom prst="rect">
            <a:avLst/>
          </a:prstGeom>
          <a:noFill/>
          <a:ln/>
        </p:spPr>
        <p:txBody>
          <a:bodyPr wrap="square" lIns="0" tIns="0" rIns="0" bIns="0" rtlCol="0" anchor="t"/>
          <a:lstStyle/>
          <a:p>
            <a:pPr algn="ctr" indent="0" marL="0">
              <a:buNone/>
            </a:pPr>
            <a:r>
              <a:rPr lang="en-US" sz="1200" dirty="0">
                <a:solidFill>
                  <a:schemeClr val="tx1"/>
                </a:solidFill>
              </a:rPr>
              <a:t>requirements built</a:t>
            </a:r>
            <a:endParaRPr lang="en-US" sz="1200" dirty="0"/>
          </a:p>
        </p:txBody>
      </p:sp>
      <p:sp>
        <p:nvSpPr>
          <p:cNvPr id="18" name="Shape 14"/>
          <p:cNvSpPr/>
          <p:nvPr/>
        </p:nvSpPr>
        <p:spPr>
          <a:xfrm>
            <a:off x="3803904" y="2788920"/>
            <a:ext cx="1554480" cy="914400"/>
          </a:xfrm>
          <a:prstGeom prst="roundRect">
            <a:avLst>
              <a:gd name="adj" fmla="val 8000"/>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9" name="Text 15"/>
          <p:cNvSpPr txBox="1"/>
          <p:nvPr/>
        </p:nvSpPr>
        <p:spPr>
          <a:xfrm>
            <a:off x="3803904" y="2916936"/>
            <a:ext cx="1554480" cy="457200"/>
          </a:xfrm>
          <a:prstGeom prst="rect">
            <a:avLst/>
          </a:prstGeom>
          <a:noFill/>
          <a:ln/>
        </p:spPr>
        <p:txBody>
          <a:bodyPr wrap="square" lIns="0" tIns="0" rIns="0" bIns="0" rtlCol="0" anchor="ctr"/>
          <a:lstStyle/>
          <a:p>
            <a:pPr algn="ctr" indent="0" marL="0">
              <a:buNone/>
            </a:pPr>
            <a:r>
              <a:rPr lang="en-US" sz="2600" b="1" dirty="0">
                <a:solidFill>
                  <a:schemeClr val="accent3"/>
                </a:solidFill>
                <a:latin typeface="Cambria" pitchFamily="34" charset="0"/>
                <a:ea typeface="Cambria" pitchFamily="34" charset="-122"/>
                <a:cs typeface="Cambria" pitchFamily="34" charset="-120"/>
              </a:rPr>
              <a:t>74 + 11</a:t>
            </a:r>
            <a:endParaRPr lang="en-US" sz="2600" dirty="0"/>
          </a:p>
        </p:txBody>
      </p:sp>
      <p:sp>
        <p:nvSpPr>
          <p:cNvPr id="20" name="Text 16"/>
          <p:cNvSpPr txBox="1"/>
          <p:nvPr/>
        </p:nvSpPr>
        <p:spPr>
          <a:xfrm>
            <a:off x="3895344" y="3355848"/>
            <a:ext cx="1371600" cy="274320"/>
          </a:xfrm>
          <a:prstGeom prst="rect">
            <a:avLst/>
          </a:prstGeom>
          <a:noFill/>
          <a:ln/>
        </p:spPr>
        <p:txBody>
          <a:bodyPr wrap="square" lIns="0" tIns="0" rIns="0" bIns="0" rtlCol="0" anchor="t"/>
          <a:lstStyle/>
          <a:p>
            <a:pPr algn="ctr" indent="0" marL="0">
              <a:buNone/>
            </a:pPr>
            <a:r>
              <a:rPr lang="en-US" sz="1200" dirty="0">
                <a:solidFill>
                  <a:schemeClr val="tx1"/>
                </a:solidFill>
              </a:rPr>
              <a:t>tests: SQLite + MySQL</a:t>
            </a:r>
            <a:endParaRPr lang="en-US" sz="1200" dirty="0"/>
          </a:p>
        </p:txBody>
      </p:sp>
      <p:sp>
        <p:nvSpPr>
          <p:cNvPr id="21" name="Shape 17"/>
          <p:cNvSpPr/>
          <p:nvPr/>
        </p:nvSpPr>
        <p:spPr>
          <a:xfrm>
            <a:off x="5477256" y="2788920"/>
            <a:ext cx="1554480" cy="914400"/>
          </a:xfrm>
          <a:prstGeom prst="roundRect">
            <a:avLst>
              <a:gd name="adj" fmla="val 8000"/>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2" name="Text 18"/>
          <p:cNvSpPr txBox="1"/>
          <p:nvPr/>
        </p:nvSpPr>
        <p:spPr>
          <a:xfrm>
            <a:off x="5477256" y="2916936"/>
            <a:ext cx="1554480" cy="457200"/>
          </a:xfrm>
          <a:prstGeom prst="rect">
            <a:avLst/>
          </a:prstGeom>
          <a:noFill/>
          <a:ln/>
        </p:spPr>
        <p:txBody>
          <a:bodyPr wrap="square" lIns="0" tIns="0" rIns="0" bIns="0" rtlCol="0" anchor="ctr"/>
          <a:lstStyle/>
          <a:p>
            <a:pPr algn="ctr" indent="0" marL="0">
              <a:buNone/>
            </a:pPr>
            <a:r>
              <a:rPr lang="en-US" sz="2600" b="1" dirty="0">
                <a:solidFill>
                  <a:schemeClr val="accent3"/>
                </a:solidFill>
                <a:latin typeface="Cambria" pitchFamily="34" charset="0"/>
                <a:ea typeface="Cambria" pitchFamily="34" charset="-122"/>
                <a:cs typeface="Cambria" pitchFamily="34" charset="-120"/>
              </a:rPr>
              <a:t>6</a:t>
            </a:r>
            <a:endParaRPr lang="en-US" sz="2600" dirty="0"/>
          </a:p>
        </p:txBody>
      </p:sp>
      <p:sp>
        <p:nvSpPr>
          <p:cNvPr id="23" name="Text 19"/>
          <p:cNvSpPr txBox="1"/>
          <p:nvPr/>
        </p:nvSpPr>
        <p:spPr>
          <a:xfrm>
            <a:off x="5568696" y="3355848"/>
            <a:ext cx="1371600" cy="274320"/>
          </a:xfrm>
          <a:prstGeom prst="rect">
            <a:avLst/>
          </a:prstGeom>
          <a:noFill/>
          <a:ln/>
        </p:spPr>
        <p:txBody>
          <a:bodyPr wrap="square" lIns="0" tIns="0" rIns="0" bIns="0" rtlCol="0" anchor="t"/>
          <a:lstStyle/>
          <a:p>
            <a:pPr algn="ctr" indent="0" marL="0">
              <a:buNone/>
            </a:pPr>
            <a:r>
              <a:rPr lang="en-US" sz="1200" dirty="0">
                <a:solidFill>
                  <a:schemeClr val="tx1"/>
                </a:solidFill>
              </a:rPr>
              <a:t>triggers, 3 views</a:t>
            </a:r>
            <a:endParaRPr lang="en-US" sz="1200" dirty="0"/>
          </a:p>
        </p:txBody>
      </p:sp>
      <p:sp>
        <p:nvSpPr>
          <p:cNvPr id="24" name="Shape 20"/>
          <p:cNvSpPr/>
          <p:nvPr/>
        </p:nvSpPr>
        <p:spPr>
          <a:xfrm>
            <a:off x="7150608" y="2788920"/>
            <a:ext cx="1554480" cy="914400"/>
          </a:xfrm>
          <a:prstGeom prst="roundRect">
            <a:avLst>
              <a:gd name="adj" fmla="val 8000"/>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5" name="Text 21"/>
          <p:cNvSpPr txBox="1"/>
          <p:nvPr/>
        </p:nvSpPr>
        <p:spPr>
          <a:xfrm>
            <a:off x="7150608" y="2916936"/>
            <a:ext cx="1554480" cy="457200"/>
          </a:xfrm>
          <a:prstGeom prst="rect">
            <a:avLst/>
          </a:prstGeom>
          <a:noFill/>
          <a:ln/>
        </p:spPr>
        <p:txBody>
          <a:bodyPr wrap="square" lIns="0" tIns="0" rIns="0" bIns="0" rtlCol="0" anchor="ctr"/>
          <a:lstStyle/>
          <a:p>
            <a:pPr algn="ctr" indent="0" marL="0">
              <a:buNone/>
            </a:pPr>
            <a:r>
              <a:rPr lang="en-US" sz="2600" b="1" dirty="0">
                <a:solidFill>
                  <a:schemeClr val="accent3"/>
                </a:solidFill>
                <a:latin typeface="Cambria" pitchFamily="34" charset="0"/>
                <a:ea typeface="Cambria" pitchFamily="34" charset="-122"/>
                <a:cs typeface="Cambria" pitchFamily="34" charset="-120"/>
              </a:rPr>
              <a:t>3</a:t>
            </a:r>
            <a:endParaRPr lang="en-US" sz="2600" dirty="0"/>
          </a:p>
        </p:txBody>
      </p:sp>
      <p:sp>
        <p:nvSpPr>
          <p:cNvPr id="26" name="Text 22"/>
          <p:cNvSpPr txBox="1"/>
          <p:nvPr/>
        </p:nvSpPr>
        <p:spPr>
          <a:xfrm>
            <a:off x="7242048" y="3355848"/>
            <a:ext cx="1371600" cy="274320"/>
          </a:xfrm>
          <a:prstGeom prst="rect">
            <a:avLst/>
          </a:prstGeom>
          <a:noFill/>
          <a:ln/>
        </p:spPr>
        <p:txBody>
          <a:bodyPr wrap="square" lIns="0" tIns="0" rIns="0" bIns="0" rtlCol="0" anchor="t"/>
          <a:lstStyle/>
          <a:p>
            <a:pPr algn="ctr" indent="0" marL="0">
              <a:buNone/>
            </a:pPr>
            <a:r>
              <a:rPr lang="en-US" sz="1200" dirty="0">
                <a:solidFill>
                  <a:schemeClr val="tx1"/>
                </a:solidFill>
              </a:rPr>
              <a:t>roles with login</a:t>
            </a:r>
            <a:endParaRPr lang="en-US" sz="1200" dirty="0"/>
          </a:p>
        </p:txBody>
      </p:sp>
      <p:sp>
        <p:nvSpPr>
          <p:cNvPr id="27" name="Shape 23"/>
          <p:cNvSpPr/>
          <p:nvPr/>
        </p:nvSpPr>
        <p:spPr>
          <a:xfrm>
            <a:off x="457200" y="3886200"/>
            <a:ext cx="8229600" cy="777240"/>
          </a:xfrm>
          <a:prstGeom prst="roundRect">
            <a:avLst>
              <a:gd name="adj" fmla="val 9412"/>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8" name="Text 24"/>
          <p:cNvSpPr txBox="1"/>
          <p:nvPr/>
        </p:nvSpPr>
        <p:spPr>
          <a:xfrm>
            <a:off x="640080" y="3931920"/>
            <a:ext cx="7863840" cy="685800"/>
          </a:xfrm>
          <a:prstGeom prst="rect">
            <a:avLst/>
          </a:prstGeom>
          <a:noFill/>
          <a:ln/>
        </p:spPr>
        <p:txBody>
          <a:bodyPr wrap="square" lIns="0" tIns="0" rIns="0" bIns="0" rtlCol="0" anchor="ctr"/>
          <a:lstStyle/>
          <a:p>
            <a:pPr indent="0" marL="0">
              <a:buNone/>
            </a:pPr>
            <a:r>
              <a:rPr lang="en-US" sz="1300" b="1" dirty="0">
                <a:solidFill>
                  <a:schemeClr val="tx2"/>
                </a:solidFill>
              </a:rPr>
              <a:t>Users: </a:t>
            </a:r>
            <a:pPr indent="0" marL="0">
              <a:buNone/>
            </a:pPr>
            <a:r>
              <a:rPr lang="en-US" sz="1300" dirty="0">
                <a:solidFill>
                  <a:schemeClr val="tx1"/>
                </a:solidFill>
              </a:rPr>
              <a:t>ADMIN (everything, rates, users, explorer), HR / payroll officer (manage data, run payroll), EMPLOYEE (own payslips only). </a:t>
            </a:r>
            <a:pPr indent="0" marL="0">
              <a:buNone/>
            </a:pPr>
            <a:r>
              <a:rPr lang="en-US" sz="1300" b="1" dirty="0">
                <a:solidFill>
                  <a:schemeClr val="accent2"/>
                </a:solidFill>
              </a:rPr>
              <a:t>Scope: </a:t>
            </a:r>
            <a:pPr indent="0" marL="0">
              <a:buNone/>
            </a:pPr>
            <a:r>
              <a:rPr lang="en-US" sz="1300" dirty="0">
                <a:solidFill>
                  <a:schemeClr val="tx1"/>
                </a:solidFill>
              </a:rPr>
              <a:t>a local demo, not hardened for the internet.</a:t>
            </a:r>
            <a:endParaRPr lang="en-US" sz="13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Objectives vs Delivered Functionality</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365760"/>
                <a:gridCol w="3017520"/>
                <a:gridCol w="3291840"/>
                <a:gridCol w="1554480"/>
              </a:tblGrid>
              <a:tr h="256032">
                <a:tc>
                  <a:txBody>
                    <a:bodyPr/>
                    <a:lstStyle/>
                    <a:p>
                      <a:pPr indent="0" marL="0">
                        <a:buNone/>
                      </a:pPr>
                      <a:r>
                        <a:rPr lang="en-US" sz="1100" b="1" dirty="0">
                          <a:solidFill>
                            <a:schemeClr val="bg1"/>
                          </a:solidFill>
                        </a:rPr>
                        <a:t>#</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accent3"/>
                    </a:solidFill>
                  </a:tcPr>
                </a:tc>
                <a:tc>
                  <a:txBody>
                    <a:bodyPr/>
                    <a:lstStyle/>
                    <a:p>
                      <a:pPr indent="0" marL="0">
                        <a:buNone/>
                      </a:pPr>
                      <a:r>
                        <a:rPr lang="en-US" sz="1100" b="1" dirty="0">
                          <a:solidFill>
                            <a:schemeClr val="bg1"/>
                          </a:solidFill>
                        </a:rPr>
                        <a:t>Review 1 requirement</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accent3"/>
                    </a:solidFill>
                  </a:tcPr>
                </a:tc>
                <a:tc>
                  <a:txBody>
                    <a:bodyPr/>
                    <a:lstStyle/>
                    <a:p>
                      <a:pPr indent="0" marL="0">
                        <a:buNone/>
                      </a:pPr>
                      <a:r>
                        <a:rPr lang="en-US" sz="1100" b="1" dirty="0">
                          <a:solidFill>
                            <a:schemeClr val="bg1"/>
                          </a:solidFill>
                        </a:rPr>
                        <a:t>Where in the app</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accent3"/>
                    </a:solidFill>
                  </a:tcPr>
                </a:tc>
                <a:tc>
                  <a:txBody>
                    <a:bodyPr/>
                    <a:lstStyle/>
                    <a:p>
                      <a:pPr indent="0" marL="0">
                        <a:buNone/>
                      </a:pPr>
                      <a:r>
                        <a:rPr lang="en-US" sz="1100" b="1" dirty="0">
                          <a:solidFill>
                            <a:schemeClr val="bg1"/>
                          </a:solidFill>
                        </a:rPr>
                        <a:t>Status</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accent3"/>
                    </a:solidFill>
                  </a:tcPr>
                </a:tc>
              </a:tr>
              <a:tr h="256032">
                <a:tc>
                  <a:txBody>
                    <a:bodyPr/>
                    <a:lstStyle/>
                    <a:p>
                      <a:pPr indent="0" marL="0">
                        <a:buNone/>
                      </a:pPr>
                      <a:r>
                        <a:rPr lang="en-US" sz="1100" dirty="0">
                          <a:solidFill>
                            <a:schemeClr val="tx1"/>
                          </a:solidFill>
                        </a:rPr>
                        <a:t>1</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Employee records</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Employees, profile page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5"/>
                          </a:solidFill>
                        </a:rPr>
                        <a:t>Done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256032">
                <a:tc>
                  <a:txBody>
                    <a:bodyPr/>
                    <a:lstStyle/>
                    <a:p>
                      <a:pPr indent="0" marL="0">
                        <a:buNone/>
                      </a:pPr>
                      <a:r>
                        <a:rPr lang="en-US" sz="1100" dirty="0">
                          <a:solidFill>
                            <a:schemeClr val="tx1"/>
                          </a:solidFill>
                        </a:rPr>
                        <a:t>2</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Departments and designations</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Master data pages</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b="1" dirty="0">
                          <a:solidFill>
                            <a:schemeClr val="accent5"/>
                          </a:solidFill>
                        </a:rPr>
                        <a:t>Done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r h="256032">
                <a:tc>
                  <a:txBody>
                    <a:bodyPr/>
                    <a:lstStyle/>
                    <a:p>
                      <a:pPr indent="0" marL="0">
                        <a:buNone/>
                      </a:pPr>
                      <a:r>
                        <a:rPr lang="en-US" sz="1100" dirty="0">
                          <a:solidFill>
                            <a:schemeClr val="tx1"/>
                          </a:solidFill>
                        </a:rPr>
                        <a:t>3</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Salary structures</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Basic, HRA, DA, special</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5"/>
                          </a:solidFill>
                        </a:rPr>
                        <a:t>Done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256032">
                <a:tc>
                  <a:txBody>
                    <a:bodyPr/>
                    <a:lstStyle/>
                    <a:p>
                      <a:pPr indent="0" marL="0">
                        <a:buNone/>
                      </a:pPr>
                      <a:r>
                        <a:rPr lang="en-US" sz="1100" dirty="0">
                          <a:solidFill>
                            <a:schemeClr val="tx1"/>
                          </a:solidFill>
                        </a:rPr>
                        <a:t>4</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Attendance summaries</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Per period; LOP derived</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b="1" dirty="0">
                          <a:solidFill>
                            <a:schemeClr val="accent5"/>
                          </a:solidFill>
                        </a:rPr>
                        <a:t>Done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r h="256032">
                <a:tc>
                  <a:txBody>
                    <a:bodyPr/>
                    <a:lstStyle/>
                    <a:p>
                      <a:pPr indent="0" marL="0">
                        <a:buNone/>
                      </a:pPr>
                      <a:r>
                        <a:rPr lang="en-US" sz="1100" dirty="0">
                          <a:solidFill>
                            <a:schemeClr val="tx1"/>
                          </a:solidFill>
                        </a:rPr>
                        <a:t>5</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Earnings</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Bonus, overtime, incentive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5"/>
                          </a:solidFill>
                        </a:rPr>
                        <a:t>Done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256032">
                <a:tc>
                  <a:txBody>
                    <a:bodyPr/>
                    <a:lstStyle/>
                    <a:p>
                      <a:pPr indent="0" marL="0">
                        <a:buNone/>
                      </a:pPr>
                      <a:r>
                        <a:rPr lang="en-US" sz="1100" dirty="0">
                          <a:solidFill>
                            <a:schemeClr val="tx1"/>
                          </a:solidFill>
                        </a:rPr>
                        <a:t>6</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Statutory and other deductions</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AUTO and MANUAL rows</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b="1" dirty="0">
                          <a:solidFill>
                            <a:schemeClr val="accent5"/>
                          </a:solidFill>
                        </a:rPr>
                        <a:t>Done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r h="256032">
                <a:tc>
                  <a:txBody>
                    <a:bodyPr/>
                    <a:lstStyle/>
                    <a:p>
                      <a:pPr indent="0" marL="0">
                        <a:buNone/>
                      </a:pPr>
                      <a:r>
                        <a:rPr lang="en-US" sz="1100" dirty="0">
                          <a:solidFill>
                            <a:schemeClr val="tx1"/>
                          </a:solidFill>
                        </a:rPr>
                        <a:t>7</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Loans and repayments</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EMI, balance, history</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5"/>
                          </a:solidFill>
                        </a:rPr>
                        <a:t>Done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256032">
                <a:tc>
                  <a:txBody>
                    <a:bodyPr/>
                    <a:lstStyle/>
                    <a:p>
                      <a:pPr indent="0" marL="0">
                        <a:buNone/>
                      </a:pPr>
                      <a:r>
                        <a:rPr lang="en-US" sz="1100" dirty="0">
                          <a:solidFill>
                            <a:schemeClr val="tx1"/>
                          </a:solidFill>
                        </a:rPr>
                        <a:t>8</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Payroll periods</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OPEN &gt; PROCESSED &gt; PAID</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b="1" dirty="0">
                          <a:solidFill>
                            <a:schemeClr val="accent5"/>
                          </a:solidFill>
                        </a:rPr>
                        <a:t>Done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r h="256032">
                <a:tc>
                  <a:txBody>
                    <a:bodyPr/>
                    <a:lstStyle/>
                    <a:p>
                      <a:pPr indent="0" marL="0">
                        <a:buNone/>
                      </a:pPr>
                      <a:r>
                        <a:rPr lang="en-US" sz="1100" dirty="0">
                          <a:solidFill>
                            <a:schemeClr val="tx1"/>
                          </a:solidFill>
                        </a:rPr>
                        <a:t>9</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Gross, deductions, net</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payroll.py, one transaction</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5"/>
                          </a:solidFill>
                        </a:rPr>
                        <a:t>Done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256032">
                <a:tc>
                  <a:txBody>
                    <a:bodyPr/>
                    <a:lstStyle/>
                    <a:p>
                      <a:pPr indent="0" marL="0">
                        <a:buNone/>
                      </a:pPr>
                      <a:r>
                        <a:rPr lang="en-US" sz="1100" dirty="0">
                          <a:solidFill>
                            <a:schemeClr val="tx1"/>
                          </a:solidFill>
                        </a:rPr>
                        <a:t>10</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Payslips</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Printable, numbered</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b="1" dirty="0">
                          <a:solidFill>
                            <a:schemeClr val="accent5"/>
                          </a:solidFill>
                        </a:rPr>
                        <a:t>Done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r h="256032">
                <a:tc>
                  <a:txBody>
                    <a:bodyPr/>
                    <a:lstStyle/>
                    <a:p>
                      <a:pPr indent="0" marL="0">
                        <a:buNone/>
                      </a:pPr>
                      <a:r>
                        <a:rPr lang="en-US" sz="1100" dirty="0">
                          <a:solidFill>
                            <a:schemeClr val="tx1"/>
                          </a:solidFill>
                        </a:rPr>
                        <a:t>11</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Bank transfer details</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Simulated, no bank API</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5"/>
                          </a:solidFill>
                        </a:rPr>
                        <a:t>Done (simulated)</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256032">
                <a:tc>
                  <a:txBody>
                    <a:bodyPr/>
                    <a:lstStyle/>
                    <a:p>
                      <a:pPr indent="0" marL="0">
                        <a:buNone/>
                      </a:pPr>
                      <a:r>
                        <a:rPr lang="en-US" sz="1100" dirty="0">
                          <a:solidFill>
                            <a:schemeClr val="tx1"/>
                          </a:solidFill>
                        </a:rPr>
                        <a:t>12</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Payroll reports</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7 reports + CSV export</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100" b="1" dirty="0">
                          <a:solidFill>
                            <a:schemeClr val="accent5"/>
                          </a:solidFill>
                        </a:rPr>
                        <a:t>Done</a:t>
                      </a:r>
                      <a:endParaRPr lang="en-US" sz="11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bl>
          </a:graphicData>
        </a:graphic>
      </p:graphicFrame>
      <p:sp>
        <p:nvSpPr>
          <p:cNvPr id="7" name="Text 2"/>
          <p:cNvSpPr txBox="1"/>
          <p:nvPr/>
        </p:nvSpPr>
        <p:spPr>
          <a:xfrm>
            <a:off x="457200" y="4526280"/>
            <a:ext cx="8229600" cy="228600"/>
          </a:xfrm>
          <a:prstGeom prst="rect">
            <a:avLst/>
          </a:prstGeom>
          <a:noFill/>
          <a:ln/>
        </p:spPr>
        <p:txBody>
          <a:bodyPr wrap="square" lIns="0" tIns="0" rIns="0" bIns="0" rtlCol="0" anchor="t"/>
          <a:lstStyle/>
          <a:p>
            <a:pPr indent="0" marL="0">
              <a:buNone/>
            </a:pPr>
            <a:r>
              <a:rPr lang="en-US" sz="1100" i="1" dirty="0">
                <a:solidFill>
                  <a:schemeClr val="tx1"/>
                </a:solidFill>
              </a:rPr>
              <a:t>Beyond Review 1: login with roles, triggers, audit trail, views, Database Explorer (later slides).</a:t>
            </a:r>
            <a:endParaRPr lang="en-US" sz="11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Completed Modules</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57200" y="1143000"/>
            <a:ext cx="1920240" cy="1051560"/>
          </a:xfrm>
          <a:prstGeom prst="roundRect">
            <a:avLst>
              <a:gd name="adj" fmla="val 6957"/>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7" name="Shape 3"/>
          <p:cNvSpPr/>
          <p:nvPr/>
        </p:nvSpPr>
        <p:spPr>
          <a:xfrm>
            <a:off x="566928" y="1271016"/>
            <a:ext cx="457200" cy="457200"/>
          </a:xfrm>
          <a:prstGeom prst="ellipse">
            <a:avLst/>
          </a:prstGeom>
          <a:solidFill>
            <a:schemeClr val="accent3"/>
          </a:solidFill>
          <a:ln w="12700">
            <a:solidFill>
              <a:schemeClr val="accent3"/>
            </a:solidFill>
            <a:prstDash val="solid"/>
          </a:ln>
        </p:spPr>
      </p:sp>
      <p:pic>
        <p:nvPicPr>
          <p:cNvPr id="8" name="Image 1" descr="preencoded.png">    </p:cNvPr>
          <p:cNvPicPr>
            <a:picLocks noChangeAspect="1"/>
          </p:cNvPicPr>
          <p:nvPr/>
        </p:nvPicPr>
        <p:blipFill>
          <a:blip r:embed="rId2"/>
          <a:stretch>
            <a:fillRect/>
          </a:stretch>
        </p:blipFill>
        <p:spPr>
          <a:xfrm>
            <a:off x="685800" y="1389888"/>
            <a:ext cx="219456" cy="219456"/>
          </a:xfrm>
          <a:prstGeom prst="rect">
            <a:avLst/>
          </a:prstGeom>
        </p:spPr>
      </p:pic>
      <p:sp>
        <p:nvSpPr>
          <p:cNvPr id="9" name="Text 4"/>
          <p:cNvSpPr txBox="1"/>
          <p:nvPr/>
        </p:nvSpPr>
        <p:spPr>
          <a:xfrm>
            <a:off x="1097280" y="1252728"/>
            <a:ext cx="1234440" cy="502920"/>
          </a:xfrm>
          <a:prstGeom prst="rect">
            <a:avLst/>
          </a:prstGeom>
          <a:noFill/>
          <a:ln/>
        </p:spPr>
        <p:txBody>
          <a:bodyPr wrap="square" lIns="0" tIns="0" rIns="0" bIns="0" rtlCol="0" anchor="ctr"/>
          <a:lstStyle/>
          <a:p>
            <a:pPr indent="0" marL="0">
              <a:buNone/>
            </a:pPr>
            <a:r>
              <a:rPr lang="en-US" sz="1250" b="1" dirty="0">
                <a:solidFill>
                  <a:schemeClr val="tx2"/>
                </a:solidFill>
              </a:rPr>
              <a:t>Employees</a:t>
            </a:r>
            <a:endParaRPr lang="en-US" sz="1250" dirty="0"/>
          </a:p>
        </p:txBody>
      </p:sp>
      <p:sp>
        <p:nvSpPr>
          <p:cNvPr id="10" name="Text 5"/>
          <p:cNvSpPr txBox="1"/>
          <p:nvPr/>
        </p:nvSpPr>
        <p:spPr>
          <a:xfrm>
            <a:off x="566928" y="1801368"/>
            <a:ext cx="1737360" cy="320040"/>
          </a:xfrm>
          <a:prstGeom prst="rect">
            <a:avLst/>
          </a:prstGeom>
          <a:noFill/>
          <a:ln/>
        </p:spPr>
        <p:txBody>
          <a:bodyPr wrap="square" lIns="0" tIns="0" rIns="0" bIns="0" rtlCol="0" anchor="t"/>
          <a:lstStyle/>
          <a:p>
            <a:pPr indent="0" marL="0">
              <a:buNone/>
            </a:pPr>
            <a:r>
              <a:rPr lang="en-US" sz="1100" dirty="0">
                <a:solidFill>
                  <a:schemeClr val="tx1"/>
                </a:solidFill>
              </a:rPr>
              <a:t>CRUD, search, profile</a:t>
            </a:r>
            <a:endParaRPr lang="en-US" sz="1100" dirty="0"/>
          </a:p>
        </p:txBody>
      </p:sp>
      <p:sp>
        <p:nvSpPr>
          <p:cNvPr id="11" name="Shape 6"/>
          <p:cNvSpPr/>
          <p:nvPr/>
        </p:nvSpPr>
        <p:spPr>
          <a:xfrm>
            <a:off x="2542032" y="1143000"/>
            <a:ext cx="1920240" cy="1051560"/>
          </a:xfrm>
          <a:prstGeom prst="roundRect">
            <a:avLst>
              <a:gd name="adj" fmla="val 6957"/>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2" name="Shape 7"/>
          <p:cNvSpPr/>
          <p:nvPr/>
        </p:nvSpPr>
        <p:spPr>
          <a:xfrm>
            <a:off x="2651760" y="1271016"/>
            <a:ext cx="457200" cy="457200"/>
          </a:xfrm>
          <a:prstGeom prst="ellipse">
            <a:avLst/>
          </a:prstGeom>
          <a:solidFill>
            <a:schemeClr val="accent2"/>
          </a:solidFill>
          <a:ln w="12700">
            <a:solidFill>
              <a:schemeClr val="accent2"/>
            </a:solidFill>
            <a:prstDash val="solid"/>
          </a:ln>
        </p:spPr>
      </p:sp>
      <p:pic>
        <p:nvPicPr>
          <p:cNvPr id="13" name="Image 2" descr="preencoded.png">    </p:cNvPr>
          <p:cNvPicPr>
            <a:picLocks noChangeAspect="1"/>
          </p:cNvPicPr>
          <p:nvPr/>
        </p:nvPicPr>
        <p:blipFill>
          <a:blip r:embed="rId3"/>
          <a:stretch>
            <a:fillRect/>
          </a:stretch>
        </p:blipFill>
        <p:spPr>
          <a:xfrm>
            <a:off x="2770632" y="1389888"/>
            <a:ext cx="219456" cy="219456"/>
          </a:xfrm>
          <a:prstGeom prst="rect">
            <a:avLst/>
          </a:prstGeom>
        </p:spPr>
      </p:pic>
      <p:sp>
        <p:nvSpPr>
          <p:cNvPr id="14" name="Text 8"/>
          <p:cNvSpPr txBox="1"/>
          <p:nvPr/>
        </p:nvSpPr>
        <p:spPr>
          <a:xfrm>
            <a:off x="3182112" y="1252728"/>
            <a:ext cx="1234440" cy="502920"/>
          </a:xfrm>
          <a:prstGeom prst="rect">
            <a:avLst/>
          </a:prstGeom>
          <a:noFill/>
          <a:ln/>
        </p:spPr>
        <p:txBody>
          <a:bodyPr wrap="square" lIns="0" tIns="0" rIns="0" bIns="0" rtlCol="0" anchor="ctr"/>
          <a:lstStyle/>
          <a:p>
            <a:pPr indent="0" marL="0">
              <a:buNone/>
            </a:pPr>
            <a:r>
              <a:rPr lang="en-US" sz="1250" b="1" dirty="0">
                <a:solidFill>
                  <a:schemeClr val="tx2"/>
                </a:solidFill>
              </a:rPr>
              <a:t>Departments</a:t>
            </a:r>
            <a:endParaRPr lang="en-US" sz="1250" dirty="0"/>
          </a:p>
        </p:txBody>
      </p:sp>
      <p:sp>
        <p:nvSpPr>
          <p:cNvPr id="15" name="Text 9"/>
          <p:cNvSpPr txBox="1"/>
          <p:nvPr/>
        </p:nvSpPr>
        <p:spPr>
          <a:xfrm>
            <a:off x="2651760" y="1801368"/>
            <a:ext cx="1737360" cy="320040"/>
          </a:xfrm>
          <a:prstGeom prst="rect">
            <a:avLst/>
          </a:prstGeom>
          <a:noFill/>
          <a:ln/>
        </p:spPr>
        <p:txBody>
          <a:bodyPr wrap="square" lIns="0" tIns="0" rIns="0" bIns="0" rtlCol="0" anchor="t"/>
          <a:lstStyle/>
          <a:p>
            <a:pPr indent="0" marL="0">
              <a:buNone/>
            </a:pPr>
            <a:r>
              <a:rPr lang="en-US" sz="1100" dirty="0">
                <a:solidFill>
                  <a:schemeClr val="tx1"/>
                </a:solidFill>
              </a:rPr>
              <a:t>Designations, master data</a:t>
            </a:r>
            <a:endParaRPr lang="en-US" sz="1100" dirty="0"/>
          </a:p>
        </p:txBody>
      </p:sp>
      <p:sp>
        <p:nvSpPr>
          <p:cNvPr id="16" name="Shape 10"/>
          <p:cNvSpPr/>
          <p:nvPr/>
        </p:nvSpPr>
        <p:spPr>
          <a:xfrm>
            <a:off x="4626864" y="1143000"/>
            <a:ext cx="1920240" cy="1051560"/>
          </a:xfrm>
          <a:prstGeom prst="roundRect">
            <a:avLst>
              <a:gd name="adj" fmla="val 6957"/>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7" name="Shape 11"/>
          <p:cNvSpPr/>
          <p:nvPr/>
        </p:nvSpPr>
        <p:spPr>
          <a:xfrm>
            <a:off x="4736592" y="1271016"/>
            <a:ext cx="457200" cy="457200"/>
          </a:xfrm>
          <a:prstGeom prst="ellipse">
            <a:avLst/>
          </a:prstGeom>
          <a:solidFill>
            <a:schemeClr val="accent3"/>
          </a:solidFill>
          <a:ln w="12700">
            <a:solidFill>
              <a:schemeClr val="accent3"/>
            </a:solidFill>
            <a:prstDash val="solid"/>
          </a:ln>
        </p:spPr>
      </p:sp>
      <p:pic>
        <p:nvPicPr>
          <p:cNvPr id="18" name="Image 3" descr="preencoded.png">    </p:cNvPr>
          <p:cNvPicPr>
            <a:picLocks noChangeAspect="1"/>
          </p:cNvPicPr>
          <p:nvPr/>
        </p:nvPicPr>
        <p:blipFill>
          <a:blip r:embed="rId4"/>
          <a:stretch>
            <a:fillRect/>
          </a:stretch>
        </p:blipFill>
        <p:spPr>
          <a:xfrm>
            <a:off x="4855464" y="1389888"/>
            <a:ext cx="219456" cy="219456"/>
          </a:xfrm>
          <a:prstGeom prst="rect">
            <a:avLst/>
          </a:prstGeom>
        </p:spPr>
      </p:pic>
      <p:sp>
        <p:nvSpPr>
          <p:cNvPr id="19" name="Text 12"/>
          <p:cNvSpPr txBox="1"/>
          <p:nvPr/>
        </p:nvSpPr>
        <p:spPr>
          <a:xfrm>
            <a:off x="5266944" y="1252728"/>
            <a:ext cx="1234440" cy="502920"/>
          </a:xfrm>
          <a:prstGeom prst="rect">
            <a:avLst/>
          </a:prstGeom>
          <a:noFill/>
          <a:ln/>
        </p:spPr>
        <p:txBody>
          <a:bodyPr wrap="square" lIns="0" tIns="0" rIns="0" bIns="0" rtlCol="0" anchor="ctr"/>
          <a:lstStyle/>
          <a:p>
            <a:pPr indent="0" marL="0">
              <a:buNone/>
            </a:pPr>
            <a:r>
              <a:rPr lang="en-US" sz="1250" b="1" dirty="0">
                <a:solidFill>
                  <a:schemeClr val="tx2"/>
                </a:solidFill>
              </a:rPr>
              <a:t>Salary</a:t>
            </a:r>
            <a:endParaRPr lang="en-US" sz="1250" dirty="0"/>
          </a:p>
        </p:txBody>
      </p:sp>
      <p:sp>
        <p:nvSpPr>
          <p:cNvPr id="20" name="Text 13"/>
          <p:cNvSpPr txBox="1"/>
          <p:nvPr/>
        </p:nvSpPr>
        <p:spPr>
          <a:xfrm>
            <a:off x="4736592" y="1801368"/>
            <a:ext cx="1737360" cy="320040"/>
          </a:xfrm>
          <a:prstGeom prst="rect">
            <a:avLst/>
          </a:prstGeom>
          <a:noFill/>
          <a:ln/>
        </p:spPr>
        <p:txBody>
          <a:bodyPr wrap="square" lIns="0" tIns="0" rIns="0" bIns="0" rtlCol="0" anchor="t"/>
          <a:lstStyle/>
          <a:p>
            <a:pPr indent="0" marL="0">
              <a:buNone/>
            </a:pPr>
            <a:r>
              <a:rPr lang="en-US" sz="1100" dirty="0">
                <a:solidFill>
                  <a:schemeClr val="tx1"/>
                </a:solidFill>
              </a:rPr>
              <a:t>Structure per employee</a:t>
            </a:r>
            <a:endParaRPr lang="en-US" sz="1100" dirty="0"/>
          </a:p>
        </p:txBody>
      </p:sp>
      <p:sp>
        <p:nvSpPr>
          <p:cNvPr id="21" name="Shape 14"/>
          <p:cNvSpPr/>
          <p:nvPr/>
        </p:nvSpPr>
        <p:spPr>
          <a:xfrm>
            <a:off x="6711696" y="1143000"/>
            <a:ext cx="1920240" cy="1051560"/>
          </a:xfrm>
          <a:prstGeom prst="roundRect">
            <a:avLst>
              <a:gd name="adj" fmla="val 6957"/>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2" name="Shape 15"/>
          <p:cNvSpPr/>
          <p:nvPr/>
        </p:nvSpPr>
        <p:spPr>
          <a:xfrm>
            <a:off x="6821424" y="1271016"/>
            <a:ext cx="457200" cy="457200"/>
          </a:xfrm>
          <a:prstGeom prst="ellipse">
            <a:avLst/>
          </a:prstGeom>
          <a:solidFill>
            <a:schemeClr val="accent2"/>
          </a:solidFill>
          <a:ln w="12700">
            <a:solidFill>
              <a:schemeClr val="accent2"/>
            </a:solidFill>
            <a:prstDash val="solid"/>
          </a:ln>
        </p:spPr>
      </p:sp>
      <p:pic>
        <p:nvPicPr>
          <p:cNvPr id="23" name="Image 4" descr="preencoded.png">    </p:cNvPr>
          <p:cNvPicPr>
            <a:picLocks noChangeAspect="1"/>
          </p:cNvPicPr>
          <p:nvPr/>
        </p:nvPicPr>
        <p:blipFill>
          <a:blip r:embed="rId5"/>
          <a:stretch>
            <a:fillRect/>
          </a:stretch>
        </p:blipFill>
        <p:spPr>
          <a:xfrm>
            <a:off x="6940296" y="1389888"/>
            <a:ext cx="219456" cy="219456"/>
          </a:xfrm>
          <a:prstGeom prst="rect">
            <a:avLst/>
          </a:prstGeom>
        </p:spPr>
      </p:pic>
      <p:sp>
        <p:nvSpPr>
          <p:cNvPr id="24" name="Text 16"/>
          <p:cNvSpPr txBox="1"/>
          <p:nvPr/>
        </p:nvSpPr>
        <p:spPr>
          <a:xfrm>
            <a:off x="7351776" y="1252728"/>
            <a:ext cx="1234440" cy="502920"/>
          </a:xfrm>
          <a:prstGeom prst="rect">
            <a:avLst/>
          </a:prstGeom>
          <a:noFill/>
          <a:ln/>
        </p:spPr>
        <p:txBody>
          <a:bodyPr wrap="square" lIns="0" tIns="0" rIns="0" bIns="0" rtlCol="0" anchor="ctr"/>
          <a:lstStyle/>
          <a:p>
            <a:pPr indent="0" marL="0">
              <a:buNone/>
            </a:pPr>
            <a:r>
              <a:rPr lang="en-US" sz="1250" b="1" dirty="0">
                <a:solidFill>
                  <a:schemeClr val="tx2"/>
                </a:solidFill>
              </a:rPr>
              <a:t>Attendance</a:t>
            </a:r>
            <a:endParaRPr lang="en-US" sz="1250" dirty="0"/>
          </a:p>
        </p:txBody>
      </p:sp>
      <p:sp>
        <p:nvSpPr>
          <p:cNvPr id="25" name="Text 17"/>
          <p:cNvSpPr txBox="1"/>
          <p:nvPr/>
        </p:nvSpPr>
        <p:spPr>
          <a:xfrm>
            <a:off x="6821424" y="1801368"/>
            <a:ext cx="1737360" cy="320040"/>
          </a:xfrm>
          <a:prstGeom prst="rect">
            <a:avLst/>
          </a:prstGeom>
          <a:noFill/>
          <a:ln/>
        </p:spPr>
        <p:txBody>
          <a:bodyPr wrap="square" lIns="0" tIns="0" rIns="0" bIns="0" rtlCol="0" anchor="t"/>
          <a:lstStyle/>
          <a:p>
            <a:pPr indent="0" marL="0">
              <a:buNone/>
            </a:pPr>
            <a:r>
              <a:rPr lang="en-US" sz="1100" dirty="0">
                <a:solidFill>
                  <a:schemeClr val="tx1"/>
                </a:solidFill>
              </a:rPr>
              <a:t>Working, present, leave</a:t>
            </a:r>
            <a:endParaRPr lang="en-US" sz="1100" dirty="0"/>
          </a:p>
        </p:txBody>
      </p:sp>
      <p:sp>
        <p:nvSpPr>
          <p:cNvPr id="26" name="Shape 18"/>
          <p:cNvSpPr/>
          <p:nvPr/>
        </p:nvSpPr>
        <p:spPr>
          <a:xfrm>
            <a:off x="457200" y="2331720"/>
            <a:ext cx="1920240" cy="1051560"/>
          </a:xfrm>
          <a:prstGeom prst="roundRect">
            <a:avLst>
              <a:gd name="adj" fmla="val 6957"/>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7" name="Shape 19"/>
          <p:cNvSpPr/>
          <p:nvPr/>
        </p:nvSpPr>
        <p:spPr>
          <a:xfrm>
            <a:off x="566928" y="2459736"/>
            <a:ext cx="457200" cy="457200"/>
          </a:xfrm>
          <a:prstGeom prst="ellipse">
            <a:avLst/>
          </a:prstGeom>
          <a:solidFill>
            <a:schemeClr val="accent3"/>
          </a:solidFill>
          <a:ln w="12700">
            <a:solidFill>
              <a:schemeClr val="accent3"/>
            </a:solidFill>
            <a:prstDash val="solid"/>
          </a:ln>
        </p:spPr>
      </p:sp>
      <p:pic>
        <p:nvPicPr>
          <p:cNvPr id="28" name="Image 5" descr="preencoded.png">    </p:cNvPr>
          <p:cNvPicPr>
            <a:picLocks noChangeAspect="1"/>
          </p:cNvPicPr>
          <p:nvPr/>
        </p:nvPicPr>
        <p:blipFill>
          <a:blip r:embed="rId6"/>
          <a:stretch>
            <a:fillRect/>
          </a:stretch>
        </p:blipFill>
        <p:spPr>
          <a:xfrm>
            <a:off x="685800" y="2578608"/>
            <a:ext cx="219456" cy="219456"/>
          </a:xfrm>
          <a:prstGeom prst="rect">
            <a:avLst/>
          </a:prstGeom>
        </p:spPr>
      </p:pic>
      <p:sp>
        <p:nvSpPr>
          <p:cNvPr id="29" name="Text 20"/>
          <p:cNvSpPr txBox="1"/>
          <p:nvPr/>
        </p:nvSpPr>
        <p:spPr>
          <a:xfrm>
            <a:off x="1097280" y="2441448"/>
            <a:ext cx="1234440" cy="502920"/>
          </a:xfrm>
          <a:prstGeom prst="rect">
            <a:avLst/>
          </a:prstGeom>
          <a:noFill/>
          <a:ln/>
        </p:spPr>
        <p:txBody>
          <a:bodyPr wrap="square" lIns="0" tIns="0" rIns="0" bIns="0" rtlCol="0" anchor="ctr"/>
          <a:lstStyle/>
          <a:p>
            <a:pPr indent="0" marL="0">
              <a:buNone/>
            </a:pPr>
            <a:r>
              <a:rPr lang="en-US" sz="1250" b="1" dirty="0">
                <a:solidFill>
                  <a:schemeClr val="tx2"/>
                </a:solidFill>
              </a:rPr>
              <a:t>Earnings / deductions</a:t>
            </a:r>
            <a:endParaRPr lang="en-US" sz="1250" dirty="0"/>
          </a:p>
        </p:txBody>
      </p:sp>
      <p:sp>
        <p:nvSpPr>
          <p:cNvPr id="30" name="Text 21"/>
          <p:cNvSpPr txBox="1"/>
          <p:nvPr/>
        </p:nvSpPr>
        <p:spPr>
          <a:xfrm>
            <a:off x="566928" y="2990088"/>
            <a:ext cx="1737360" cy="320040"/>
          </a:xfrm>
          <a:prstGeom prst="rect">
            <a:avLst/>
          </a:prstGeom>
          <a:noFill/>
          <a:ln/>
        </p:spPr>
        <p:txBody>
          <a:bodyPr wrap="square" lIns="0" tIns="0" rIns="0" bIns="0" rtlCol="0" anchor="t"/>
          <a:lstStyle/>
          <a:p>
            <a:pPr indent="0" marL="0">
              <a:buNone/>
            </a:pPr>
            <a:r>
              <a:rPr lang="en-US" sz="1100" dirty="0">
                <a:solidFill>
                  <a:schemeClr val="tx1"/>
                </a:solidFill>
              </a:rPr>
              <a:t>Auto + manual rows</a:t>
            </a:r>
            <a:endParaRPr lang="en-US" sz="1100" dirty="0"/>
          </a:p>
        </p:txBody>
      </p:sp>
      <p:sp>
        <p:nvSpPr>
          <p:cNvPr id="31" name="Shape 22"/>
          <p:cNvSpPr/>
          <p:nvPr/>
        </p:nvSpPr>
        <p:spPr>
          <a:xfrm>
            <a:off x="2542032" y="2331720"/>
            <a:ext cx="1920240" cy="1051560"/>
          </a:xfrm>
          <a:prstGeom prst="roundRect">
            <a:avLst>
              <a:gd name="adj" fmla="val 6957"/>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32" name="Shape 23"/>
          <p:cNvSpPr/>
          <p:nvPr/>
        </p:nvSpPr>
        <p:spPr>
          <a:xfrm>
            <a:off x="2651760" y="2459736"/>
            <a:ext cx="457200" cy="457200"/>
          </a:xfrm>
          <a:prstGeom prst="ellipse">
            <a:avLst/>
          </a:prstGeom>
          <a:solidFill>
            <a:schemeClr val="accent2"/>
          </a:solidFill>
          <a:ln w="12700">
            <a:solidFill>
              <a:schemeClr val="accent2"/>
            </a:solidFill>
            <a:prstDash val="solid"/>
          </a:ln>
        </p:spPr>
      </p:sp>
      <p:pic>
        <p:nvPicPr>
          <p:cNvPr id="33" name="Image 6" descr="preencoded.png">    </p:cNvPr>
          <p:cNvPicPr>
            <a:picLocks noChangeAspect="1"/>
          </p:cNvPicPr>
          <p:nvPr/>
        </p:nvPicPr>
        <p:blipFill>
          <a:blip r:embed="rId7"/>
          <a:stretch>
            <a:fillRect/>
          </a:stretch>
        </p:blipFill>
        <p:spPr>
          <a:xfrm>
            <a:off x="2770632" y="2578608"/>
            <a:ext cx="219456" cy="219456"/>
          </a:xfrm>
          <a:prstGeom prst="rect">
            <a:avLst/>
          </a:prstGeom>
        </p:spPr>
      </p:pic>
      <p:sp>
        <p:nvSpPr>
          <p:cNvPr id="34" name="Text 24"/>
          <p:cNvSpPr txBox="1"/>
          <p:nvPr/>
        </p:nvSpPr>
        <p:spPr>
          <a:xfrm>
            <a:off x="3182112" y="2441448"/>
            <a:ext cx="1234440" cy="502920"/>
          </a:xfrm>
          <a:prstGeom prst="rect">
            <a:avLst/>
          </a:prstGeom>
          <a:noFill/>
          <a:ln/>
        </p:spPr>
        <p:txBody>
          <a:bodyPr wrap="square" lIns="0" tIns="0" rIns="0" bIns="0" rtlCol="0" anchor="ctr"/>
          <a:lstStyle/>
          <a:p>
            <a:pPr indent="0" marL="0">
              <a:buNone/>
            </a:pPr>
            <a:r>
              <a:rPr lang="en-US" sz="1250" b="1" dirty="0">
                <a:solidFill>
                  <a:schemeClr val="tx2"/>
                </a:solidFill>
              </a:rPr>
              <a:t>Loans</a:t>
            </a:r>
            <a:endParaRPr lang="en-US" sz="1250" dirty="0"/>
          </a:p>
        </p:txBody>
      </p:sp>
      <p:sp>
        <p:nvSpPr>
          <p:cNvPr id="35" name="Text 25"/>
          <p:cNvSpPr txBox="1"/>
          <p:nvPr/>
        </p:nvSpPr>
        <p:spPr>
          <a:xfrm>
            <a:off x="2651760" y="2990088"/>
            <a:ext cx="1737360" cy="320040"/>
          </a:xfrm>
          <a:prstGeom prst="rect">
            <a:avLst/>
          </a:prstGeom>
          <a:noFill/>
          <a:ln/>
        </p:spPr>
        <p:txBody>
          <a:bodyPr wrap="square" lIns="0" tIns="0" rIns="0" bIns="0" rtlCol="0" anchor="t"/>
          <a:lstStyle/>
          <a:p>
            <a:pPr indent="0" marL="0">
              <a:buNone/>
            </a:pPr>
            <a:r>
              <a:rPr lang="en-US" sz="1100" dirty="0">
                <a:solidFill>
                  <a:schemeClr val="tx1"/>
                </a:solidFill>
              </a:rPr>
              <a:t>EMI and repayments</a:t>
            </a:r>
            <a:endParaRPr lang="en-US" sz="1100" dirty="0"/>
          </a:p>
        </p:txBody>
      </p:sp>
      <p:sp>
        <p:nvSpPr>
          <p:cNvPr id="36" name="Shape 26"/>
          <p:cNvSpPr/>
          <p:nvPr/>
        </p:nvSpPr>
        <p:spPr>
          <a:xfrm>
            <a:off x="4626864" y="2331720"/>
            <a:ext cx="1920240" cy="1051560"/>
          </a:xfrm>
          <a:prstGeom prst="roundRect">
            <a:avLst>
              <a:gd name="adj" fmla="val 6957"/>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37" name="Shape 27"/>
          <p:cNvSpPr/>
          <p:nvPr/>
        </p:nvSpPr>
        <p:spPr>
          <a:xfrm>
            <a:off x="4736592" y="2459736"/>
            <a:ext cx="457200" cy="457200"/>
          </a:xfrm>
          <a:prstGeom prst="ellipse">
            <a:avLst/>
          </a:prstGeom>
          <a:solidFill>
            <a:schemeClr val="accent3"/>
          </a:solidFill>
          <a:ln w="12700">
            <a:solidFill>
              <a:schemeClr val="accent3"/>
            </a:solidFill>
            <a:prstDash val="solid"/>
          </a:ln>
        </p:spPr>
      </p:sp>
      <p:pic>
        <p:nvPicPr>
          <p:cNvPr id="38" name="Image 7" descr="preencoded.png">    </p:cNvPr>
          <p:cNvPicPr>
            <a:picLocks noChangeAspect="1"/>
          </p:cNvPicPr>
          <p:nvPr/>
        </p:nvPicPr>
        <p:blipFill>
          <a:blip r:embed="rId8"/>
          <a:stretch>
            <a:fillRect/>
          </a:stretch>
        </p:blipFill>
        <p:spPr>
          <a:xfrm>
            <a:off x="4855464" y="2578608"/>
            <a:ext cx="219456" cy="219456"/>
          </a:xfrm>
          <a:prstGeom prst="rect">
            <a:avLst/>
          </a:prstGeom>
        </p:spPr>
      </p:pic>
      <p:sp>
        <p:nvSpPr>
          <p:cNvPr id="39" name="Text 28"/>
          <p:cNvSpPr txBox="1"/>
          <p:nvPr/>
        </p:nvSpPr>
        <p:spPr>
          <a:xfrm>
            <a:off x="5266944" y="2441448"/>
            <a:ext cx="1234440" cy="502920"/>
          </a:xfrm>
          <a:prstGeom prst="rect">
            <a:avLst/>
          </a:prstGeom>
          <a:noFill/>
          <a:ln/>
        </p:spPr>
        <p:txBody>
          <a:bodyPr wrap="square" lIns="0" tIns="0" rIns="0" bIns="0" rtlCol="0" anchor="ctr"/>
          <a:lstStyle/>
          <a:p>
            <a:pPr indent="0" marL="0">
              <a:buNone/>
            </a:pPr>
            <a:r>
              <a:rPr lang="en-US" sz="1250" b="1" dirty="0">
                <a:solidFill>
                  <a:schemeClr val="tx2"/>
                </a:solidFill>
              </a:rPr>
              <a:t>Payroll periods</a:t>
            </a:r>
            <a:endParaRPr lang="en-US" sz="1250" dirty="0"/>
          </a:p>
        </p:txBody>
      </p:sp>
      <p:sp>
        <p:nvSpPr>
          <p:cNvPr id="40" name="Text 29"/>
          <p:cNvSpPr txBox="1"/>
          <p:nvPr/>
        </p:nvSpPr>
        <p:spPr>
          <a:xfrm>
            <a:off x="4736592" y="2990088"/>
            <a:ext cx="1737360" cy="320040"/>
          </a:xfrm>
          <a:prstGeom prst="rect">
            <a:avLst/>
          </a:prstGeom>
          <a:noFill/>
          <a:ln/>
        </p:spPr>
        <p:txBody>
          <a:bodyPr wrap="square" lIns="0" tIns="0" rIns="0" bIns="0" rtlCol="0" anchor="t"/>
          <a:lstStyle/>
          <a:p>
            <a:pPr indent="0" marL="0">
              <a:buNone/>
            </a:pPr>
            <a:r>
              <a:rPr lang="en-US" sz="1100" dirty="0">
                <a:solidFill>
                  <a:schemeClr val="tx1"/>
                </a:solidFill>
              </a:rPr>
              <a:t>Process, transfer, pay</a:t>
            </a:r>
            <a:endParaRPr lang="en-US" sz="1100" dirty="0"/>
          </a:p>
        </p:txBody>
      </p:sp>
      <p:sp>
        <p:nvSpPr>
          <p:cNvPr id="41" name="Shape 30"/>
          <p:cNvSpPr/>
          <p:nvPr/>
        </p:nvSpPr>
        <p:spPr>
          <a:xfrm>
            <a:off x="6711696" y="2331720"/>
            <a:ext cx="1920240" cy="1051560"/>
          </a:xfrm>
          <a:prstGeom prst="roundRect">
            <a:avLst>
              <a:gd name="adj" fmla="val 6957"/>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42" name="Shape 31"/>
          <p:cNvSpPr/>
          <p:nvPr/>
        </p:nvSpPr>
        <p:spPr>
          <a:xfrm>
            <a:off x="6821424" y="2459736"/>
            <a:ext cx="457200" cy="457200"/>
          </a:xfrm>
          <a:prstGeom prst="ellipse">
            <a:avLst/>
          </a:prstGeom>
          <a:solidFill>
            <a:schemeClr val="accent2"/>
          </a:solidFill>
          <a:ln w="12700">
            <a:solidFill>
              <a:schemeClr val="accent2"/>
            </a:solidFill>
            <a:prstDash val="solid"/>
          </a:ln>
        </p:spPr>
      </p:sp>
      <p:pic>
        <p:nvPicPr>
          <p:cNvPr id="43" name="Image 8" descr="preencoded.png">    </p:cNvPr>
          <p:cNvPicPr>
            <a:picLocks noChangeAspect="1"/>
          </p:cNvPicPr>
          <p:nvPr/>
        </p:nvPicPr>
        <p:blipFill>
          <a:blip r:embed="rId9"/>
          <a:stretch>
            <a:fillRect/>
          </a:stretch>
        </p:blipFill>
        <p:spPr>
          <a:xfrm>
            <a:off x="6940296" y="2578608"/>
            <a:ext cx="219456" cy="219456"/>
          </a:xfrm>
          <a:prstGeom prst="rect">
            <a:avLst/>
          </a:prstGeom>
        </p:spPr>
      </p:pic>
      <p:sp>
        <p:nvSpPr>
          <p:cNvPr id="44" name="Text 32"/>
          <p:cNvSpPr txBox="1"/>
          <p:nvPr/>
        </p:nvSpPr>
        <p:spPr>
          <a:xfrm>
            <a:off x="7351776" y="2441448"/>
            <a:ext cx="1234440" cy="502920"/>
          </a:xfrm>
          <a:prstGeom prst="rect">
            <a:avLst/>
          </a:prstGeom>
          <a:noFill/>
          <a:ln/>
        </p:spPr>
        <p:txBody>
          <a:bodyPr wrap="square" lIns="0" tIns="0" rIns="0" bIns="0" rtlCol="0" anchor="ctr"/>
          <a:lstStyle/>
          <a:p>
            <a:pPr indent="0" marL="0">
              <a:buNone/>
            </a:pPr>
            <a:r>
              <a:rPr lang="en-US" sz="1250" b="1" dirty="0">
                <a:solidFill>
                  <a:schemeClr val="tx2"/>
                </a:solidFill>
              </a:rPr>
              <a:t>Payslips</a:t>
            </a:r>
            <a:endParaRPr lang="en-US" sz="1250" dirty="0"/>
          </a:p>
        </p:txBody>
      </p:sp>
      <p:sp>
        <p:nvSpPr>
          <p:cNvPr id="45" name="Text 33"/>
          <p:cNvSpPr txBox="1"/>
          <p:nvPr/>
        </p:nvSpPr>
        <p:spPr>
          <a:xfrm>
            <a:off x="6821424" y="2990088"/>
            <a:ext cx="1737360" cy="320040"/>
          </a:xfrm>
          <a:prstGeom prst="rect">
            <a:avLst/>
          </a:prstGeom>
          <a:noFill/>
          <a:ln/>
        </p:spPr>
        <p:txBody>
          <a:bodyPr wrap="square" lIns="0" tIns="0" rIns="0" bIns="0" rtlCol="0" anchor="t"/>
          <a:lstStyle/>
          <a:p>
            <a:pPr indent="0" marL="0">
              <a:buNone/>
            </a:pPr>
            <a:r>
              <a:rPr lang="en-US" sz="1100" dirty="0">
                <a:solidFill>
                  <a:schemeClr val="tx1"/>
                </a:solidFill>
              </a:rPr>
              <a:t>Printable payslip</a:t>
            </a:r>
            <a:endParaRPr lang="en-US" sz="1100" dirty="0"/>
          </a:p>
        </p:txBody>
      </p:sp>
      <p:sp>
        <p:nvSpPr>
          <p:cNvPr id="46" name="Shape 34"/>
          <p:cNvSpPr/>
          <p:nvPr/>
        </p:nvSpPr>
        <p:spPr>
          <a:xfrm>
            <a:off x="457200" y="3520440"/>
            <a:ext cx="1920240" cy="1051560"/>
          </a:xfrm>
          <a:prstGeom prst="roundRect">
            <a:avLst>
              <a:gd name="adj" fmla="val 6957"/>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47" name="Shape 35"/>
          <p:cNvSpPr/>
          <p:nvPr/>
        </p:nvSpPr>
        <p:spPr>
          <a:xfrm>
            <a:off x="566928" y="3648456"/>
            <a:ext cx="457200" cy="457200"/>
          </a:xfrm>
          <a:prstGeom prst="ellipse">
            <a:avLst/>
          </a:prstGeom>
          <a:solidFill>
            <a:schemeClr val="accent3"/>
          </a:solidFill>
          <a:ln w="12700">
            <a:solidFill>
              <a:schemeClr val="accent3"/>
            </a:solidFill>
            <a:prstDash val="solid"/>
          </a:ln>
        </p:spPr>
      </p:sp>
      <p:pic>
        <p:nvPicPr>
          <p:cNvPr id="48" name="Image 9" descr="preencoded.png">    </p:cNvPr>
          <p:cNvPicPr>
            <a:picLocks noChangeAspect="1"/>
          </p:cNvPicPr>
          <p:nvPr/>
        </p:nvPicPr>
        <p:blipFill>
          <a:blip r:embed="rId10"/>
          <a:stretch>
            <a:fillRect/>
          </a:stretch>
        </p:blipFill>
        <p:spPr>
          <a:xfrm>
            <a:off x="685800" y="3767328"/>
            <a:ext cx="219456" cy="219456"/>
          </a:xfrm>
          <a:prstGeom prst="rect">
            <a:avLst/>
          </a:prstGeom>
        </p:spPr>
      </p:pic>
      <p:sp>
        <p:nvSpPr>
          <p:cNvPr id="49" name="Text 36"/>
          <p:cNvSpPr txBox="1"/>
          <p:nvPr/>
        </p:nvSpPr>
        <p:spPr>
          <a:xfrm>
            <a:off x="1097280" y="3630168"/>
            <a:ext cx="1234440" cy="502920"/>
          </a:xfrm>
          <a:prstGeom prst="rect">
            <a:avLst/>
          </a:prstGeom>
          <a:noFill/>
          <a:ln/>
        </p:spPr>
        <p:txBody>
          <a:bodyPr wrap="square" lIns="0" tIns="0" rIns="0" bIns="0" rtlCol="0" anchor="ctr"/>
          <a:lstStyle/>
          <a:p>
            <a:pPr indent="0" marL="0">
              <a:buNone/>
            </a:pPr>
            <a:r>
              <a:rPr lang="en-US" sz="1250" b="1" dirty="0">
                <a:solidFill>
                  <a:schemeClr val="tx2"/>
                </a:solidFill>
              </a:rPr>
              <a:t>Bank transfers</a:t>
            </a:r>
            <a:endParaRPr lang="en-US" sz="1250" dirty="0"/>
          </a:p>
        </p:txBody>
      </p:sp>
      <p:sp>
        <p:nvSpPr>
          <p:cNvPr id="50" name="Text 37"/>
          <p:cNvSpPr txBox="1"/>
          <p:nvPr/>
        </p:nvSpPr>
        <p:spPr>
          <a:xfrm>
            <a:off x="566928" y="4178808"/>
            <a:ext cx="1737360" cy="320040"/>
          </a:xfrm>
          <a:prstGeom prst="rect">
            <a:avLst/>
          </a:prstGeom>
          <a:noFill/>
          <a:ln/>
        </p:spPr>
        <p:txBody>
          <a:bodyPr wrap="square" lIns="0" tIns="0" rIns="0" bIns="0" rtlCol="0" anchor="t"/>
          <a:lstStyle/>
          <a:p>
            <a:pPr indent="0" marL="0">
              <a:buNone/>
            </a:pPr>
            <a:r>
              <a:rPr lang="en-US" sz="1100" dirty="0">
                <a:solidFill>
                  <a:schemeClr val="tx1"/>
                </a:solidFill>
              </a:rPr>
              <a:t>Pending then paid</a:t>
            </a:r>
            <a:endParaRPr lang="en-US" sz="1100" dirty="0"/>
          </a:p>
        </p:txBody>
      </p:sp>
      <p:sp>
        <p:nvSpPr>
          <p:cNvPr id="51" name="Shape 38"/>
          <p:cNvSpPr/>
          <p:nvPr/>
        </p:nvSpPr>
        <p:spPr>
          <a:xfrm>
            <a:off x="2542032" y="3520440"/>
            <a:ext cx="1920240" cy="1051560"/>
          </a:xfrm>
          <a:prstGeom prst="roundRect">
            <a:avLst>
              <a:gd name="adj" fmla="val 6957"/>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52" name="Shape 39"/>
          <p:cNvSpPr/>
          <p:nvPr/>
        </p:nvSpPr>
        <p:spPr>
          <a:xfrm>
            <a:off x="2651760" y="3648456"/>
            <a:ext cx="457200" cy="457200"/>
          </a:xfrm>
          <a:prstGeom prst="ellipse">
            <a:avLst/>
          </a:prstGeom>
          <a:solidFill>
            <a:schemeClr val="accent2"/>
          </a:solidFill>
          <a:ln w="12700">
            <a:solidFill>
              <a:schemeClr val="accent2"/>
            </a:solidFill>
            <a:prstDash val="solid"/>
          </a:ln>
        </p:spPr>
      </p:sp>
      <p:pic>
        <p:nvPicPr>
          <p:cNvPr id="53" name="Image 10" descr="preencoded.png">    </p:cNvPr>
          <p:cNvPicPr>
            <a:picLocks noChangeAspect="1"/>
          </p:cNvPicPr>
          <p:nvPr/>
        </p:nvPicPr>
        <p:blipFill>
          <a:blip r:embed="rId11"/>
          <a:stretch>
            <a:fillRect/>
          </a:stretch>
        </p:blipFill>
        <p:spPr>
          <a:xfrm>
            <a:off x="2770632" y="3767328"/>
            <a:ext cx="219456" cy="219456"/>
          </a:xfrm>
          <a:prstGeom prst="rect">
            <a:avLst/>
          </a:prstGeom>
        </p:spPr>
      </p:pic>
      <p:sp>
        <p:nvSpPr>
          <p:cNvPr id="54" name="Text 40"/>
          <p:cNvSpPr txBox="1"/>
          <p:nvPr/>
        </p:nvSpPr>
        <p:spPr>
          <a:xfrm>
            <a:off x="3182112" y="3630168"/>
            <a:ext cx="1234440" cy="502920"/>
          </a:xfrm>
          <a:prstGeom prst="rect">
            <a:avLst/>
          </a:prstGeom>
          <a:noFill/>
          <a:ln/>
        </p:spPr>
        <p:txBody>
          <a:bodyPr wrap="square" lIns="0" tIns="0" rIns="0" bIns="0" rtlCol="0" anchor="ctr"/>
          <a:lstStyle/>
          <a:p>
            <a:pPr indent="0" marL="0">
              <a:buNone/>
            </a:pPr>
            <a:r>
              <a:rPr lang="en-US" sz="1250" b="1" dirty="0">
                <a:solidFill>
                  <a:schemeClr val="tx2"/>
                </a:solidFill>
              </a:rPr>
              <a:t>Reports</a:t>
            </a:r>
            <a:endParaRPr lang="en-US" sz="1250" dirty="0"/>
          </a:p>
        </p:txBody>
      </p:sp>
      <p:sp>
        <p:nvSpPr>
          <p:cNvPr id="55" name="Text 41"/>
          <p:cNvSpPr txBox="1"/>
          <p:nvPr/>
        </p:nvSpPr>
        <p:spPr>
          <a:xfrm>
            <a:off x="2651760" y="4178808"/>
            <a:ext cx="1737360" cy="320040"/>
          </a:xfrm>
          <a:prstGeom prst="rect">
            <a:avLst/>
          </a:prstGeom>
          <a:noFill/>
          <a:ln/>
        </p:spPr>
        <p:txBody>
          <a:bodyPr wrap="square" lIns="0" tIns="0" rIns="0" bIns="0" rtlCol="0" anchor="t"/>
          <a:lstStyle/>
          <a:p>
            <a:pPr indent="0" marL="0">
              <a:buNone/>
            </a:pPr>
            <a:r>
              <a:rPr lang="en-US" sz="1100" dirty="0">
                <a:solidFill>
                  <a:schemeClr val="tx1"/>
                </a:solidFill>
              </a:rPr>
              <a:t>7 reports, rates, CSV</a:t>
            </a:r>
            <a:endParaRPr lang="en-US" sz="1100" dirty="0"/>
          </a:p>
        </p:txBody>
      </p:sp>
      <p:sp>
        <p:nvSpPr>
          <p:cNvPr id="56" name="Shape 42"/>
          <p:cNvSpPr/>
          <p:nvPr/>
        </p:nvSpPr>
        <p:spPr>
          <a:xfrm>
            <a:off x="4626864" y="3520440"/>
            <a:ext cx="1920240" cy="1051560"/>
          </a:xfrm>
          <a:prstGeom prst="roundRect">
            <a:avLst>
              <a:gd name="adj" fmla="val 6957"/>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57" name="Shape 43"/>
          <p:cNvSpPr/>
          <p:nvPr/>
        </p:nvSpPr>
        <p:spPr>
          <a:xfrm>
            <a:off x="4736592" y="3648456"/>
            <a:ext cx="457200" cy="457200"/>
          </a:xfrm>
          <a:prstGeom prst="ellipse">
            <a:avLst/>
          </a:prstGeom>
          <a:solidFill>
            <a:schemeClr val="accent3"/>
          </a:solidFill>
          <a:ln w="12700">
            <a:solidFill>
              <a:schemeClr val="accent3"/>
            </a:solidFill>
            <a:prstDash val="solid"/>
          </a:ln>
        </p:spPr>
      </p:sp>
      <p:pic>
        <p:nvPicPr>
          <p:cNvPr id="58" name="Image 11" descr="preencoded.png">    </p:cNvPr>
          <p:cNvPicPr>
            <a:picLocks noChangeAspect="1"/>
          </p:cNvPicPr>
          <p:nvPr/>
        </p:nvPicPr>
        <p:blipFill>
          <a:blip r:embed="rId12"/>
          <a:stretch>
            <a:fillRect/>
          </a:stretch>
        </p:blipFill>
        <p:spPr>
          <a:xfrm>
            <a:off x="4855464" y="3767328"/>
            <a:ext cx="219456" cy="219456"/>
          </a:xfrm>
          <a:prstGeom prst="rect">
            <a:avLst/>
          </a:prstGeom>
        </p:spPr>
      </p:pic>
      <p:sp>
        <p:nvSpPr>
          <p:cNvPr id="59" name="Text 44"/>
          <p:cNvSpPr txBox="1"/>
          <p:nvPr/>
        </p:nvSpPr>
        <p:spPr>
          <a:xfrm>
            <a:off x="5266944" y="3630168"/>
            <a:ext cx="1234440" cy="502920"/>
          </a:xfrm>
          <a:prstGeom prst="rect">
            <a:avLst/>
          </a:prstGeom>
          <a:noFill/>
          <a:ln/>
        </p:spPr>
        <p:txBody>
          <a:bodyPr wrap="square" lIns="0" tIns="0" rIns="0" bIns="0" rtlCol="0" anchor="ctr"/>
          <a:lstStyle/>
          <a:p>
            <a:pPr indent="0" marL="0">
              <a:buNone/>
            </a:pPr>
            <a:r>
              <a:rPr lang="en-US" sz="1250" b="1" dirty="0">
                <a:solidFill>
                  <a:schemeClr val="tx2"/>
                </a:solidFill>
              </a:rPr>
              <a:t>Login and roles</a:t>
            </a:r>
            <a:endParaRPr lang="en-US" sz="1250" dirty="0"/>
          </a:p>
        </p:txBody>
      </p:sp>
      <p:sp>
        <p:nvSpPr>
          <p:cNvPr id="60" name="Text 45"/>
          <p:cNvSpPr txBox="1"/>
          <p:nvPr/>
        </p:nvSpPr>
        <p:spPr>
          <a:xfrm>
            <a:off x="4736592" y="4178808"/>
            <a:ext cx="1737360" cy="320040"/>
          </a:xfrm>
          <a:prstGeom prst="rect">
            <a:avLst/>
          </a:prstGeom>
          <a:noFill/>
          <a:ln/>
        </p:spPr>
        <p:txBody>
          <a:bodyPr wrap="square" lIns="0" tIns="0" rIns="0" bIns="0" rtlCol="0" anchor="t"/>
          <a:lstStyle/>
          <a:p>
            <a:pPr indent="0" marL="0">
              <a:buNone/>
            </a:pPr>
            <a:r>
              <a:rPr lang="en-US" sz="1100" dirty="0">
                <a:solidFill>
                  <a:schemeClr val="tx1"/>
                </a:solidFill>
              </a:rPr>
              <a:t>ADMIN, HR, EMPLOYEE</a:t>
            </a:r>
            <a:endParaRPr lang="en-US" sz="1100" dirty="0"/>
          </a:p>
        </p:txBody>
      </p:sp>
      <p:sp>
        <p:nvSpPr>
          <p:cNvPr id="61" name="Shape 46"/>
          <p:cNvSpPr/>
          <p:nvPr/>
        </p:nvSpPr>
        <p:spPr>
          <a:xfrm>
            <a:off x="6711696" y="3520440"/>
            <a:ext cx="1920240" cy="1051560"/>
          </a:xfrm>
          <a:prstGeom prst="roundRect">
            <a:avLst>
              <a:gd name="adj" fmla="val 6957"/>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62" name="Shape 47"/>
          <p:cNvSpPr/>
          <p:nvPr/>
        </p:nvSpPr>
        <p:spPr>
          <a:xfrm>
            <a:off x="6821424" y="3648456"/>
            <a:ext cx="457200" cy="457200"/>
          </a:xfrm>
          <a:prstGeom prst="ellipse">
            <a:avLst/>
          </a:prstGeom>
          <a:solidFill>
            <a:schemeClr val="accent2"/>
          </a:solidFill>
          <a:ln w="12700">
            <a:solidFill>
              <a:schemeClr val="accent2"/>
            </a:solidFill>
            <a:prstDash val="solid"/>
          </a:ln>
        </p:spPr>
      </p:sp>
      <p:pic>
        <p:nvPicPr>
          <p:cNvPr id="63" name="Image 12" descr="preencoded.png">    </p:cNvPr>
          <p:cNvPicPr>
            <a:picLocks noChangeAspect="1"/>
          </p:cNvPicPr>
          <p:nvPr/>
        </p:nvPicPr>
        <p:blipFill>
          <a:blip r:embed="rId13"/>
          <a:stretch>
            <a:fillRect/>
          </a:stretch>
        </p:blipFill>
        <p:spPr>
          <a:xfrm>
            <a:off x="6940296" y="3767328"/>
            <a:ext cx="219456" cy="219456"/>
          </a:xfrm>
          <a:prstGeom prst="rect">
            <a:avLst/>
          </a:prstGeom>
        </p:spPr>
      </p:pic>
      <p:sp>
        <p:nvSpPr>
          <p:cNvPr id="64" name="Text 48"/>
          <p:cNvSpPr txBox="1"/>
          <p:nvPr/>
        </p:nvSpPr>
        <p:spPr>
          <a:xfrm>
            <a:off x="7351776" y="3630168"/>
            <a:ext cx="1234440" cy="502920"/>
          </a:xfrm>
          <a:prstGeom prst="rect">
            <a:avLst/>
          </a:prstGeom>
          <a:noFill/>
          <a:ln/>
        </p:spPr>
        <p:txBody>
          <a:bodyPr wrap="square" lIns="0" tIns="0" rIns="0" bIns="0" rtlCol="0" anchor="ctr"/>
          <a:lstStyle/>
          <a:p>
            <a:pPr indent="0" marL="0">
              <a:buNone/>
            </a:pPr>
            <a:r>
              <a:rPr lang="en-US" sz="1250" b="1" dirty="0">
                <a:solidFill>
                  <a:schemeClr val="tx2"/>
                </a:solidFill>
              </a:rPr>
              <a:t>Database Explorer</a:t>
            </a:r>
            <a:endParaRPr lang="en-US" sz="1250" dirty="0"/>
          </a:p>
        </p:txBody>
      </p:sp>
      <p:sp>
        <p:nvSpPr>
          <p:cNvPr id="65" name="Text 49"/>
          <p:cNvSpPr txBox="1"/>
          <p:nvPr/>
        </p:nvSpPr>
        <p:spPr>
          <a:xfrm>
            <a:off x="6821424" y="4178808"/>
            <a:ext cx="1737360" cy="320040"/>
          </a:xfrm>
          <a:prstGeom prst="rect">
            <a:avLst/>
          </a:prstGeom>
          <a:noFill/>
          <a:ln/>
        </p:spPr>
        <p:txBody>
          <a:bodyPr wrap="square" lIns="0" tIns="0" rIns="0" bIns="0" rtlCol="0" anchor="t"/>
          <a:lstStyle/>
          <a:p>
            <a:pPr indent="0" marL="0">
              <a:buNone/>
            </a:pPr>
            <a:r>
              <a:rPr lang="en-US" sz="1100" dirty="0">
                <a:solidFill>
                  <a:schemeClr val="tx1"/>
                </a:solidFill>
              </a:rPr>
              <a:t>Schema, triggers, SQL</a:t>
            </a:r>
            <a:endParaRPr lang="en-US" sz="11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Final ER Diagram</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Text 2"/>
          <p:cNvSpPr txBox="1"/>
          <p:nvPr/>
        </p:nvSpPr>
        <p:spPr>
          <a:xfrm>
            <a:off x="5120640" y="457200"/>
            <a:ext cx="3566160" cy="274320"/>
          </a:xfrm>
          <a:prstGeom prst="rect">
            <a:avLst/>
          </a:prstGeom>
          <a:noFill/>
          <a:ln/>
        </p:spPr>
        <p:txBody>
          <a:bodyPr wrap="square" lIns="0" tIns="0" rIns="0" bIns="0" rtlCol="0" anchor="t"/>
          <a:lstStyle/>
          <a:p>
            <a:pPr algn="r" indent="0" marL="0">
              <a:buNone/>
            </a:pPr>
            <a:r>
              <a:rPr lang="en-US" sz="1100" i="1" dirty="0">
                <a:solidFill>
                  <a:schemeClr val="tx1"/>
                </a:solidFill>
              </a:rPr>
              <a:t>Core payroll tables (14). Login and audit tables: next slide.</a:t>
            </a:r>
            <a:endParaRPr lang="en-US" sz="1100" dirty="0"/>
          </a:p>
        </p:txBody>
      </p:sp>
      <p:sp>
        <p:nvSpPr>
          <p:cNvPr id="7" name="Shape 3"/>
          <p:cNvSpPr/>
          <p:nvPr/>
        </p:nvSpPr>
        <p:spPr>
          <a:xfrm>
            <a:off x="2468880" y="1572768"/>
            <a:ext cx="1463040" cy="758952"/>
          </a:xfrm>
          <a:prstGeom prst="line">
            <a:avLst/>
          </a:prstGeom>
          <a:noFill/>
          <a:ln w="19050">
            <a:solidFill>
              <a:schemeClr val="accent4"/>
            </a:solidFill>
            <a:prstDash val="solid"/>
          </a:ln>
        </p:spPr>
      </p:sp>
      <p:sp>
        <p:nvSpPr>
          <p:cNvPr id="8" name="Shape 4"/>
          <p:cNvSpPr/>
          <p:nvPr/>
        </p:nvSpPr>
        <p:spPr>
          <a:xfrm flipV="1">
            <a:off x="3931920" y="1572768"/>
            <a:ext cx="1280160" cy="758952"/>
          </a:xfrm>
          <a:prstGeom prst="line">
            <a:avLst/>
          </a:prstGeom>
          <a:noFill/>
          <a:ln w="19050">
            <a:solidFill>
              <a:schemeClr val="accent4"/>
            </a:solidFill>
            <a:prstDash val="solid"/>
          </a:ln>
        </p:spPr>
      </p:sp>
      <p:sp>
        <p:nvSpPr>
          <p:cNvPr id="9" name="Shape 5"/>
          <p:cNvSpPr/>
          <p:nvPr/>
        </p:nvSpPr>
        <p:spPr>
          <a:xfrm>
            <a:off x="1691640" y="2569464"/>
            <a:ext cx="1463040" cy="0"/>
          </a:xfrm>
          <a:prstGeom prst="line">
            <a:avLst/>
          </a:prstGeom>
          <a:noFill/>
          <a:ln w="19050">
            <a:solidFill>
              <a:schemeClr val="accent4"/>
            </a:solidFill>
            <a:prstDash val="solid"/>
          </a:ln>
        </p:spPr>
      </p:sp>
      <p:sp>
        <p:nvSpPr>
          <p:cNvPr id="10" name="Shape 6"/>
          <p:cNvSpPr/>
          <p:nvPr/>
        </p:nvSpPr>
        <p:spPr>
          <a:xfrm>
            <a:off x="4709160" y="2569464"/>
            <a:ext cx="1097280" cy="0"/>
          </a:xfrm>
          <a:prstGeom prst="line">
            <a:avLst/>
          </a:prstGeom>
          <a:noFill/>
          <a:ln w="19050">
            <a:solidFill>
              <a:schemeClr val="accent4"/>
            </a:solidFill>
            <a:prstDash val="solid"/>
          </a:ln>
        </p:spPr>
      </p:sp>
      <p:sp>
        <p:nvSpPr>
          <p:cNvPr id="11" name="Shape 7"/>
          <p:cNvSpPr/>
          <p:nvPr/>
        </p:nvSpPr>
        <p:spPr>
          <a:xfrm flipV="1">
            <a:off x="6515100" y="1572768"/>
            <a:ext cx="685800" cy="758952"/>
          </a:xfrm>
          <a:prstGeom prst="line">
            <a:avLst/>
          </a:prstGeom>
          <a:noFill/>
          <a:ln w="19050">
            <a:solidFill>
              <a:schemeClr val="accent4"/>
            </a:solidFill>
            <a:prstDash val="solid"/>
          </a:ln>
        </p:spPr>
      </p:sp>
      <p:sp>
        <p:nvSpPr>
          <p:cNvPr id="12" name="Shape 8"/>
          <p:cNvSpPr/>
          <p:nvPr/>
        </p:nvSpPr>
        <p:spPr>
          <a:xfrm flipV="1">
            <a:off x="7223760" y="2249424"/>
            <a:ext cx="640080" cy="320040"/>
          </a:xfrm>
          <a:prstGeom prst="line">
            <a:avLst/>
          </a:prstGeom>
          <a:noFill/>
          <a:ln w="19050">
            <a:solidFill>
              <a:schemeClr val="accent4"/>
            </a:solidFill>
            <a:prstDash val="solid"/>
          </a:ln>
        </p:spPr>
      </p:sp>
      <p:sp>
        <p:nvSpPr>
          <p:cNvPr id="13" name="Shape 9"/>
          <p:cNvSpPr/>
          <p:nvPr/>
        </p:nvSpPr>
        <p:spPr>
          <a:xfrm>
            <a:off x="7223760" y="2569464"/>
            <a:ext cx="640080" cy="411480"/>
          </a:xfrm>
          <a:prstGeom prst="line">
            <a:avLst/>
          </a:prstGeom>
          <a:noFill/>
          <a:ln w="19050">
            <a:solidFill>
              <a:schemeClr val="accent4"/>
            </a:solidFill>
            <a:prstDash val="solid"/>
          </a:ln>
        </p:spPr>
      </p:sp>
      <p:sp>
        <p:nvSpPr>
          <p:cNvPr id="14" name="Shape 10"/>
          <p:cNvSpPr/>
          <p:nvPr/>
        </p:nvSpPr>
        <p:spPr>
          <a:xfrm flipV="1">
            <a:off x="1005840" y="2807208"/>
            <a:ext cx="2926080" cy="1033272"/>
          </a:xfrm>
          <a:prstGeom prst="line">
            <a:avLst/>
          </a:prstGeom>
          <a:noFill/>
          <a:ln w="19050">
            <a:solidFill>
              <a:schemeClr val="accent4"/>
            </a:solidFill>
            <a:prstDash val="solid"/>
          </a:ln>
        </p:spPr>
      </p:sp>
      <p:sp>
        <p:nvSpPr>
          <p:cNvPr id="15" name="Shape 11"/>
          <p:cNvSpPr/>
          <p:nvPr/>
        </p:nvSpPr>
        <p:spPr>
          <a:xfrm flipV="1">
            <a:off x="2560320" y="2807208"/>
            <a:ext cx="1371600" cy="1033272"/>
          </a:xfrm>
          <a:prstGeom prst="line">
            <a:avLst/>
          </a:prstGeom>
          <a:noFill/>
          <a:ln w="19050">
            <a:solidFill>
              <a:schemeClr val="accent4"/>
            </a:solidFill>
            <a:prstDash val="solid"/>
          </a:ln>
        </p:spPr>
      </p:sp>
      <p:sp>
        <p:nvSpPr>
          <p:cNvPr id="16" name="Shape 12"/>
          <p:cNvSpPr/>
          <p:nvPr/>
        </p:nvSpPr>
        <p:spPr>
          <a:xfrm>
            <a:off x="3931920" y="2807208"/>
            <a:ext cx="182880" cy="1033272"/>
          </a:xfrm>
          <a:prstGeom prst="line">
            <a:avLst/>
          </a:prstGeom>
          <a:noFill/>
          <a:ln w="19050">
            <a:solidFill>
              <a:schemeClr val="accent4"/>
            </a:solidFill>
            <a:prstDash val="solid"/>
          </a:ln>
        </p:spPr>
      </p:sp>
      <p:sp>
        <p:nvSpPr>
          <p:cNvPr id="17" name="Shape 13"/>
          <p:cNvSpPr/>
          <p:nvPr/>
        </p:nvSpPr>
        <p:spPr>
          <a:xfrm>
            <a:off x="3931920" y="2807208"/>
            <a:ext cx="1737360" cy="1033272"/>
          </a:xfrm>
          <a:prstGeom prst="line">
            <a:avLst/>
          </a:prstGeom>
          <a:noFill/>
          <a:ln w="19050">
            <a:solidFill>
              <a:schemeClr val="accent4"/>
            </a:solidFill>
            <a:prstDash val="solid"/>
          </a:ln>
        </p:spPr>
      </p:sp>
      <p:sp>
        <p:nvSpPr>
          <p:cNvPr id="18" name="Shape 14"/>
          <p:cNvSpPr/>
          <p:nvPr/>
        </p:nvSpPr>
        <p:spPr>
          <a:xfrm>
            <a:off x="6355080" y="4078224"/>
            <a:ext cx="502920" cy="0"/>
          </a:xfrm>
          <a:prstGeom prst="line">
            <a:avLst/>
          </a:prstGeom>
          <a:noFill/>
          <a:ln w="19050">
            <a:solidFill>
              <a:schemeClr val="accent4"/>
            </a:solidFill>
            <a:prstDash val="solid"/>
          </a:ln>
        </p:spPr>
      </p:sp>
      <p:sp>
        <p:nvSpPr>
          <p:cNvPr id="19" name="Shape 15"/>
          <p:cNvSpPr/>
          <p:nvPr/>
        </p:nvSpPr>
        <p:spPr>
          <a:xfrm>
            <a:off x="6515100" y="2807208"/>
            <a:ext cx="1120140" cy="1033272"/>
          </a:xfrm>
          <a:prstGeom prst="line">
            <a:avLst/>
          </a:prstGeom>
          <a:noFill/>
          <a:ln w="19050">
            <a:solidFill>
              <a:schemeClr val="accent4"/>
            </a:solidFill>
            <a:prstDash val="solid"/>
          </a:ln>
        </p:spPr>
      </p:sp>
      <p:sp>
        <p:nvSpPr>
          <p:cNvPr id="20" name="Text 16"/>
          <p:cNvSpPr txBox="1"/>
          <p:nvPr/>
        </p:nvSpPr>
        <p:spPr>
          <a:xfrm>
            <a:off x="1783080" y="1097280"/>
            <a:ext cx="1371600" cy="475488"/>
          </a:xfrm>
          <a:prstGeom prst="roundRect">
            <a:avLst>
              <a:gd name="adj" fmla="val 13462"/>
            </a:avLst>
          </a:prstGeom>
          <a:solidFill>
            <a:schemeClr val="accent1"/>
          </a:solidFill>
          <a:ln w="12700">
            <a:solidFill>
              <a:schemeClr val="accent3"/>
            </a:solidFill>
          </a:ln>
        </p:spPr>
        <p:txBody>
          <a:bodyPr wrap="square" lIns="381" tIns="381" rIns="381" bIns="381" rtlCol="0" anchor="ctr"/>
          <a:lstStyle/>
          <a:p>
            <a:pPr algn="ctr" indent="0" marL="0">
              <a:buNone/>
            </a:pPr>
            <a:r>
              <a:rPr lang="en-US" sz="1200" b="1" dirty="0">
                <a:solidFill>
                  <a:schemeClr val="bg1"/>
                </a:solidFill>
              </a:rPr>
              <a:t>Department</a:t>
            </a:r>
            <a:endParaRPr lang="en-US" sz="1200" dirty="0"/>
          </a:p>
        </p:txBody>
      </p:sp>
      <p:sp>
        <p:nvSpPr>
          <p:cNvPr id="21" name="Text 17"/>
          <p:cNvSpPr txBox="1"/>
          <p:nvPr/>
        </p:nvSpPr>
        <p:spPr>
          <a:xfrm>
            <a:off x="4526280" y="1097280"/>
            <a:ext cx="1371600" cy="475488"/>
          </a:xfrm>
          <a:prstGeom prst="roundRect">
            <a:avLst>
              <a:gd name="adj" fmla="val 13462"/>
            </a:avLst>
          </a:prstGeom>
          <a:solidFill>
            <a:schemeClr val="accent1"/>
          </a:solidFill>
          <a:ln w="12700">
            <a:solidFill>
              <a:schemeClr val="accent3"/>
            </a:solidFill>
          </a:ln>
        </p:spPr>
        <p:txBody>
          <a:bodyPr wrap="square" lIns="381" tIns="381" rIns="381" bIns="381" rtlCol="0" anchor="ctr"/>
          <a:lstStyle/>
          <a:p>
            <a:pPr algn="ctr" indent="0" marL="0">
              <a:buNone/>
            </a:pPr>
            <a:r>
              <a:rPr lang="en-US" sz="1200" b="1" dirty="0">
                <a:solidFill>
                  <a:schemeClr val="bg1"/>
                </a:solidFill>
              </a:rPr>
              <a:t>Designation</a:t>
            </a:r>
            <a:endParaRPr lang="en-US" sz="1200" dirty="0"/>
          </a:p>
        </p:txBody>
      </p:sp>
      <p:sp>
        <p:nvSpPr>
          <p:cNvPr id="22" name="Text 18"/>
          <p:cNvSpPr txBox="1"/>
          <p:nvPr/>
        </p:nvSpPr>
        <p:spPr>
          <a:xfrm>
            <a:off x="320040" y="1097280"/>
            <a:ext cx="1234440" cy="475488"/>
          </a:xfrm>
          <a:prstGeom prst="roundRect">
            <a:avLst>
              <a:gd name="adj" fmla="val 13462"/>
            </a:avLst>
          </a:prstGeom>
          <a:solidFill>
            <a:schemeClr val="accent1"/>
          </a:solidFill>
          <a:ln w="12700">
            <a:solidFill>
              <a:schemeClr val="accent3"/>
            </a:solidFill>
          </a:ln>
        </p:spPr>
        <p:txBody>
          <a:bodyPr wrap="square" lIns="381" tIns="381" rIns="381" bIns="381" rtlCol="0" anchor="ctr"/>
          <a:lstStyle/>
          <a:p>
            <a:pPr algn="ctr" indent="0" marL="0">
              <a:buNone/>
            </a:pPr>
            <a:r>
              <a:rPr lang="en-US" sz="1200" b="1" dirty="0">
                <a:solidFill>
                  <a:schemeClr val="bg1"/>
                </a:solidFill>
              </a:rPr>
              <a:t>Payroll Config</a:t>
            </a:r>
            <a:endParaRPr lang="en-US" sz="1200" dirty="0"/>
          </a:p>
        </p:txBody>
      </p:sp>
      <p:sp>
        <p:nvSpPr>
          <p:cNvPr id="23" name="Text 19"/>
          <p:cNvSpPr txBox="1"/>
          <p:nvPr/>
        </p:nvSpPr>
        <p:spPr>
          <a:xfrm>
            <a:off x="320040" y="2331720"/>
            <a:ext cx="1371600" cy="475488"/>
          </a:xfrm>
          <a:prstGeom prst="roundRect">
            <a:avLst>
              <a:gd name="adj" fmla="val 13462"/>
            </a:avLst>
          </a:prstGeom>
          <a:solidFill>
            <a:schemeClr val="accent1"/>
          </a:solidFill>
          <a:ln w="12700">
            <a:solidFill>
              <a:schemeClr val="accent3"/>
            </a:solidFill>
          </a:ln>
        </p:spPr>
        <p:txBody>
          <a:bodyPr wrap="square" lIns="381" tIns="381" rIns="381" bIns="381" rtlCol="0" anchor="ctr"/>
          <a:lstStyle/>
          <a:p>
            <a:pPr algn="ctr" indent="0" marL="0">
              <a:buNone/>
            </a:pPr>
            <a:r>
              <a:rPr lang="en-US" sz="1200" b="1" dirty="0">
                <a:solidFill>
                  <a:schemeClr val="bg1"/>
                </a:solidFill>
              </a:rPr>
              <a:t>Salary Structure</a:t>
            </a:r>
            <a:endParaRPr lang="en-US" sz="1200" dirty="0"/>
          </a:p>
        </p:txBody>
      </p:sp>
      <p:sp>
        <p:nvSpPr>
          <p:cNvPr id="24" name="Text 20"/>
          <p:cNvSpPr txBox="1"/>
          <p:nvPr/>
        </p:nvSpPr>
        <p:spPr>
          <a:xfrm>
            <a:off x="3154680" y="2331720"/>
            <a:ext cx="1554480" cy="475488"/>
          </a:xfrm>
          <a:prstGeom prst="roundRect">
            <a:avLst>
              <a:gd name="adj" fmla="val 13462"/>
            </a:avLst>
          </a:prstGeom>
          <a:solidFill>
            <a:schemeClr val="accent3"/>
          </a:solidFill>
          <a:ln w="12700">
            <a:solidFill>
              <a:schemeClr val="accent3"/>
            </a:solidFill>
          </a:ln>
        </p:spPr>
        <p:txBody>
          <a:bodyPr wrap="square" lIns="381" tIns="381" rIns="381" bIns="381" rtlCol="0" anchor="ctr"/>
          <a:lstStyle/>
          <a:p>
            <a:pPr algn="ctr" indent="0" marL="0">
              <a:buNone/>
            </a:pPr>
            <a:r>
              <a:rPr lang="en-US" sz="1200" b="1" dirty="0">
                <a:solidFill>
                  <a:schemeClr val="bg1"/>
                </a:solidFill>
              </a:rPr>
              <a:t>Employee</a:t>
            </a:r>
            <a:endParaRPr lang="en-US" sz="1200" dirty="0"/>
          </a:p>
        </p:txBody>
      </p:sp>
      <p:sp>
        <p:nvSpPr>
          <p:cNvPr id="25" name="Text 21"/>
          <p:cNvSpPr txBox="1"/>
          <p:nvPr/>
        </p:nvSpPr>
        <p:spPr>
          <a:xfrm>
            <a:off x="6492240" y="1097280"/>
            <a:ext cx="1417320" cy="475488"/>
          </a:xfrm>
          <a:prstGeom prst="roundRect">
            <a:avLst>
              <a:gd name="adj" fmla="val 13462"/>
            </a:avLst>
          </a:prstGeom>
          <a:solidFill>
            <a:schemeClr val="accent1"/>
          </a:solidFill>
          <a:ln w="12700">
            <a:solidFill>
              <a:schemeClr val="accent3"/>
            </a:solidFill>
          </a:ln>
        </p:spPr>
        <p:txBody>
          <a:bodyPr wrap="square" lIns="381" tIns="381" rIns="381" bIns="381" rtlCol="0" anchor="ctr"/>
          <a:lstStyle/>
          <a:p>
            <a:pPr algn="ctr" indent="0" marL="0">
              <a:buNone/>
            </a:pPr>
            <a:r>
              <a:rPr lang="en-US" sz="1200" b="1" dirty="0">
                <a:solidFill>
                  <a:schemeClr val="bg1"/>
                </a:solidFill>
              </a:rPr>
              <a:t>Payroll Period</a:t>
            </a:r>
            <a:endParaRPr lang="en-US" sz="1200" dirty="0"/>
          </a:p>
        </p:txBody>
      </p:sp>
      <p:sp>
        <p:nvSpPr>
          <p:cNvPr id="26" name="Text 22"/>
          <p:cNvSpPr txBox="1"/>
          <p:nvPr/>
        </p:nvSpPr>
        <p:spPr>
          <a:xfrm>
            <a:off x="5806440" y="2331720"/>
            <a:ext cx="1417320" cy="475488"/>
          </a:xfrm>
          <a:prstGeom prst="roundRect">
            <a:avLst>
              <a:gd name="adj" fmla="val 13462"/>
            </a:avLst>
          </a:prstGeom>
          <a:solidFill>
            <a:schemeClr val="accent3"/>
          </a:solidFill>
          <a:ln w="12700">
            <a:solidFill>
              <a:schemeClr val="accent3"/>
            </a:solidFill>
          </a:ln>
        </p:spPr>
        <p:txBody>
          <a:bodyPr wrap="square" lIns="381" tIns="381" rIns="381" bIns="381" rtlCol="0" anchor="ctr"/>
          <a:lstStyle/>
          <a:p>
            <a:pPr algn="ctr" indent="0" marL="0">
              <a:buNone/>
            </a:pPr>
            <a:r>
              <a:rPr lang="en-US" sz="1200" b="1" dirty="0">
                <a:solidFill>
                  <a:schemeClr val="bg1"/>
                </a:solidFill>
              </a:rPr>
              <a:t>Payroll Detail</a:t>
            </a:r>
            <a:endParaRPr lang="en-US" sz="1200" dirty="0"/>
          </a:p>
        </p:txBody>
      </p:sp>
      <p:sp>
        <p:nvSpPr>
          <p:cNvPr id="27" name="Text 23"/>
          <p:cNvSpPr txBox="1"/>
          <p:nvPr/>
        </p:nvSpPr>
        <p:spPr>
          <a:xfrm>
            <a:off x="7863840" y="2011680"/>
            <a:ext cx="1005840" cy="475488"/>
          </a:xfrm>
          <a:prstGeom prst="roundRect">
            <a:avLst>
              <a:gd name="adj" fmla="val 13462"/>
            </a:avLst>
          </a:prstGeom>
          <a:solidFill>
            <a:schemeClr val="bg1"/>
          </a:solidFill>
          <a:ln w="22225">
            <a:solidFill>
              <a:schemeClr val="accent2"/>
            </a:solidFill>
          </a:ln>
        </p:spPr>
        <p:txBody>
          <a:bodyPr wrap="square" lIns="381" tIns="381" rIns="381" bIns="381" rtlCol="0" anchor="ctr"/>
          <a:lstStyle/>
          <a:p>
            <a:pPr algn="ctr" indent="0" marL="0">
              <a:buNone/>
            </a:pPr>
            <a:r>
              <a:rPr lang="en-US" sz="1200" b="1" dirty="0">
                <a:solidFill>
                  <a:schemeClr val="tx2"/>
                </a:solidFill>
              </a:rPr>
              <a:t>Payslip</a:t>
            </a:r>
            <a:endParaRPr lang="en-US" sz="1200" dirty="0"/>
          </a:p>
        </p:txBody>
      </p:sp>
      <p:sp>
        <p:nvSpPr>
          <p:cNvPr id="28" name="Text 24"/>
          <p:cNvSpPr txBox="1"/>
          <p:nvPr/>
        </p:nvSpPr>
        <p:spPr>
          <a:xfrm>
            <a:off x="7863840" y="2743200"/>
            <a:ext cx="1005840" cy="475488"/>
          </a:xfrm>
          <a:prstGeom prst="roundRect">
            <a:avLst>
              <a:gd name="adj" fmla="val 13462"/>
            </a:avLst>
          </a:prstGeom>
          <a:solidFill>
            <a:schemeClr val="bg1"/>
          </a:solidFill>
          <a:ln w="22225">
            <a:solidFill>
              <a:schemeClr val="accent2"/>
            </a:solidFill>
          </a:ln>
        </p:spPr>
        <p:txBody>
          <a:bodyPr wrap="square" lIns="381" tIns="381" rIns="381" bIns="381" rtlCol="0" anchor="ctr"/>
          <a:lstStyle/>
          <a:p>
            <a:pPr algn="ctr" indent="0" marL="0">
              <a:buNone/>
            </a:pPr>
            <a:r>
              <a:rPr lang="en-US" sz="1200" b="1" dirty="0">
                <a:solidFill>
                  <a:schemeClr val="tx2"/>
                </a:solidFill>
              </a:rPr>
              <a:t>Bank Transfer</a:t>
            </a:r>
            <a:endParaRPr lang="en-US" sz="1200" dirty="0"/>
          </a:p>
        </p:txBody>
      </p:sp>
      <p:sp>
        <p:nvSpPr>
          <p:cNvPr id="29" name="Text 25"/>
          <p:cNvSpPr txBox="1"/>
          <p:nvPr/>
        </p:nvSpPr>
        <p:spPr>
          <a:xfrm>
            <a:off x="320040" y="3840480"/>
            <a:ext cx="1371600" cy="475488"/>
          </a:xfrm>
          <a:prstGeom prst="roundRect">
            <a:avLst>
              <a:gd name="adj" fmla="val 13462"/>
            </a:avLst>
          </a:prstGeom>
          <a:solidFill>
            <a:schemeClr val="bg1"/>
          </a:solidFill>
          <a:ln w="12700">
            <a:solidFill>
              <a:schemeClr val="accent3"/>
            </a:solidFill>
          </a:ln>
        </p:spPr>
        <p:txBody>
          <a:bodyPr wrap="square" lIns="381" tIns="381" rIns="381" bIns="381" rtlCol="0" anchor="ctr"/>
          <a:lstStyle/>
          <a:p>
            <a:pPr algn="ctr" indent="0" marL="0">
              <a:buNone/>
            </a:pPr>
            <a:r>
              <a:rPr lang="en-US" sz="1200" b="1" dirty="0">
                <a:solidFill>
                  <a:schemeClr val="tx2"/>
                </a:solidFill>
              </a:rPr>
              <a:t>Attendance</a:t>
            </a:r>
            <a:endParaRPr lang="en-US" sz="1200" dirty="0"/>
          </a:p>
        </p:txBody>
      </p:sp>
      <p:sp>
        <p:nvSpPr>
          <p:cNvPr id="30" name="Text 26"/>
          <p:cNvSpPr txBox="1"/>
          <p:nvPr/>
        </p:nvSpPr>
        <p:spPr>
          <a:xfrm>
            <a:off x="1874520" y="3840480"/>
            <a:ext cx="1371600" cy="475488"/>
          </a:xfrm>
          <a:prstGeom prst="roundRect">
            <a:avLst>
              <a:gd name="adj" fmla="val 13462"/>
            </a:avLst>
          </a:prstGeom>
          <a:solidFill>
            <a:schemeClr val="bg1"/>
          </a:solidFill>
          <a:ln w="12700">
            <a:solidFill>
              <a:schemeClr val="accent3"/>
            </a:solidFill>
          </a:ln>
        </p:spPr>
        <p:txBody>
          <a:bodyPr wrap="square" lIns="381" tIns="381" rIns="381" bIns="381" rtlCol="0" anchor="ctr"/>
          <a:lstStyle/>
          <a:p>
            <a:pPr algn="ctr" indent="0" marL="0">
              <a:buNone/>
            </a:pPr>
            <a:r>
              <a:rPr lang="en-US" sz="1200" b="1" dirty="0">
                <a:solidFill>
                  <a:schemeClr val="tx2"/>
                </a:solidFill>
              </a:rPr>
              <a:t>Earnings</a:t>
            </a:r>
            <a:endParaRPr lang="en-US" sz="1200" dirty="0"/>
          </a:p>
        </p:txBody>
      </p:sp>
      <p:sp>
        <p:nvSpPr>
          <p:cNvPr id="31" name="Text 27"/>
          <p:cNvSpPr txBox="1"/>
          <p:nvPr/>
        </p:nvSpPr>
        <p:spPr>
          <a:xfrm>
            <a:off x="3429000" y="3840480"/>
            <a:ext cx="1371600" cy="475488"/>
          </a:xfrm>
          <a:prstGeom prst="roundRect">
            <a:avLst>
              <a:gd name="adj" fmla="val 13462"/>
            </a:avLst>
          </a:prstGeom>
          <a:solidFill>
            <a:schemeClr val="bg1"/>
          </a:solidFill>
          <a:ln w="12700">
            <a:solidFill>
              <a:schemeClr val="accent3"/>
            </a:solidFill>
          </a:ln>
        </p:spPr>
        <p:txBody>
          <a:bodyPr wrap="square" lIns="381" tIns="381" rIns="381" bIns="381" rtlCol="0" anchor="ctr"/>
          <a:lstStyle/>
          <a:p>
            <a:pPr algn="ctr" indent="0" marL="0">
              <a:buNone/>
            </a:pPr>
            <a:r>
              <a:rPr lang="en-US" sz="1200" b="1" dirty="0">
                <a:solidFill>
                  <a:schemeClr val="tx2"/>
                </a:solidFill>
              </a:rPr>
              <a:t>Deductions</a:t>
            </a:r>
            <a:endParaRPr lang="en-US" sz="1200" dirty="0"/>
          </a:p>
        </p:txBody>
      </p:sp>
      <p:sp>
        <p:nvSpPr>
          <p:cNvPr id="32" name="Text 28"/>
          <p:cNvSpPr txBox="1"/>
          <p:nvPr/>
        </p:nvSpPr>
        <p:spPr>
          <a:xfrm>
            <a:off x="4983480" y="3840480"/>
            <a:ext cx="1371600" cy="475488"/>
          </a:xfrm>
          <a:prstGeom prst="roundRect">
            <a:avLst>
              <a:gd name="adj" fmla="val 13462"/>
            </a:avLst>
          </a:prstGeom>
          <a:solidFill>
            <a:schemeClr val="bg1"/>
          </a:solidFill>
          <a:ln w="12700">
            <a:solidFill>
              <a:schemeClr val="accent3"/>
            </a:solidFill>
          </a:ln>
        </p:spPr>
        <p:txBody>
          <a:bodyPr wrap="square" lIns="381" tIns="381" rIns="381" bIns="381" rtlCol="0" anchor="ctr"/>
          <a:lstStyle/>
          <a:p>
            <a:pPr algn="ctr" indent="0" marL="0">
              <a:buNone/>
            </a:pPr>
            <a:r>
              <a:rPr lang="en-US" sz="1200" b="1" dirty="0">
                <a:solidFill>
                  <a:schemeClr val="tx2"/>
                </a:solidFill>
              </a:rPr>
              <a:t>Loan</a:t>
            </a:r>
            <a:endParaRPr lang="en-US" sz="1200" dirty="0"/>
          </a:p>
        </p:txBody>
      </p:sp>
      <p:sp>
        <p:nvSpPr>
          <p:cNvPr id="33" name="Text 29"/>
          <p:cNvSpPr txBox="1"/>
          <p:nvPr/>
        </p:nvSpPr>
        <p:spPr>
          <a:xfrm>
            <a:off x="6858000" y="3840480"/>
            <a:ext cx="1554480" cy="475488"/>
          </a:xfrm>
          <a:prstGeom prst="roundRect">
            <a:avLst>
              <a:gd name="adj" fmla="val 13462"/>
            </a:avLst>
          </a:prstGeom>
          <a:solidFill>
            <a:schemeClr val="bg1"/>
          </a:solidFill>
          <a:ln w="22225">
            <a:solidFill>
              <a:schemeClr val="accent2"/>
            </a:solidFill>
          </a:ln>
        </p:spPr>
        <p:txBody>
          <a:bodyPr wrap="square" lIns="381" tIns="381" rIns="381" bIns="381" rtlCol="0" anchor="ctr"/>
          <a:lstStyle/>
          <a:p>
            <a:pPr algn="ctr" indent="0" marL="0">
              <a:buNone/>
            </a:pPr>
            <a:r>
              <a:rPr lang="en-US" sz="1200" b="1" dirty="0">
                <a:solidFill>
                  <a:schemeClr val="tx2"/>
                </a:solidFill>
              </a:rPr>
              <a:t>Loan Repayment</a:t>
            </a:r>
            <a:endParaRPr lang="en-US" sz="1200" dirty="0"/>
          </a:p>
        </p:txBody>
      </p:sp>
      <p:sp>
        <p:nvSpPr>
          <p:cNvPr id="34" name="Text 30"/>
          <p:cNvSpPr txBox="1"/>
          <p:nvPr/>
        </p:nvSpPr>
        <p:spPr>
          <a:xfrm>
            <a:off x="2953512" y="1860804"/>
            <a:ext cx="493776" cy="182880"/>
          </a:xfrm>
          <a:prstGeom prst="roundRect">
            <a:avLst>
              <a:gd name="adj" fmla="val 25000"/>
            </a:avLst>
          </a:prstGeom>
          <a:solidFill>
            <a:schemeClr val="bg1"/>
          </a:solidFill>
          <a:ln w="9525">
            <a:solidFill>
              <a:schemeClr val="accent1"/>
            </a:solidFill>
          </a:ln>
        </p:spPr>
        <p:txBody>
          <a:bodyPr wrap="square" lIns="0" tIns="0" rIns="0" bIns="0" rtlCol="0" anchor="ctr"/>
          <a:lstStyle/>
          <a:p>
            <a:pPr algn="ctr" indent="0" marL="0">
              <a:buNone/>
            </a:pPr>
            <a:r>
              <a:rPr lang="en-US" sz="900" b="1" dirty="0">
                <a:solidFill>
                  <a:schemeClr val="accent3"/>
                </a:solidFill>
              </a:rPr>
              <a:t>1 : N</a:t>
            </a:r>
            <a:endParaRPr lang="en-US" sz="900" dirty="0"/>
          </a:p>
        </p:txBody>
      </p:sp>
      <p:sp>
        <p:nvSpPr>
          <p:cNvPr id="35" name="Text 31"/>
          <p:cNvSpPr txBox="1"/>
          <p:nvPr/>
        </p:nvSpPr>
        <p:spPr>
          <a:xfrm>
            <a:off x="4325112" y="1860804"/>
            <a:ext cx="493776" cy="182880"/>
          </a:xfrm>
          <a:prstGeom prst="roundRect">
            <a:avLst>
              <a:gd name="adj" fmla="val 25000"/>
            </a:avLst>
          </a:prstGeom>
          <a:solidFill>
            <a:schemeClr val="bg1"/>
          </a:solidFill>
          <a:ln w="9525">
            <a:solidFill>
              <a:schemeClr val="accent1"/>
            </a:solidFill>
          </a:ln>
        </p:spPr>
        <p:txBody>
          <a:bodyPr wrap="square" lIns="0" tIns="0" rIns="0" bIns="0" rtlCol="0" anchor="ctr"/>
          <a:lstStyle/>
          <a:p>
            <a:pPr algn="ctr" indent="0" marL="0">
              <a:buNone/>
            </a:pPr>
            <a:r>
              <a:rPr lang="en-US" sz="900" b="1" dirty="0">
                <a:solidFill>
                  <a:schemeClr val="accent3"/>
                </a:solidFill>
              </a:rPr>
              <a:t>1 : N</a:t>
            </a:r>
            <a:endParaRPr lang="en-US" sz="900" dirty="0"/>
          </a:p>
        </p:txBody>
      </p:sp>
      <p:sp>
        <p:nvSpPr>
          <p:cNvPr id="36" name="Text 32"/>
          <p:cNvSpPr txBox="1"/>
          <p:nvPr/>
        </p:nvSpPr>
        <p:spPr>
          <a:xfrm>
            <a:off x="2176272" y="2478024"/>
            <a:ext cx="493776" cy="182880"/>
          </a:xfrm>
          <a:prstGeom prst="roundRect">
            <a:avLst>
              <a:gd name="adj" fmla="val 25000"/>
            </a:avLst>
          </a:prstGeom>
          <a:solidFill>
            <a:schemeClr val="bg1"/>
          </a:solidFill>
          <a:ln w="9525">
            <a:solidFill>
              <a:schemeClr val="accent1"/>
            </a:solidFill>
          </a:ln>
        </p:spPr>
        <p:txBody>
          <a:bodyPr wrap="square" lIns="0" tIns="0" rIns="0" bIns="0" rtlCol="0" anchor="ctr"/>
          <a:lstStyle/>
          <a:p>
            <a:pPr algn="ctr" indent="0" marL="0">
              <a:buNone/>
            </a:pPr>
            <a:r>
              <a:rPr lang="en-US" sz="900" b="1" dirty="0">
                <a:solidFill>
                  <a:schemeClr val="accent3"/>
                </a:solidFill>
              </a:rPr>
              <a:t>1 : 1</a:t>
            </a:r>
            <a:endParaRPr lang="en-US" sz="900" dirty="0"/>
          </a:p>
        </p:txBody>
      </p:sp>
      <p:sp>
        <p:nvSpPr>
          <p:cNvPr id="37" name="Text 33"/>
          <p:cNvSpPr txBox="1"/>
          <p:nvPr/>
        </p:nvSpPr>
        <p:spPr>
          <a:xfrm>
            <a:off x="5010912" y="2478024"/>
            <a:ext cx="493776" cy="182880"/>
          </a:xfrm>
          <a:prstGeom prst="roundRect">
            <a:avLst>
              <a:gd name="adj" fmla="val 25000"/>
            </a:avLst>
          </a:prstGeom>
          <a:solidFill>
            <a:schemeClr val="bg1"/>
          </a:solidFill>
          <a:ln w="9525">
            <a:solidFill>
              <a:schemeClr val="accent1"/>
            </a:solidFill>
          </a:ln>
        </p:spPr>
        <p:txBody>
          <a:bodyPr wrap="square" lIns="0" tIns="0" rIns="0" bIns="0" rtlCol="0" anchor="ctr"/>
          <a:lstStyle/>
          <a:p>
            <a:pPr algn="ctr" indent="0" marL="0">
              <a:buNone/>
            </a:pPr>
            <a:r>
              <a:rPr lang="en-US" sz="900" b="1" dirty="0">
                <a:solidFill>
                  <a:schemeClr val="accent3"/>
                </a:solidFill>
              </a:rPr>
              <a:t>1 : N</a:t>
            </a:r>
            <a:endParaRPr lang="en-US" sz="900" dirty="0"/>
          </a:p>
        </p:txBody>
      </p:sp>
      <p:sp>
        <p:nvSpPr>
          <p:cNvPr id="38" name="Text 34"/>
          <p:cNvSpPr txBox="1"/>
          <p:nvPr/>
        </p:nvSpPr>
        <p:spPr>
          <a:xfrm>
            <a:off x="6611112" y="1860804"/>
            <a:ext cx="493776" cy="182880"/>
          </a:xfrm>
          <a:prstGeom prst="roundRect">
            <a:avLst>
              <a:gd name="adj" fmla="val 25000"/>
            </a:avLst>
          </a:prstGeom>
          <a:solidFill>
            <a:schemeClr val="bg1"/>
          </a:solidFill>
          <a:ln w="9525">
            <a:solidFill>
              <a:schemeClr val="accent1"/>
            </a:solidFill>
          </a:ln>
        </p:spPr>
        <p:txBody>
          <a:bodyPr wrap="square" lIns="0" tIns="0" rIns="0" bIns="0" rtlCol="0" anchor="ctr"/>
          <a:lstStyle/>
          <a:p>
            <a:pPr algn="ctr" indent="0" marL="0">
              <a:buNone/>
            </a:pPr>
            <a:r>
              <a:rPr lang="en-US" sz="900" b="1" dirty="0">
                <a:solidFill>
                  <a:schemeClr val="accent3"/>
                </a:solidFill>
              </a:rPr>
              <a:t>1 : N</a:t>
            </a:r>
            <a:endParaRPr lang="en-US" sz="900" dirty="0"/>
          </a:p>
        </p:txBody>
      </p:sp>
      <p:sp>
        <p:nvSpPr>
          <p:cNvPr id="39" name="Text 35"/>
          <p:cNvSpPr txBox="1"/>
          <p:nvPr/>
        </p:nvSpPr>
        <p:spPr>
          <a:xfrm>
            <a:off x="7296912" y="2318004"/>
            <a:ext cx="493776" cy="182880"/>
          </a:xfrm>
          <a:prstGeom prst="roundRect">
            <a:avLst>
              <a:gd name="adj" fmla="val 25000"/>
            </a:avLst>
          </a:prstGeom>
          <a:solidFill>
            <a:schemeClr val="bg1"/>
          </a:solidFill>
          <a:ln w="9525">
            <a:solidFill>
              <a:schemeClr val="accent1"/>
            </a:solidFill>
          </a:ln>
        </p:spPr>
        <p:txBody>
          <a:bodyPr wrap="square" lIns="0" tIns="0" rIns="0" bIns="0" rtlCol="0" anchor="ctr"/>
          <a:lstStyle/>
          <a:p>
            <a:pPr algn="ctr" indent="0" marL="0">
              <a:buNone/>
            </a:pPr>
            <a:r>
              <a:rPr lang="en-US" sz="900" b="1" dirty="0">
                <a:solidFill>
                  <a:schemeClr val="accent3"/>
                </a:solidFill>
              </a:rPr>
              <a:t>1 : 1</a:t>
            </a:r>
            <a:endParaRPr lang="en-US" sz="900" dirty="0"/>
          </a:p>
        </p:txBody>
      </p:sp>
      <p:sp>
        <p:nvSpPr>
          <p:cNvPr id="40" name="Text 36"/>
          <p:cNvSpPr txBox="1"/>
          <p:nvPr/>
        </p:nvSpPr>
        <p:spPr>
          <a:xfrm>
            <a:off x="7296912" y="2683764"/>
            <a:ext cx="493776" cy="182880"/>
          </a:xfrm>
          <a:prstGeom prst="roundRect">
            <a:avLst>
              <a:gd name="adj" fmla="val 25000"/>
            </a:avLst>
          </a:prstGeom>
          <a:solidFill>
            <a:schemeClr val="bg1"/>
          </a:solidFill>
          <a:ln w="9525">
            <a:solidFill>
              <a:schemeClr val="accent1"/>
            </a:solidFill>
          </a:ln>
        </p:spPr>
        <p:txBody>
          <a:bodyPr wrap="square" lIns="0" tIns="0" rIns="0" bIns="0" rtlCol="0" anchor="ctr"/>
          <a:lstStyle/>
          <a:p>
            <a:pPr algn="ctr" indent="0" marL="0">
              <a:buNone/>
            </a:pPr>
            <a:r>
              <a:rPr lang="en-US" sz="900" b="1" dirty="0">
                <a:solidFill>
                  <a:schemeClr val="accent3"/>
                </a:solidFill>
              </a:rPr>
              <a:t>1 : 1</a:t>
            </a:r>
            <a:endParaRPr lang="en-US" sz="900" dirty="0"/>
          </a:p>
        </p:txBody>
      </p:sp>
      <p:sp>
        <p:nvSpPr>
          <p:cNvPr id="41" name="Text 37"/>
          <p:cNvSpPr txBox="1"/>
          <p:nvPr/>
        </p:nvSpPr>
        <p:spPr>
          <a:xfrm>
            <a:off x="2221992" y="3232404"/>
            <a:ext cx="493776" cy="182880"/>
          </a:xfrm>
          <a:prstGeom prst="roundRect">
            <a:avLst>
              <a:gd name="adj" fmla="val 25000"/>
            </a:avLst>
          </a:prstGeom>
          <a:solidFill>
            <a:schemeClr val="bg1"/>
          </a:solidFill>
          <a:ln w="9525">
            <a:solidFill>
              <a:schemeClr val="accent1"/>
            </a:solidFill>
          </a:ln>
        </p:spPr>
        <p:txBody>
          <a:bodyPr wrap="square" lIns="0" tIns="0" rIns="0" bIns="0" rtlCol="0" anchor="ctr"/>
          <a:lstStyle/>
          <a:p>
            <a:pPr algn="ctr" indent="0" marL="0">
              <a:buNone/>
            </a:pPr>
            <a:r>
              <a:rPr lang="en-US" sz="900" b="1" dirty="0">
                <a:solidFill>
                  <a:schemeClr val="accent3"/>
                </a:solidFill>
              </a:rPr>
              <a:t>1 : N</a:t>
            </a:r>
            <a:endParaRPr lang="en-US" sz="900" dirty="0"/>
          </a:p>
        </p:txBody>
      </p:sp>
      <p:sp>
        <p:nvSpPr>
          <p:cNvPr id="42" name="Text 38"/>
          <p:cNvSpPr txBox="1"/>
          <p:nvPr/>
        </p:nvSpPr>
        <p:spPr>
          <a:xfrm>
            <a:off x="2999232" y="3232404"/>
            <a:ext cx="493776" cy="182880"/>
          </a:xfrm>
          <a:prstGeom prst="roundRect">
            <a:avLst>
              <a:gd name="adj" fmla="val 25000"/>
            </a:avLst>
          </a:prstGeom>
          <a:solidFill>
            <a:schemeClr val="bg1"/>
          </a:solidFill>
          <a:ln w="9525">
            <a:solidFill>
              <a:schemeClr val="accent1"/>
            </a:solidFill>
          </a:ln>
        </p:spPr>
        <p:txBody>
          <a:bodyPr wrap="square" lIns="0" tIns="0" rIns="0" bIns="0" rtlCol="0" anchor="ctr"/>
          <a:lstStyle/>
          <a:p>
            <a:pPr algn="ctr" indent="0" marL="0">
              <a:buNone/>
            </a:pPr>
            <a:r>
              <a:rPr lang="en-US" sz="900" b="1" dirty="0">
                <a:solidFill>
                  <a:schemeClr val="accent3"/>
                </a:solidFill>
              </a:rPr>
              <a:t>1 : N</a:t>
            </a:r>
            <a:endParaRPr lang="en-US" sz="900" dirty="0"/>
          </a:p>
        </p:txBody>
      </p:sp>
      <p:sp>
        <p:nvSpPr>
          <p:cNvPr id="43" name="Text 39"/>
          <p:cNvSpPr txBox="1"/>
          <p:nvPr/>
        </p:nvSpPr>
        <p:spPr>
          <a:xfrm>
            <a:off x="3776472" y="3232404"/>
            <a:ext cx="493776" cy="182880"/>
          </a:xfrm>
          <a:prstGeom prst="roundRect">
            <a:avLst>
              <a:gd name="adj" fmla="val 25000"/>
            </a:avLst>
          </a:prstGeom>
          <a:solidFill>
            <a:schemeClr val="bg1"/>
          </a:solidFill>
          <a:ln w="9525">
            <a:solidFill>
              <a:schemeClr val="accent1"/>
            </a:solidFill>
          </a:ln>
        </p:spPr>
        <p:txBody>
          <a:bodyPr wrap="square" lIns="0" tIns="0" rIns="0" bIns="0" rtlCol="0" anchor="ctr"/>
          <a:lstStyle/>
          <a:p>
            <a:pPr algn="ctr" indent="0" marL="0">
              <a:buNone/>
            </a:pPr>
            <a:r>
              <a:rPr lang="en-US" sz="900" b="1" dirty="0">
                <a:solidFill>
                  <a:schemeClr val="accent3"/>
                </a:solidFill>
              </a:rPr>
              <a:t>1 : N</a:t>
            </a:r>
            <a:endParaRPr lang="en-US" sz="900" dirty="0"/>
          </a:p>
        </p:txBody>
      </p:sp>
      <p:sp>
        <p:nvSpPr>
          <p:cNvPr id="44" name="Text 40"/>
          <p:cNvSpPr txBox="1"/>
          <p:nvPr/>
        </p:nvSpPr>
        <p:spPr>
          <a:xfrm>
            <a:off x="4553712" y="3232404"/>
            <a:ext cx="493776" cy="182880"/>
          </a:xfrm>
          <a:prstGeom prst="roundRect">
            <a:avLst>
              <a:gd name="adj" fmla="val 25000"/>
            </a:avLst>
          </a:prstGeom>
          <a:solidFill>
            <a:schemeClr val="bg1"/>
          </a:solidFill>
          <a:ln w="9525">
            <a:solidFill>
              <a:schemeClr val="accent1"/>
            </a:solidFill>
          </a:ln>
        </p:spPr>
        <p:txBody>
          <a:bodyPr wrap="square" lIns="0" tIns="0" rIns="0" bIns="0" rtlCol="0" anchor="ctr"/>
          <a:lstStyle/>
          <a:p>
            <a:pPr algn="ctr" indent="0" marL="0">
              <a:buNone/>
            </a:pPr>
            <a:r>
              <a:rPr lang="en-US" sz="900" b="1" dirty="0">
                <a:solidFill>
                  <a:schemeClr val="accent3"/>
                </a:solidFill>
              </a:rPr>
              <a:t>1 : N</a:t>
            </a:r>
            <a:endParaRPr lang="en-US" sz="900" dirty="0"/>
          </a:p>
        </p:txBody>
      </p:sp>
      <p:sp>
        <p:nvSpPr>
          <p:cNvPr id="45" name="Text 41"/>
          <p:cNvSpPr txBox="1"/>
          <p:nvPr/>
        </p:nvSpPr>
        <p:spPr>
          <a:xfrm>
            <a:off x="6359652" y="3986784"/>
            <a:ext cx="493776" cy="182880"/>
          </a:xfrm>
          <a:prstGeom prst="roundRect">
            <a:avLst>
              <a:gd name="adj" fmla="val 25000"/>
            </a:avLst>
          </a:prstGeom>
          <a:solidFill>
            <a:schemeClr val="bg1"/>
          </a:solidFill>
          <a:ln w="9525">
            <a:solidFill>
              <a:schemeClr val="accent1"/>
            </a:solidFill>
          </a:ln>
        </p:spPr>
        <p:txBody>
          <a:bodyPr wrap="square" lIns="0" tIns="0" rIns="0" bIns="0" rtlCol="0" anchor="ctr"/>
          <a:lstStyle/>
          <a:p>
            <a:pPr algn="ctr" indent="0" marL="0">
              <a:buNone/>
            </a:pPr>
            <a:r>
              <a:rPr lang="en-US" sz="900" b="1" dirty="0">
                <a:solidFill>
                  <a:schemeClr val="accent3"/>
                </a:solidFill>
              </a:rPr>
              <a:t>1 : N</a:t>
            </a:r>
            <a:endParaRPr lang="en-US" sz="900" dirty="0"/>
          </a:p>
        </p:txBody>
      </p:sp>
      <p:sp>
        <p:nvSpPr>
          <p:cNvPr id="46" name="Text 42"/>
          <p:cNvSpPr txBox="1"/>
          <p:nvPr/>
        </p:nvSpPr>
        <p:spPr>
          <a:xfrm>
            <a:off x="6884289" y="3284068"/>
            <a:ext cx="493776" cy="182880"/>
          </a:xfrm>
          <a:prstGeom prst="roundRect">
            <a:avLst>
              <a:gd name="adj" fmla="val 25000"/>
            </a:avLst>
          </a:prstGeom>
          <a:solidFill>
            <a:schemeClr val="bg1"/>
          </a:solidFill>
          <a:ln w="9525">
            <a:solidFill>
              <a:schemeClr val="accent1"/>
            </a:solidFill>
          </a:ln>
        </p:spPr>
        <p:txBody>
          <a:bodyPr wrap="square" lIns="0" tIns="0" rIns="0" bIns="0" rtlCol="0" anchor="ctr"/>
          <a:lstStyle/>
          <a:p>
            <a:pPr algn="ctr" indent="0" marL="0">
              <a:buNone/>
            </a:pPr>
            <a:r>
              <a:rPr lang="en-US" sz="900" b="1" dirty="0">
                <a:solidFill>
                  <a:schemeClr val="accent3"/>
                </a:solidFill>
              </a:rPr>
              <a:t>1 : N</a:t>
            </a:r>
            <a:endParaRPr lang="en-US" sz="900" dirty="0"/>
          </a:p>
        </p:txBody>
      </p:sp>
      <p:sp>
        <p:nvSpPr>
          <p:cNvPr id="47" name="Shape 43"/>
          <p:cNvSpPr/>
          <p:nvPr/>
        </p:nvSpPr>
        <p:spPr>
          <a:xfrm>
            <a:off x="320040" y="4572000"/>
            <a:ext cx="182880" cy="146304"/>
          </a:xfrm>
          <a:prstGeom prst="roundRect">
            <a:avLst>
              <a:gd name="adj" fmla="val 18750"/>
            </a:avLst>
          </a:prstGeom>
          <a:solidFill>
            <a:schemeClr val="accent3"/>
          </a:solidFill>
          <a:ln w="12700">
            <a:solidFill>
              <a:schemeClr val="accent3"/>
            </a:solidFill>
            <a:prstDash val="solid"/>
          </a:ln>
        </p:spPr>
      </p:sp>
      <p:sp>
        <p:nvSpPr>
          <p:cNvPr id="48" name="Text 44"/>
          <p:cNvSpPr txBox="1"/>
          <p:nvPr/>
        </p:nvSpPr>
        <p:spPr>
          <a:xfrm>
            <a:off x="566928" y="4553712"/>
            <a:ext cx="1143000" cy="182880"/>
          </a:xfrm>
          <a:prstGeom prst="rect">
            <a:avLst/>
          </a:prstGeom>
          <a:noFill/>
          <a:ln/>
        </p:spPr>
        <p:txBody>
          <a:bodyPr wrap="square" lIns="0" tIns="0" rIns="0" bIns="0" rtlCol="0" anchor="ctr"/>
          <a:lstStyle/>
          <a:p>
            <a:pPr indent="0" marL="0">
              <a:buNone/>
            </a:pPr>
            <a:r>
              <a:rPr lang="en-US" sz="1000" dirty="0">
                <a:solidFill>
                  <a:schemeClr val="tx1"/>
                </a:solidFill>
              </a:rPr>
              <a:t>Core entity</a:t>
            </a:r>
            <a:endParaRPr lang="en-US" sz="1000" dirty="0"/>
          </a:p>
        </p:txBody>
      </p:sp>
      <p:sp>
        <p:nvSpPr>
          <p:cNvPr id="49" name="Shape 45"/>
          <p:cNvSpPr/>
          <p:nvPr/>
        </p:nvSpPr>
        <p:spPr>
          <a:xfrm>
            <a:off x="1737360" y="4572000"/>
            <a:ext cx="182880" cy="146304"/>
          </a:xfrm>
          <a:prstGeom prst="roundRect">
            <a:avLst>
              <a:gd name="adj" fmla="val 18750"/>
            </a:avLst>
          </a:prstGeom>
          <a:solidFill>
            <a:schemeClr val="accent1"/>
          </a:solidFill>
          <a:ln w="12700">
            <a:solidFill>
              <a:schemeClr val="accent3"/>
            </a:solidFill>
            <a:prstDash val="solid"/>
          </a:ln>
        </p:spPr>
      </p:sp>
      <p:sp>
        <p:nvSpPr>
          <p:cNvPr id="50" name="Text 46"/>
          <p:cNvSpPr txBox="1"/>
          <p:nvPr/>
        </p:nvSpPr>
        <p:spPr>
          <a:xfrm>
            <a:off x="1984248" y="4553712"/>
            <a:ext cx="1143000" cy="182880"/>
          </a:xfrm>
          <a:prstGeom prst="rect">
            <a:avLst/>
          </a:prstGeom>
          <a:noFill/>
          <a:ln/>
        </p:spPr>
        <p:txBody>
          <a:bodyPr wrap="square" lIns="0" tIns="0" rIns="0" bIns="0" rtlCol="0" anchor="ctr"/>
          <a:lstStyle/>
          <a:p>
            <a:pPr indent="0" marL="0">
              <a:buNone/>
            </a:pPr>
            <a:r>
              <a:rPr lang="en-US" sz="1000" dirty="0">
                <a:solidFill>
                  <a:schemeClr val="tx1"/>
                </a:solidFill>
              </a:rPr>
              <a:t>Master data</a:t>
            </a:r>
            <a:endParaRPr lang="en-US" sz="1000" dirty="0"/>
          </a:p>
        </p:txBody>
      </p:sp>
      <p:sp>
        <p:nvSpPr>
          <p:cNvPr id="51" name="Shape 47"/>
          <p:cNvSpPr/>
          <p:nvPr/>
        </p:nvSpPr>
        <p:spPr>
          <a:xfrm>
            <a:off x="3154680" y="4572000"/>
            <a:ext cx="182880" cy="146304"/>
          </a:xfrm>
          <a:prstGeom prst="roundRect">
            <a:avLst>
              <a:gd name="adj" fmla="val 18750"/>
            </a:avLst>
          </a:prstGeom>
          <a:solidFill>
            <a:schemeClr val="bg1"/>
          </a:solidFill>
          <a:ln w="12700">
            <a:solidFill>
              <a:schemeClr val="accent3"/>
            </a:solidFill>
            <a:prstDash val="solid"/>
          </a:ln>
        </p:spPr>
      </p:sp>
      <p:sp>
        <p:nvSpPr>
          <p:cNvPr id="52" name="Text 48"/>
          <p:cNvSpPr txBox="1"/>
          <p:nvPr/>
        </p:nvSpPr>
        <p:spPr>
          <a:xfrm>
            <a:off x="3401568" y="4553712"/>
            <a:ext cx="1143000" cy="182880"/>
          </a:xfrm>
          <a:prstGeom prst="rect">
            <a:avLst/>
          </a:prstGeom>
          <a:noFill/>
          <a:ln/>
        </p:spPr>
        <p:txBody>
          <a:bodyPr wrap="square" lIns="0" tIns="0" rIns="0" bIns="0" rtlCol="0" anchor="ctr"/>
          <a:lstStyle/>
          <a:p>
            <a:pPr indent="0" marL="0">
              <a:buNone/>
            </a:pPr>
            <a:r>
              <a:rPr lang="en-US" sz="1000" dirty="0">
                <a:solidFill>
                  <a:schemeClr val="tx1"/>
                </a:solidFill>
              </a:rPr>
              <a:t>Monthly input</a:t>
            </a:r>
            <a:endParaRPr lang="en-US" sz="1000" dirty="0"/>
          </a:p>
        </p:txBody>
      </p:sp>
      <p:sp>
        <p:nvSpPr>
          <p:cNvPr id="53" name="Shape 49"/>
          <p:cNvSpPr/>
          <p:nvPr/>
        </p:nvSpPr>
        <p:spPr>
          <a:xfrm>
            <a:off x="4572000" y="4572000"/>
            <a:ext cx="182880" cy="146304"/>
          </a:xfrm>
          <a:prstGeom prst="roundRect">
            <a:avLst>
              <a:gd name="adj" fmla="val 18750"/>
            </a:avLst>
          </a:prstGeom>
          <a:solidFill>
            <a:schemeClr val="bg1"/>
          </a:solidFill>
          <a:ln w="22225">
            <a:solidFill>
              <a:schemeClr val="accent2"/>
            </a:solidFill>
            <a:prstDash val="solid"/>
          </a:ln>
        </p:spPr>
      </p:sp>
      <p:sp>
        <p:nvSpPr>
          <p:cNvPr id="54" name="Text 50"/>
          <p:cNvSpPr txBox="1"/>
          <p:nvPr/>
        </p:nvSpPr>
        <p:spPr>
          <a:xfrm>
            <a:off x="4818888" y="4553712"/>
            <a:ext cx="1143000" cy="182880"/>
          </a:xfrm>
          <a:prstGeom prst="rect">
            <a:avLst/>
          </a:prstGeom>
          <a:noFill/>
          <a:ln/>
        </p:spPr>
        <p:txBody>
          <a:bodyPr wrap="square" lIns="0" tIns="0" rIns="0" bIns="0" rtlCol="0" anchor="ctr"/>
          <a:lstStyle/>
          <a:p>
            <a:pPr indent="0" marL="0">
              <a:buNone/>
            </a:pPr>
            <a:r>
              <a:rPr lang="en-US" sz="1000" dirty="0">
                <a:solidFill>
                  <a:schemeClr val="tx1"/>
                </a:solidFill>
              </a:rPr>
              <a:t>Payroll output</a:t>
            </a:r>
            <a:endParaRPr lang="en-US" sz="10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Login, Triggers and Views</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Text 2"/>
          <p:cNvSpPr txBox="1"/>
          <p:nvPr/>
        </p:nvSpPr>
        <p:spPr>
          <a:xfrm>
            <a:off x="457200" y="1188720"/>
            <a:ext cx="1371600" cy="411480"/>
          </a:xfrm>
          <a:prstGeom prst="roundRect">
            <a:avLst>
              <a:gd name="adj" fmla="val 15556"/>
            </a:avLst>
          </a:prstGeom>
          <a:solidFill>
            <a:schemeClr val="accent3"/>
          </a:solidFill>
          <a:ln w="12700">
            <a:solidFill>
              <a:schemeClr val="accent3"/>
            </a:solidFill>
          </a:ln>
        </p:spPr>
        <p:txBody>
          <a:bodyPr wrap="square" lIns="381" tIns="381" rIns="381" bIns="381" rtlCol="0" anchor="ctr"/>
          <a:lstStyle/>
          <a:p>
            <a:pPr algn="ctr" indent="0" marL="0">
              <a:buNone/>
            </a:pPr>
            <a:r>
              <a:rPr lang="en-US" sz="1100" b="1" dirty="0">
                <a:solidFill>
                  <a:schemeClr val="bg1"/>
                </a:solidFill>
              </a:rPr>
              <a:t>employee</a:t>
            </a:r>
            <a:endParaRPr lang="en-US" sz="1100" dirty="0"/>
          </a:p>
        </p:txBody>
      </p:sp>
      <p:sp>
        <p:nvSpPr>
          <p:cNvPr id="7" name="Text 3"/>
          <p:cNvSpPr txBox="1"/>
          <p:nvPr/>
        </p:nvSpPr>
        <p:spPr>
          <a:xfrm>
            <a:off x="2651760" y="1143000"/>
            <a:ext cx="1554480" cy="502920"/>
          </a:xfrm>
          <a:prstGeom prst="roundRect">
            <a:avLst>
              <a:gd name="adj" fmla="val 12727"/>
            </a:avLst>
          </a:prstGeom>
          <a:solidFill>
            <a:schemeClr val="bg1"/>
          </a:solidFill>
          <a:ln w="22225">
            <a:solidFill>
              <a:schemeClr val="accent2"/>
            </a:solidFill>
          </a:ln>
        </p:spPr>
        <p:txBody>
          <a:bodyPr wrap="square" lIns="381" tIns="381" rIns="381" bIns="381" rtlCol="0" anchor="ctr"/>
          <a:lstStyle/>
          <a:p>
            <a:pPr algn="ctr" indent="0" marL="0">
              <a:buNone/>
            </a:pPr>
            <a:r>
              <a:rPr lang="en-US" sz="1100" b="1" dirty="0">
                <a:solidFill>
                  <a:schemeClr val="tx2"/>
                </a:solidFill>
              </a:rPr>
              <a:t>app_user</a:t>
            </a:r>
            <a:endParaRPr lang="en-US" sz="1100" dirty="0"/>
          </a:p>
          <a:p>
            <a:pPr algn="ctr" indent="0" marL="0">
              <a:buNone/>
            </a:pPr>
            <a:r>
              <a:rPr lang="en-US" sz="1100" b="1" dirty="0">
                <a:solidFill>
                  <a:schemeClr val="tx2"/>
                </a:solidFill>
              </a:rPr>
              <a:t>(role, hash)</a:t>
            </a:r>
            <a:endParaRPr lang="en-US" sz="1100" dirty="0"/>
          </a:p>
        </p:txBody>
      </p:sp>
      <p:sp>
        <p:nvSpPr>
          <p:cNvPr id="8" name="Shape 4"/>
          <p:cNvSpPr/>
          <p:nvPr/>
        </p:nvSpPr>
        <p:spPr>
          <a:xfrm>
            <a:off x="1828800" y="1389888"/>
            <a:ext cx="822960" cy="0"/>
          </a:xfrm>
          <a:prstGeom prst="line">
            <a:avLst/>
          </a:prstGeom>
          <a:noFill/>
          <a:ln w="19050">
            <a:solidFill>
              <a:schemeClr val="accent4"/>
            </a:solidFill>
            <a:prstDash val="solid"/>
          </a:ln>
        </p:spPr>
      </p:sp>
      <p:sp>
        <p:nvSpPr>
          <p:cNvPr id="9" name="Text 5"/>
          <p:cNvSpPr txBox="1"/>
          <p:nvPr/>
        </p:nvSpPr>
        <p:spPr>
          <a:xfrm>
            <a:off x="1828800" y="1170432"/>
            <a:ext cx="822960" cy="201168"/>
          </a:xfrm>
          <a:prstGeom prst="rect">
            <a:avLst/>
          </a:prstGeom>
          <a:noFill/>
          <a:ln/>
        </p:spPr>
        <p:txBody>
          <a:bodyPr wrap="square" lIns="0" tIns="0" rIns="0" bIns="0" rtlCol="0" anchor="ctr"/>
          <a:lstStyle/>
          <a:p>
            <a:pPr algn="ctr" indent="0" marL="0">
              <a:buNone/>
            </a:pPr>
            <a:r>
              <a:rPr lang="en-US" sz="950" b="1" dirty="0">
                <a:solidFill>
                  <a:schemeClr val="accent3"/>
                </a:solidFill>
              </a:rPr>
              <a:t>0..1 login</a:t>
            </a:r>
            <a:endParaRPr lang="en-US" sz="950" dirty="0"/>
          </a:p>
        </p:txBody>
      </p:sp>
      <p:sp>
        <p:nvSpPr>
          <p:cNvPr id="10" name="Text 6"/>
          <p:cNvSpPr txBox="1"/>
          <p:nvPr/>
        </p:nvSpPr>
        <p:spPr>
          <a:xfrm>
            <a:off x="457200" y="1965960"/>
            <a:ext cx="1554480" cy="365760"/>
          </a:xfrm>
          <a:prstGeom prst="roundRect">
            <a:avLst>
              <a:gd name="adj" fmla="val 17500"/>
            </a:avLst>
          </a:prstGeom>
          <a:solidFill>
            <a:schemeClr val="accent1"/>
          </a:solidFill>
          <a:ln w="12700">
            <a:solidFill>
              <a:schemeClr val="accent3"/>
            </a:solidFill>
          </a:ln>
        </p:spPr>
        <p:txBody>
          <a:bodyPr wrap="square" lIns="381" tIns="381" rIns="381" bIns="381" rtlCol="0" anchor="ctr"/>
          <a:lstStyle/>
          <a:p>
            <a:pPr algn="ctr" indent="0" marL="0">
              <a:buNone/>
            </a:pPr>
            <a:r>
              <a:rPr lang="en-US" sz="1100" b="1" dirty="0">
                <a:solidFill>
                  <a:schemeClr val="bg1"/>
                </a:solidFill>
              </a:rPr>
              <a:t>salary_structure</a:t>
            </a:r>
            <a:endParaRPr lang="en-US" sz="1100" dirty="0"/>
          </a:p>
        </p:txBody>
      </p:sp>
      <p:sp>
        <p:nvSpPr>
          <p:cNvPr id="11" name="Shape 7"/>
          <p:cNvSpPr/>
          <p:nvPr/>
        </p:nvSpPr>
        <p:spPr>
          <a:xfrm>
            <a:off x="2011680" y="2148840"/>
            <a:ext cx="640080" cy="457200"/>
          </a:xfrm>
          <a:prstGeom prst="line">
            <a:avLst/>
          </a:prstGeom>
          <a:noFill/>
          <a:ln w="19050">
            <a:solidFill>
              <a:schemeClr val="accent2"/>
            </a:solidFill>
            <a:prstDash val="solid"/>
            <a:tailEnd type="triangle"/>
          </a:ln>
        </p:spPr>
      </p:sp>
      <p:sp>
        <p:nvSpPr>
          <p:cNvPr id="12" name="Text 8"/>
          <p:cNvSpPr txBox="1"/>
          <p:nvPr/>
        </p:nvSpPr>
        <p:spPr>
          <a:xfrm>
            <a:off x="457200" y="2423160"/>
            <a:ext cx="1554480" cy="365760"/>
          </a:xfrm>
          <a:prstGeom prst="roundRect">
            <a:avLst>
              <a:gd name="adj" fmla="val 17500"/>
            </a:avLst>
          </a:prstGeom>
          <a:solidFill>
            <a:schemeClr val="accent1"/>
          </a:solidFill>
          <a:ln w="12700">
            <a:solidFill>
              <a:schemeClr val="accent3"/>
            </a:solidFill>
          </a:ln>
        </p:spPr>
        <p:txBody>
          <a:bodyPr wrap="square" lIns="381" tIns="381" rIns="381" bIns="381" rtlCol="0" anchor="ctr"/>
          <a:lstStyle/>
          <a:p>
            <a:pPr algn="ctr" indent="0" marL="0">
              <a:buNone/>
            </a:pPr>
            <a:r>
              <a:rPr lang="en-US" sz="1100" b="1" dirty="0">
                <a:solidFill>
                  <a:schemeClr val="bg1"/>
                </a:solidFill>
              </a:rPr>
              <a:t>employee (status)</a:t>
            </a:r>
            <a:endParaRPr lang="en-US" sz="1100" dirty="0"/>
          </a:p>
        </p:txBody>
      </p:sp>
      <p:sp>
        <p:nvSpPr>
          <p:cNvPr id="13" name="Shape 9"/>
          <p:cNvSpPr/>
          <p:nvPr/>
        </p:nvSpPr>
        <p:spPr>
          <a:xfrm>
            <a:off x="2011680" y="2606040"/>
            <a:ext cx="640080" cy="0"/>
          </a:xfrm>
          <a:prstGeom prst="line">
            <a:avLst/>
          </a:prstGeom>
          <a:noFill/>
          <a:ln w="19050">
            <a:solidFill>
              <a:schemeClr val="accent2"/>
            </a:solidFill>
            <a:prstDash val="solid"/>
            <a:tailEnd type="triangle"/>
          </a:ln>
        </p:spPr>
      </p:sp>
      <p:sp>
        <p:nvSpPr>
          <p:cNvPr id="14" name="Text 10"/>
          <p:cNvSpPr txBox="1"/>
          <p:nvPr/>
        </p:nvSpPr>
        <p:spPr>
          <a:xfrm>
            <a:off x="457200" y="2880360"/>
            <a:ext cx="1554480" cy="365760"/>
          </a:xfrm>
          <a:prstGeom prst="roundRect">
            <a:avLst>
              <a:gd name="adj" fmla="val 17500"/>
            </a:avLst>
          </a:prstGeom>
          <a:solidFill>
            <a:schemeClr val="accent1"/>
          </a:solidFill>
          <a:ln w="12700">
            <a:solidFill>
              <a:schemeClr val="accent3"/>
            </a:solidFill>
          </a:ln>
        </p:spPr>
        <p:txBody>
          <a:bodyPr wrap="square" lIns="381" tIns="381" rIns="381" bIns="381" rtlCol="0" anchor="ctr"/>
          <a:lstStyle/>
          <a:p>
            <a:pPr algn="ctr" indent="0" marL="0">
              <a:buNone/>
            </a:pPr>
            <a:r>
              <a:rPr lang="en-US" sz="1100" b="1" dirty="0">
                <a:solidFill>
                  <a:schemeClr val="bg1"/>
                </a:solidFill>
              </a:rPr>
              <a:t>payroll_config</a:t>
            </a:r>
            <a:endParaRPr lang="en-US" sz="1100" dirty="0"/>
          </a:p>
        </p:txBody>
      </p:sp>
      <p:sp>
        <p:nvSpPr>
          <p:cNvPr id="15" name="Shape 11"/>
          <p:cNvSpPr/>
          <p:nvPr/>
        </p:nvSpPr>
        <p:spPr>
          <a:xfrm flipV="1">
            <a:off x="2011680" y="2606040"/>
            <a:ext cx="640080" cy="457200"/>
          </a:xfrm>
          <a:prstGeom prst="line">
            <a:avLst/>
          </a:prstGeom>
          <a:noFill/>
          <a:ln w="19050">
            <a:solidFill>
              <a:schemeClr val="accent2"/>
            </a:solidFill>
            <a:prstDash val="solid"/>
            <a:tailEnd type="triangle"/>
          </a:ln>
        </p:spPr>
      </p:sp>
      <p:sp>
        <p:nvSpPr>
          <p:cNvPr id="16" name="Text 12"/>
          <p:cNvSpPr txBox="1"/>
          <p:nvPr/>
        </p:nvSpPr>
        <p:spPr>
          <a:xfrm>
            <a:off x="2651760" y="2377440"/>
            <a:ext cx="1554480" cy="457200"/>
          </a:xfrm>
          <a:prstGeom prst="roundRect">
            <a:avLst>
              <a:gd name="adj" fmla="val 14000"/>
            </a:avLst>
          </a:prstGeom>
          <a:solidFill>
            <a:schemeClr val="bg1"/>
          </a:solidFill>
          <a:ln w="22225">
            <a:solidFill>
              <a:schemeClr val="accent2"/>
            </a:solidFill>
          </a:ln>
        </p:spPr>
        <p:txBody>
          <a:bodyPr wrap="square" lIns="381" tIns="381" rIns="381" bIns="381" rtlCol="0" anchor="ctr"/>
          <a:lstStyle/>
          <a:p>
            <a:pPr algn="ctr" indent="0" marL="0">
              <a:buNone/>
            </a:pPr>
            <a:r>
              <a:rPr lang="en-US" sz="1100" b="1" dirty="0">
                <a:solidFill>
                  <a:schemeClr val="tx2"/>
                </a:solidFill>
              </a:rPr>
              <a:t>audit_log</a:t>
            </a:r>
            <a:endParaRPr lang="en-US" sz="1100" dirty="0"/>
          </a:p>
        </p:txBody>
      </p:sp>
      <p:sp>
        <p:nvSpPr>
          <p:cNvPr id="17" name="Text 13"/>
          <p:cNvSpPr txBox="1"/>
          <p:nvPr/>
        </p:nvSpPr>
        <p:spPr>
          <a:xfrm>
            <a:off x="457200" y="3337560"/>
            <a:ext cx="3749040" cy="201168"/>
          </a:xfrm>
          <a:prstGeom prst="rect">
            <a:avLst/>
          </a:prstGeom>
          <a:noFill/>
          <a:ln/>
        </p:spPr>
        <p:txBody>
          <a:bodyPr wrap="square" lIns="0" tIns="0" rIns="0" bIns="0" rtlCol="0" anchor="ctr"/>
          <a:lstStyle/>
          <a:p>
            <a:pPr algn="ctr" indent="0" marL="0">
              <a:buNone/>
            </a:pPr>
            <a:r>
              <a:rPr lang="en-US" sz="950" b="1" dirty="0">
                <a:solidFill>
                  <a:schemeClr val="accent3"/>
                </a:solidFill>
              </a:rPr>
              <a:t>3 audit triggers (AFTER UPDATE)</a:t>
            </a:r>
            <a:endParaRPr lang="en-US" sz="950" dirty="0"/>
          </a:p>
        </p:txBody>
      </p:sp>
      <p:sp>
        <p:nvSpPr>
          <p:cNvPr id="18" name="Text 14"/>
          <p:cNvSpPr txBox="1"/>
          <p:nvPr/>
        </p:nvSpPr>
        <p:spPr>
          <a:xfrm>
            <a:off x="457200" y="3794760"/>
            <a:ext cx="1554480" cy="502920"/>
          </a:xfrm>
          <a:prstGeom prst="roundRect">
            <a:avLst>
              <a:gd name="adj" fmla="val 12727"/>
            </a:avLst>
          </a:prstGeom>
          <a:solidFill>
            <a:schemeClr val="accent1"/>
          </a:solidFill>
          <a:ln w="12700">
            <a:solidFill>
              <a:schemeClr val="accent3"/>
            </a:solidFill>
          </a:ln>
        </p:spPr>
        <p:txBody>
          <a:bodyPr wrap="square" lIns="381" tIns="381" rIns="381" bIns="381" rtlCol="0" anchor="ctr"/>
          <a:lstStyle/>
          <a:p>
            <a:pPr algn="ctr" indent="0" marL="0">
              <a:buNone/>
            </a:pPr>
            <a:r>
              <a:rPr lang="en-US" sz="1100" b="1" dirty="0">
                <a:solidFill>
                  <a:schemeClr val="bg1"/>
                </a:solidFill>
              </a:rPr>
              <a:t>payroll_period</a:t>
            </a:r>
            <a:endParaRPr lang="en-US" sz="1100" dirty="0"/>
          </a:p>
          <a:p>
            <a:pPr algn="ctr" indent="0" marL="0">
              <a:buNone/>
            </a:pPr>
            <a:r>
              <a:rPr lang="en-US" sz="1100" b="1" dirty="0">
                <a:solidFill>
                  <a:schemeClr val="bg1"/>
                </a:solidFill>
              </a:rPr>
              <a:t>(status)</a:t>
            </a:r>
            <a:endParaRPr lang="en-US" sz="1100" dirty="0"/>
          </a:p>
        </p:txBody>
      </p:sp>
      <p:sp>
        <p:nvSpPr>
          <p:cNvPr id="19" name="Text 15"/>
          <p:cNvSpPr txBox="1"/>
          <p:nvPr/>
        </p:nvSpPr>
        <p:spPr>
          <a:xfrm>
            <a:off x="2651760" y="3794760"/>
            <a:ext cx="1554480" cy="502920"/>
          </a:xfrm>
          <a:prstGeom prst="roundRect">
            <a:avLst>
              <a:gd name="adj" fmla="val 12727"/>
            </a:avLst>
          </a:prstGeom>
          <a:solidFill>
            <a:schemeClr val="bg1"/>
          </a:solidFill>
          <a:ln w="22225">
            <a:solidFill>
              <a:schemeClr val="accent2"/>
            </a:solidFill>
          </a:ln>
        </p:spPr>
        <p:txBody>
          <a:bodyPr wrap="square" lIns="381" tIns="381" rIns="381" bIns="381" rtlCol="0" anchor="ctr"/>
          <a:lstStyle/>
          <a:p>
            <a:pPr algn="ctr" indent="0" marL="0">
              <a:buNone/>
            </a:pPr>
            <a:r>
              <a:rPr lang="en-US" sz="1100" b="1" dirty="0">
                <a:solidFill>
                  <a:schemeClr val="tx2"/>
                </a:solidFill>
              </a:rPr>
              <a:t>payroll_detail</a:t>
            </a:r>
            <a:endParaRPr lang="en-US" sz="1100" dirty="0"/>
          </a:p>
        </p:txBody>
      </p:sp>
      <p:sp>
        <p:nvSpPr>
          <p:cNvPr id="20" name="Shape 16"/>
          <p:cNvSpPr/>
          <p:nvPr/>
        </p:nvSpPr>
        <p:spPr>
          <a:xfrm>
            <a:off x="2011680" y="4041648"/>
            <a:ext cx="640080" cy="0"/>
          </a:xfrm>
          <a:prstGeom prst="line">
            <a:avLst/>
          </a:prstGeom>
          <a:noFill/>
          <a:ln w="25400">
            <a:solidFill>
              <a:schemeClr val="accent2"/>
            </a:solidFill>
            <a:prstDash val="solid"/>
            <a:tailEnd type="triangle"/>
          </a:ln>
        </p:spPr>
      </p:sp>
      <p:sp>
        <p:nvSpPr>
          <p:cNvPr id="21" name="Text 17"/>
          <p:cNvSpPr txBox="1"/>
          <p:nvPr/>
        </p:nvSpPr>
        <p:spPr>
          <a:xfrm>
            <a:off x="457200" y="4370832"/>
            <a:ext cx="3749040" cy="201168"/>
          </a:xfrm>
          <a:prstGeom prst="rect">
            <a:avLst/>
          </a:prstGeom>
          <a:noFill/>
          <a:ln/>
        </p:spPr>
        <p:txBody>
          <a:bodyPr wrap="square" lIns="0" tIns="0" rIns="0" bIns="0" rtlCol="0" anchor="ctr"/>
          <a:lstStyle/>
          <a:p>
            <a:pPr algn="ctr" indent="0" marL="0">
              <a:buNone/>
            </a:pPr>
            <a:r>
              <a:rPr lang="en-US" sz="950" b="1" dirty="0">
                <a:solidFill>
                  <a:schemeClr val="accent3"/>
                </a:solidFill>
              </a:rPr>
              <a:t>3 lock triggers (BEFORE INSERT/UPDATE/DELETE)</a:t>
            </a:r>
            <a:endParaRPr lang="en-US" sz="950" dirty="0"/>
          </a:p>
        </p:txBody>
      </p:sp>
      <p:sp>
        <p:nvSpPr>
          <p:cNvPr id="22" name="Text 18"/>
          <p:cNvSpPr txBox="1"/>
          <p:nvPr/>
        </p:nvSpPr>
        <p:spPr>
          <a:xfrm>
            <a:off x="4663440" y="1097280"/>
            <a:ext cx="274320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SQLite trigger: lock paid payroll</a:t>
            </a:r>
            <a:endParaRPr lang="en-US" sz="1100" dirty="0"/>
          </a:p>
        </p:txBody>
      </p:sp>
      <p:sp>
        <p:nvSpPr>
          <p:cNvPr id="23" name="Shape 19"/>
          <p:cNvSpPr/>
          <p:nvPr/>
        </p:nvSpPr>
        <p:spPr>
          <a:xfrm>
            <a:off x="4663440" y="1399032"/>
            <a:ext cx="4023360" cy="2011680"/>
          </a:xfrm>
          <a:prstGeom prst="roundRect">
            <a:avLst>
              <a:gd name="adj" fmla="val 3636"/>
            </a:avLst>
          </a:prstGeom>
          <a:solidFill>
            <a:schemeClr val="tx2"/>
          </a:solidFill>
          <a:ln w="12700">
            <a:solidFill>
              <a:schemeClr val="tx2"/>
            </a:solidFill>
            <a:prstDash val="solid"/>
          </a:ln>
        </p:spPr>
      </p:sp>
      <p:sp>
        <p:nvSpPr>
          <p:cNvPr id="24" name="Text 20"/>
          <p:cNvSpPr txBox="1"/>
          <p:nvPr/>
        </p:nvSpPr>
        <p:spPr>
          <a:xfrm>
            <a:off x="4800600" y="1490472"/>
            <a:ext cx="3749040" cy="1828800"/>
          </a:xfrm>
          <a:prstGeom prst="rect">
            <a:avLst/>
          </a:prstGeom>
          <a:noFill/>
          <a:ln/>
        </p:spPr>
        <p:txBody>
          <a:bodyPr wrap="square" lIns="0" tIns="0" rIns="0" bIns="0" rtlCol="0" anchor="t"/>
          <a:lstStyle/>
          <a:p>
            <a:pPr indent="0" marL="0">
              <a:buNone/>
            </a:pPr>
            <a:r>
              <a:rPr lang="en-US" sz="900" dirty="0">
                <a:solidFill>
                  <a:schemeClr val="bg2"/>
                </a:solidFill>
                <a:latin typeface="Courier New" pitchFamily="34" charset="0"/>
                <a:ea typeface="Courier New" pitchFamily="34" charset="-122"/>
                <a:cs typeface="Courier New" pitchFamily="34" charset="-120"/>
              </a:rPr>
              <a:t>CREATE TRIGGER trg_payroll_detail_lock_update</a:t>
            </a:r>
            <a:pPr indent="0" marL="0">
              <a:buNone/>
            </a:pP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BEFORE </a:t>
            </a:r>
            <a:pPr indent="0" marL="0">
              <a:buNone/>
            </a:pPr>
            <a:r>
              <a:rPr lang="en-US" sz="900" b="1" dirty="0">
                <a:solidFill>
                  <a:schemeClr val="accent2"/>
                </a:solidFill>
                <a:latin typeface="Courier New" pitchFamily="34" charset="0"/>
                <a:ea typeface="Courier New" pitchFamily="34" charset="-122"/>
                <a:cs typeface="Courier New" pitchFamily="34" charset="-120"/>
              </a:rPr>
              <a:t>UPDATE</a:t>
            </a:r>
            <a:pPr indent="0" marL="0">
              <a:buNone/>
            </a:pPr>
            <a:r>
              <a:rPr lang="en-US" sz="900" dirty="0">
                <a:solidFill>
                  <a:schemeClr val="bg2"/>
                </a:solidFill>
                <a:latin typeface="Courier New" pitchFamily="34" charset="0"/>
                <a:ea typeface="Courier New" pitchFamily="34" charset="-122"/>
                <a:cs typeface="Courier New" pitchFamily="34" charset="-120"/>
              </a:rPr>
              <a:t> </a:t>
            </a:r>
            <a:pPr indent="0" marL="0">
              <a:buNone/>
            </a:pPr>
            <a:r>
              <a:rPr lang="en-US" sz="900" b="1" dirty="0">
                <a:solidFill>
                  <a:schemeClr val="accent2"/>
                </a:solidFill>
                <a:latin typeface="Courier New" pitchFamily="34" charset="0"/>
                <a:ea typeface="Courier New" pitchFamily="34" charset="-122"/>
                <a:cs typeface="Courier New" pitchFamily="34" charset="-120"/>
              </a:rPr>
              <a:t>ON</a:t>
            </a:r>
            <a:pPr indent="0" marL="0">
              <a:buNone/>
            </a:pPr>
            <a:r>
              <a:rPr lang="en-US" sz="900" dirty="0">
                <a:solidFill>
                  <a:schemeClr val="bg2"/>
                </a:solidFill>
                <a:latin typeface="Courier New" pitchFamily="34" charset="0"/>
                <a:ea typeface="Courier New" pitchFamily="34" charset="-122"/>
                <a:cs typeface="Courier New" pitchFamily="34" charset="-120"/>
              </a:rPr>
              <a:t> payroll_detail</a:t>
            </a:r>
            <a:pPr indent="0" marL="0">
              <a:buNone/>
            </a:pP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FOR EACH ROW</a:t>
            </a:r>
            <a:pPr indent="0" marL="0">
              <a:buNone/>
            </a:pP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WHEN (</a:t>
            </a:r>
            <a:pPr indent="0" marL="0">
              <a:buNone/>
            </a:pPr>
            <a:r>
              <a:rPr lang="en-US" sz="900" b="1" dirty="0">
                <a:solidFill>
                  <a:schemeClr val="accent2"/>
                </a:solidFill>
                <a:latin typeface="Courier New" pitchFamily="34" charset="0"/>
                <a:ea typeface="Courier New" pitchFamily="34" charset="-122"/>
                <a:cs typeface="Courier New" pitchFamily="34" charset="-120"/>
              </a:rPr>
              <a:t>SELECT</a:t>
            </a:r>
            <a:pPr indent="0" marL="0">
              <a:buNone/>
            </a:pPr>
            <a:r>
              <a:rPr lang="en-US" sz="900" dirty="0">
                <a:solidFill>
                  <a:schemeClr val="bg2"/>
                </a:solidFill>
                <a:latin typeface="Courier New" pitchFamily="34" charset="0"/>
                <a:ea typeface="Courier New" pitchFamily="34" charset="-122"/>
                <a:cs typeface="Courier New" pitchFamily="34" charset="-120"/>
              </a:rPr>
              <a:t> status </a:t>
            </a:r>
            <a:pPr indent="0" marL="0">
              <a:buNone/>
            </a:pPr>
            <a:r>
              <a:rPr lang="en-US" sz="900" b="1" dirty="0">
                <a:solidFill>
                  <a:schemeClr val="accent2"/>
                </a:solidFill>
                <a:latin typeface="Courier New" pitchFamily="34" charset="0"/>
                <a:ea typeface="Courier New" pitchFamily="34" charset="-122"/>
                <a:cs typeface="Courier New" pitchFamily="34" charset="-120"/>
              </a:rPr>
              <a:t>FROM</a:t>
            </a:r>
            <a:pPr indent="0" marL="0">
              <a:buNone/>
            </a:pPr>
            <a:r>
              <a:rPr lang="en-US" sz="900" dirty="0">
                <a:solidFill>
                  <a:schemeClr val="bg2"/>
                </a:solidFill>
                <a:latin typeface="Courier New" pitchFamily="34" charset="0"/>
                <a:ea typeface="Courier New" pitchFamily="34" charset="-122"/>
                <a:cs typeface="Courier New" pitchFamily="34" charset="-120"/>
              </a:rPr>
              <a:t> payroll_period</a:t>
            </a:r>
            <a:pPr indent="0" marL="0">
              <a:buNone/>
            </a:pP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a:t>
            </a:r>
            <a:pPr indent="0" marL="0">
              <a:buNone/>
            </a:pPr>
            <a:r>
              <a:rPr lang="en-US" sz="900" b="1" dirty="0">
                <a:solidFill>
                  <a:schemeClr val="accent2"/>
                </a:solidFill>
                <a:latin typeface="Courier New" pitchFamily="34" charset="0"/>
                <a:ea typeface="Courier New" pitchFamily="34" charset="-122"/>
                <a:cs typeface="Courier New" pitchFamily="34" charset="-120"/>
              </a:rPr>
              <a:t>WHERE</a:t>
            </a:r>
            <a:pPr indent="0" marL="0">
              <a:buNone/>
            </a:pPr>
            <a:r>
              <a:rPr lang="en-US" sz="900" dirty="0">
                <a:solidFill>
                  <a:schemeClr val="bg2"/>
                </a:solidFill>
                <a:latin typeface="Courier New" pitchFamily="34" charset="0"/>
                <a:ea typeface="Courier New" pitchFamily="34" charset="-122"/>
                <a:cs typeface="Courier New" pitchFamily="34" charset="-120"/>
              </a:rPr>
              <a:t> payroll_period_id =</a:t>
            </a:r>
            <a:pPr indent="0" marL="0">
              <a:buNone/>
            </a:pP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OLD.payroll_period_id) &lt;&gt; 'OPEN'</a:t>
            </a:r>
            <a:pPr indent="0" marL="0">
              <a:buNone/>
            </a:pP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BEGIN</a:t>
            </a:r>
            <a:pPr indent="0" marL="0">
              <a:buNone/>
            </a:pP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a:t>
            </a:r>
            <a:pPr indent="0" marL="0">
              <a:buNone/>
            </a:pPr>
            <a:r>
              <a:rPr lang="en-US" sz="900" b="1" dirty="0">
                <a:solidFill>
                  <a:schemeClr val="accent2"/>
                </a:solidFill>
                <a:latin typeface="Courier New" pitchFamily="34" charset="0"/>
                <a:ea typeface="Courier New" pitchFamily="34" charset="-122"/>
                <a:cs typeface="Courier New" pitchFamily="34" charset="-120"/>
              </a:rPr>
              <a:t>SELECT</a:t>
            </a:r>
            <a:pPr indent="0" marL="0">
              <a:buNone/>
            </a:pPr>
            <a:r>
              <a:rPr lang="en-US" sz="900" dirty="0">
                <a:solidFill>
                  <a:schemeClr val="bg2"/>
                </a:solidFill>
                <a:latin typeface="Courier New" pitchFamily="34" charset="0"/>
                <a:ea typeface="Courier New" pitchFamily="34" charset="-122"/>
                <a:cs typeface="Courier New" pitchFamily="34" charset="-120"/>
              </a:rPr>
              <a:t> RAISE(ABORT,</a:t>
            </a:r>
            <a:pPr indent="0" marL="0">
              <a:buNone/>
            </a:pP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'Payroll history is locked:</a:t>
            </a:r>
            <a:pPr indent="0" marL="0">
              <a:buNone/>
            </a:pP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the period is no longer OPEN');</a:t>
            </a:r>
            <a:pPr indent="0" marL="0">
              <a:buNone/>
            </a:pP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END;</a:t>
            </a:r>
            <a:pPr indent="0" marL="0">
              <a:buNone/>
            </a:pPr>
            <a:endParaRPr lang="en-US" sz="900" dirty="0"/>
          </a:p>
        </p:txBody>
      </p:sp>
      <p:sp>
        <p:nvSpPr>
          <p:cNvPr id="25" name="Shape 21"/>
          <p:cNvSpPr/>
          <p:nvPr/>
        </p:nvSpPr>
        <p:spPr>
          <a:xfrm>
            <a:off x="4663440" y="3566160"/>
            <a:ext cx="4023360" cy="1097280"/>
          </a:xfrm>
          <a:prstGeom prst="roundRect">
            <a:avLst>
              <a:gd name="adj" fmla="val 6667"/>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6" name="Text 22"/>
          <p:cNvSpPr txBox="1"/>
          <p:nvPr/>
        </p:nvSpPr>
        <p:spPr>
          <a:xfrm>
            <a:off x="4800600" y="3639312"/>
            <a:ext cx="3749040" cy="960120"/>
          </a:xfrm>
          <a:prstGeom prst="rect">
            <a:avLst/>
          </a:prstGeom>
          <a:noFill/>
          <a:ln/>
        </p:spPr>
        <p:txBody>
          <a:bodyPr wrap="square" lIns="0" tIns="0" rIns="0" bIns="0" rtlCol="0" anchor="ctr"/>
          <a:lstStyle/>
          <a:p>
            <a:pPr indent="0" marL="0">
              <a:spcAft>
                <a:spcPts val="400"/>
              </a:spcAft>
              <a:buNone/>
            </a:pPr>
            <a:r>
              <a:rPr lang="en-US" sz="1150" b="1" dirty="0">
                <a:solidFill>
                  <a:schemeClr val="tx2"/>
                </a:solidFill>
              </a:rPr>
              <a:t>Views  </a:t>
            </a:r>
            <a:pPr indent="0" marL="0">
              <a:spcAft>
                <a:spcPts val="400"/>
              </a:spcAft>
              <a:buNone/>
            </a:pPr>
            <a:r>
              <a:rPr lang="en-US" sz="1150" dirty="0">
                <a:solidFill>
                  <a:schemeClr val="tx1"/>
                </a:solidFill>
              </a:rPr>
              <a:t>v_payroll_summary, v_department_cost, v_loan_ledger</a:t>
            </a:r>
            <a:endParaRPr lang="en-US" sz="1150" dirty="0"/>
          </a:p>
          <a:p>
            <a:pPr indent="0" marL="0">
              <a:spcAft>
                <a:spcPts val="400"/>
              </a:spcAft>
              <a:buNone/>
            </a:pPr>
            <a:r>
              <a:rPr lang="en-US" sz="1150" b="1" dirty="0">
                <a:solidFill>
                  <a:schemeClr val="tx2"/>
                </a:solidFill>
              </a:rPr>
              <a:t>Tested  </a:t>
            </a:r>
            <a:pPr indent="0" marL="0">
              <a:spcAft>
                <a:spcPts val="400"/>
              </a:spcAft>
              <a:buNone/>
            </a:pPr>
            <a:r>
              <a:rPr lang="en-US" sz="1150" dirty="0">
                <a:solidFill>
                  <a:schemeClr val="tx1"/>
                </a:solidFill>
              </a:rPr>
              <a:t>on SQLite and on a real MySQL 8 server (SIGNAL variant)</a:t>
            </a:r>
            <a:endParaRPr lang="en-US" sz="11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Final Relational Schema</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920240"/>
                <a:gridCol w="2103120"/>
                <a:gridCol w="3566160"/>
                <a:gridCol w="640080"/>
              </a:tblGrid>
              <a:tr h="187452">
                <a:tc>
                  <a:txBody>
                    <a:bodyPr/>
                    <a:lstStyle/>
                    <a:p>
                      <a:pPr indent="0" marL="0">
                        <a:buNone/>
                      </a:pPr>
                      <a:r>
                        <a:rPr lang="en-US" sz="950" b="1" dirty="0">
                          <a:solidFill>
                            <a:schemeClr val="bg1"/>
                          </a:solidFill>
                        </a:rPr>
                        <a:t>Table</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accent3"/>
                    </a:solidFill>
                  </a:tcPr>
                </a:tc>
                <a:tc>
                  <a:txBody>
                    <a:bodyPr/>
                    <a:lstStyle/>
                    <a:p>
                      <a:pPr indent="0" marL="0">
                        <a:buNone/>
                      </a:pPr>
                      <a:r>
                        <a:rPr lang="en-US" sz="950" b="1" dirty="0">
                          <a:solidFill>
                            <a:schemeClr val="bg1"/>
                          </a:solidFill>
                        </a:rPr>
                        <a:t>Primary key</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accent3"/>
                    </a:solidFill>
                  </a:tcPr>
                </a:tc>
                <a:tc>
                  <a:txBody>
                    <a:bodyPr/>
                    <a:lstStyle/>
                    <a:p>
                      <a:pPr indent="0" marL="0">
                        <a:buNone/>
                      </a:pPr>
                      <a:r>
                        <a:rPr lang="en-US" sz="950" b="1" dirty="0">
                          <a:solidFill>
                            <a:schemeClr val="bg1"/>
                          </a:solidFill>
                        </a:rPr>
                        <a:t>Foreign keys</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accent3"/>
                    </a:solidFill>
                  </a:tcPr>
                </a:tc>
                <a:tc>
                  <a:txBody>
                    <a:bodyPr/>
                    <a:lstStyle/>
                    <a:p>
                      <a:pPr indent="0" marL="0">
                        <a:buNone/>
                      </a:pPr>
                      <a:r>
                        <a:rPr lang="en-US" sz="950" b="1" dirty="0">
                          <a:solidFill>
                            <a:schemeClr val="bg1"/>
                          </a:solidFill>
                        </a:rPr>
                        <a:t>Rows</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accent3"/>
                    </a:solidFill>
                  </a:tcPr>
                </a:tc>
              </a:tr>
              <a:tr h="187452">
                <a:tc>
                  <a:txBody>
                    <a:bodyPr/>
                    <a:lstStyle/>
                    <a:p>
                      <a:pPr indent="0" marL="0">
                        <a:buNone/>
                      </a:pPr>
                      <a:r>
                        <a:rPr lang="en-US" sz="950" dirty="0">
                          <a:solidFill>
                            <a:schemeClr val="tx1"/>
                          </a:solidFill>
                        </a:rPr>
                        <a:t>department</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department_id</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6</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187452">
                <a:tc>
                  <a:txBody>
                    <a:bodyPr/>
                    <a:lstStyle/>
                    <a:p>
                      <a:pPr indent="0" marL="0">
                        <a:buNone/>
                      </a:pPr>
                      <a:r>
                        <a:rPr lang="en-US" sz="950" dirty="0">
                          <a:solidFill>
                            <a:schemeClr val="tx1"/>
                          </a:solidFill>
                        </a:rPr>
                        <a:t>designation</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designation_id</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8</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r h="187452">
                <a:tc>
                  <a:txBody>
                    <a:bodyPr/>
                    <a:lstStyle/>
                    <a:p>
                      <a:pPr indent="0" marL="0">
                        <a:buNone/>
                      </a:pPr>
                      <a:r>
                        <a:rPr lang="en-US" sz="950" dirty="0">
                          <a:solidFill>
                            <a:schemeClr val="tx1"/>
                          </a:solidFill>
                        </a:rPr>
                        <a:t>payroll_config</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config_key</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8</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187452">
                <a:tc>
                  <a:txBody>
                    <a:bodyPr/>
                    <a:lstStyle/>
                    <a:p>
                      <a:pPr indent="0" marL="0">
                        <a:buNone/>
                      </a:pPr>
                      <a:r>
                        <a:rPr lang="en-US" sz="950" dirty="0">
                          <a:solidFill>
                            <a:schemeClr val="tx1"/>
                          </a:solidFill>
                        </a:rPr>
                        <a:t>employee</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employee_id</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department_id, designation_id</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30</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r h="187452">
                <a:tc>
                  <a:txBody>
                    <a:bodyPr/>
                    <a:lstStyle/>
                    <a:p>
                      <a:pPr indent="0" marL="0">
                        <a:buNone/>
                      </a:pPr>
                      <a:r>
                        <a:rPr lang="en-US" sz="950" dirty="0">
                          <a:solidFill>
                            <a:schemeClr val="tx1"/>
                          </a:solidFill>
                        </a:rPr>
                        <a:t>salary_structure</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salary_structure_id</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employee_id (unique)</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30</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187452">
                <a:tc>
                  <a:txBody>
                    <a:bodyPr/>
                    <a:lstStyle/>
                    <a:p>
                      <a:pPr indent="0" marL="0">
                        <a:buNone/>
                      </a:pPr>
                      <a:r>
                        <a:rPr lang="en-US" sz="950" dirty="0">
                          <a:solidFill>
                            <a:schemeClr val="tx1"/>
                          </a:solidFill>
                        </a:rPr>
                        <a:t>payroll_period</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payroll_period_id</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3</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r h="187452">
                <a:tc>
                  <a:txBody>
                    <a:bodyPr/>
                    <a:lstStyle/>
                    <a:p>
                      <a:pPr indent="0" marL="0">
                        <a:buNone/>
                      </a:pPr>
                      <a:r>
                        <a:rPr lang="en-US" sz="950" dirty="0">
                          <a:solidFill>
                            <a:schemeClr val="tx1"/>
                          </a:solidFill>
                        </a:rPr>
                        <a:t>attendance_summary</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attendance_id</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employee_id, payroll_period_id</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90</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187452">
                <a:tc>
                  <a:txBody>
                    <a:bodyPr/>
                    <a:lstStyle/>
                    <a:p>
                      <a:pPr indent="0" marL="0">
                        <a:buNone/>
                      </a:pPr>
                      <a:r>
                        <a:rPr lang="en-US" sz="950" dirty="0">
                          <a:solidFill>
                            <a:schemeClr val="tx1"/>
                          </a:solidFill>
                        </a:rPr>
                        <a:t>earnings</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earning_id</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employee_id, payroll_period_id</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18</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r h="187452">
                <a:tc>
                  <a:txBody>
                    <a:bodyPr/>
                    <a:lstStyle/>
                    <a:p>
                      <a:pPr indent="0" marL="0">
                        <a:buNone/>
                      </a:pPr>
                      <a:r>
                        <a:rPr lang="en-US" sz="950" dirty="0">
                          <a:solidFill>
                            <a:schemeClr val="tx1"/>
                          </a:solidFill>
                        </a:rPr>
                        <a:t>deductions</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deduction_id</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employee_id, payroll_period_id</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251</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187452">
                <a:tc>
                  <a:txBody>
                    <a:bodyPr/>
                    <a:lstStyle/>
                    <a:p>
                      <a:pPr indent="0" marL="0">
                        <a:buNone/>
                      </a:pPr>
                      <a:r>
                        <a:rPr lang="en-US" sz="950" dirty="0">
                          <a:solidFill>
                            <a:schemeClr val="tx1"/>
                          </a:solidFill>
                        </a:rPr>
                        <a:t>loan</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loan_id</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employee_id</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6</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r h="187452">
                <a:tc>
                  <a:txBody>
                    <a:bodyPr/>
                    <a:lstStyle/>
                    <a:p>
                      <a:pPr indent="0" marL="0">
                        <a:buNone/>
                      </a:pPr>
                      <a:r>
                        <a:rPr lang="en-US" sz="950" dirty="0">
                          <a:solidFill>
                            <a:schemeClr val="tx1"/>
                          </a:solidFill>
                        </a:rPr>
                        <a:t>payroll_detail</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payroll_id</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employee_id, payroll_period_id</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87</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187452">
                <a:tc>
                  <a:txBody>
                    <a:bodyPr/>
                    <a:lstStyle/>
                    <a:p>
                      <a:pPr indent="0" marL="0">
                        <a:buNone/>
                      </a:pPr>
                      <a:r>
                        <a:rPr lang="en-US" sz="950" dirty="0">
                          <a:solidFill>
                            <a:schemeClr val="tx1"/>
                          </a:solidFill>
                        </a:rPr>
                        <a:t>loan_repayment</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repayment_id</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loan_id, payroll_id (nullable)</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14</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r h="187452">
                <a:tc>
                  <a:txBody>
                    <a:bodyPr/>
                    <a:lstStyle/>
                    <a:p>
                      <a:pPr indent="0" marL="0">
                        <a:buNone/>
                      </a:pPr>
                      <a:r>
                        <a:rPr lang="en-US" sz="950" dirty="0">
                          <a:solidFill>
                            <a:schemeClr val="tx1"/>
                          </a:solidFill>
                        </a:rPr>
                        <a:t>payslip</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payslip_id</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payroll_id (unique)</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87</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187452">
                <a:tc>
                  <a:txBody>
                    <a:bodyPr/>
                    <a:lstStyle/>
                    <a:p>
                      <a:pPr indent="0" marL="0">
                        <a:buNone/>
                      </a:pPr>
                      <a:r>
                        <a:rPr lang="en-US" sz="950" dirty="0">
                          <a:solidFill>
                            <a:schemeClr val="tx1"/>
                          </a:solidFill>
                        </a:rPr>
                        <a:t>bank_transfer</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transfer_id</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payroll_id (unique)</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58</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r h="187452">
                <a:tc>
                  <a:txBody>
                    <a:bodyPr/>
                    <a:lstStyle/>
                    <a:p>
                      <a:pPr indent="0" marL="0">
                        <a:buNone/>
                      </a:pPr>
                      <a:r>
                        <a:rPr lang="en-US" sz="950" dirty="0">
                          <a:solidFill>
                            <a:schemeClr val="tx1"/>
                          </a:solidFill>
                        </a:rPr>
                        <a:t>app_user</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user_id</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employee_id (nullable)</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7</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187452">
                <a:tc>
                  <a:txBody>
                    <a:bodyPr/>
                    <a:lstStyle/>
                    <a:p>
                      <a:pPr indent="0" marL="0">
                        <a:buNone/>
                      </a:pPr>
                      <a:r>
                        <a:rPr lang="en-US" sz="950" dirty="0">
                          <a:solidFill>
                            <a:schemeClr val="tx1"/>
                          </a:solidFill>
                        </a:rPr>
                        <a:t>audit_log</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audit_id</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 (written by triggers)</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0</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bl>
          </a:graphicData>
        </a:graphic>
      </p:graphicFrame>
      <p:sp>
        <p:nvSpPr>
          <p:cNvPr id="7" name="Text 2"/>
          <p:cNvSpPr txBox="1"/>
          <p:nvPr/>
        </p:nvSpPr>
        <p:spPr>
          <a:xfrm>
            <a:off x="457200" y="4608576"/>
            <a:ext cx="8229600" cy="201168"/>
          </a:xfrm>
          <a:prstGeom prst="rect">
            <a:avLst/>
          </a:prstGeom>
          <a:noFill/>
          <a:ln/>
        </p:spPr>
        <p:txBody>
          <a:bodyPr wrap="square" lIns="0" tIns="0" rIns="0" bIns="0" rtlCol="0" anchor="t"/>
          <a:lstStyle/>
          <a:p>
            <a:pPr indent="0" marL="0">
              <a:buNone/>
            </a:pPr>
            <a:r>
              <a:rPr lang="en-US" sz="1050" b="1" dirty="0">
                <a:solidFill>
                  <a:schemeClr val="accent3"/>
                </a:solidFill>
              </a:rPr>
              <a:t>Constraints in the schema:  16 PK  |  17 FK  |  14 UNIQUE  |  23 CHECK  |  8 indexes</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Final Application: Dashboard</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20624" y="1152144"/>
            <a:ext cx="5010912" cy="2850642"/>
          </a:xfrm>
          <a:prstGeom prst="rect">
            <a:avLst/>
          </a:prstGeom>
          <a:solidFill>
            <a:schemeClr val="bg1"/>
          </a:solidFill>
          <a:ln w="12700">
            <a:solidFill>
              <a:srgbClr val="D9E2F5"/>
            </a:solidFill>
            <a:prstDash val="solid"/>
          </a:ln>
          <a:effectLst>
            <a:outerShdw sx="100000" sy="100000" kx="0" ky="0" algn="bl" rotWithShape="0" blurRad="76200" dist="25400" dir="5400000">
              <a:srgbClr val="141B41">
                <a:alpha val="12000"/>
              </a:srgbClr>
            </a:outerShdw>
          </a:effectLst>
        </p:spPr>
      </p:sp>
      <p:pic>
        <p:nvPicPr>
          <p:cNvPr id="7" name="Image 1" descr="Screenshot of the running application: dashboard after october">    </p:cNvPr>
          <p:cNvPicPr>
            <a:picLocks noChangeAspect="1"/>
          </p:cNvPicPr>
          <p:nvPr/>
        </p:nvPicPr>
        <p:blipFill>
          <a:blip r:embed="rId2"/>
          <a:stretch>
            <a:fillRect/>
          </a:stretch>
        </p:blipFill>
        <p:spPr>
          <a:xfrm>
            <a:off x="457200" y="1188720"/>
            <a:ext cx="4937760" cy="2777490"/>
          </a:xfrm>
          <a:prstGeom prst="rect">
            <a:avLst/>
          </a:prstGeom>
        </p:spPr>
      </p:pic>
      <p:sp>
        <p:nvSpPr>
          <p:cNvPr id="8" name="Text 3"/>
          <p:cNvSpPr txBox="1"/>
          <p:nvPr/>
        </p:nvSpPr>
        <p:spPr>
          <a:xfrm>
            <a:off x="5669280" y="1188720"/>
            <a:ext cx="3017520" cy="2743200"/>
          </a:xfrm>
          <a:prstGeom prst="rect">
            <a:avLst/>
          </a:prstGeom>
          <a:noFill/>
          <a:ln/>
        </p:spPr>
        <p:txBody>
          <a:bodyPr wrap="square" lIns="0" tIns="0" rIns="0" bIns="0" rtlCol="0" anchor="t"/>
          <a:lstStyle/>
          <a:p>
            <a:pPr marL="177800" indent="-177800">
              <a:spcAft>
                <a:spcPts val="700"/>
              </a:spcAft>
              <a:buSzPct val="100000"/>
              <a:buChar char="•"/>
            </a:pPr>
            <a:r>
              <a:rPr lang="en-US" sz="1300" b="1" dirty="0">
                <a:solidFill>
                  <a:schemeClr val="tx2"/>
                </a:solidFill>
              </a:rPr>
              <a:t>Live SQL: </a:t>
            </a:r>
            <a:pPr indent="0" marL="0">
              <a:spcAft>
                <a:spcPts val="700"/>
              </a:spcAft>
              <a:buNone/>
            </a:pPr>
            <a:r>
              <a:rPr lang="en-US" sz="1300" dirty="0">
                <a:solidFill>
                  <a:schemeClr val="tx1"/>
                </a:solidFill>
              </a:rPr>
              <a:t>every tile and chart is an aggregate query</a:t>
            </a:r>
            <a:endParaRPr lang="en-US" sz="1300" dirty="0"/>
          </a:p>
          <a:p>
            <a:pPr marL="177800" indent="-177800">
              <a:spcAft>
                <a:spcPts val="700"/>
              </a:spcAft>
              <a:buSzPct val="100000"/>
              <a:buChar char="•"/>
            </a:pPr>
            <a:r>
              <a:rPr lang="en-US" sz="1300" b="1" dirty="0">
                <a:solidFill>
                  <a:schemeClr val="tx2"/>
                </a:solidFill>
              </a:rPr>
              <a:t>Latest period: </a:t>
            </a:r>
            <a:pPr indent="0" marL="0">
              <a:spcAft>
                <a:spcPts val="700"/>
              </a:spcAft>
              <a:buNone/>
            </a:pPr>
            <a:r>
              <a:rPr lang="en-US" sz="1300" dirty="0">
                <a:solidFill>
                  <a:schemeClr val="tx1"/>
                </a:solidFill>
              </a:rPr>
              <a:t>October 2026, 29 employees paid</a:t>
            </a:r>
            <a:endParaRPr lang="en-US" sz="1300" dirty="0"/>
          </a:p>
          <a:p>
            <a:pPr marL="177800" indent="-177800">
              <a:spcAft>
                <a:spcPts val="700"/>
              </a:spcAft>
              <a:buSzPct val="100000"/>
              <a:buChar char="•"/>
            </a:pPr>
            <a:r>
              <a:rPr lang="en-US" sz="1300" b="1" dirty="0">
                <a:solidFill>
                  <a:schemeClr val="tx2"/>
                </a:solidFill>
              </a:rPr>
              <a:t>Totals: </a:t>
            </a:r>
            <a:pPr indent="0" marL="0">
              <a:spcAft>
                <a:spcPts val="700"/>
              </a:spcAft>
              <a:buNone/>
            </a:pPr>
            <a:r>
              <a:rPr lang="en-US" sz="1300" dirty="0">
                <a:solidFill>
                  <a:schemeClr val="tx1"/>
                </a:solidFill>
              </a:rPr>
              <a:t>Rs 19,58,110.00 gross, Rs 18,18,956.10 net</a:t>
            </a:r>
            <a:endParaRPr lang="en-US" sz="1300" dirty="0"/>
          </a:p>
          <a:p>
            <a:pPr marL="177800" indent="-177800">
              <a:spcAft>
                <a:spcPts val="700"/>
              </a:spcAft>
              <a:buSzPct val="100000"/>
              <a:buChar char="•"/>
            </a:pPr>
            <a:r>
              <a:rPr lang="en-US" sz="1300" b="1" dirty="0">
                <a:solidFill>
                  <a:schemeClr val="tx2"/>
                </a:solidFill>
              </a:rPr>
              <a:t>Charts: </a:t>
            </a:r>
            <a:pPr indent="0" marL="0">
              <a:spcAft>
                <a:spcPts val="700"/>
              </a:spcAft>
              <a:buNone/>
            </a:pPr>
            <a:r>
              <a:rPr lang="en-US" sz="1300" dirty="0">
                <a:solidFill>
                  <a:schemeClr val="tx1"/>
                </a:solidFill>
              </a:rPr>
              <a:t>three months, headcount by department</a:t>
            </a:r>
            <a:endParaRPr lang="en-US" sz="1300" dirty="0"/>
          </a:p>
        </p:txBody>
      </p:sp>
      <p:sp>
        <p:nvSpPr>
          <p:cNvPr id="9" name="Shape 4"/>
          <p:cNvSpPr/>
          <p:nvPr/>
        </p:nvSpPr>
        <p:spPr>
          <a:xfrm>
            <a:off x="457200" y="4069080"/>
            <a:ext cx="8229600" cy="594360"/>
          </a:xfrm>
          <a:prstGeom prst="roundRect">
            <a:avLst>
              <a:gd name="adj" fmla="val 12308"/>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0" name="Text 5"/>
          <p:cNvSpPr txBox="1"/>
          <p:nvPr/>
        </p:nvSpPr>
        <p:spPr>
          <a:xfrm>
            <a:off x="640080" y="4114800"/>
            <a:ext cx="7863840" cy="502920"/>
          </a:xfrm>
          <a:prstGeom prst="rect">
            <a:avLst/>
          </a:prstGeom>
          <a:noFill/>
          <a:ln/>
        </p:spPr>
        <p:txBody>
          <a:bodyPr wrap="square" lIns="0" tIns="0" rIns="0" bIns="0" rtlCol="0" anchor="ctr"/>
          <a:lstStyle/>
          <a:p>
            <a:pPr indent="0" marL="0">
              <a:buNone/>
            </a:pPr>
            <a:r>
              <a:rPr lang="en-US" sz="1200" dirty="0">
                <a:solidFill>
                  <a:schemeClr val="tx1"/>
                </a:solidFill>
              </a:rPr>
              <a:t>Synthetic data only: names, e-mails and bank accounts are invented for the demonstration.</a:t>
            </a:r>
            <a:endParaRPr lang="en-US" sz="12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Login, Roles and Security</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20624" y="1106424"/>
            <a:ext cx="4096512" cy="2336570"/>
          </a:xfrm>
          <a:prstGeom prst="rect">
            <a:avLst/>
          </a:prstGeom>
          <a:solidFill>
            <a:schemeClr val="bg1"/>
          </a:solidFill>
          <a:ln w="12700">
            <a:solidFill>
              <a:srgbClr val="D9E2F5"/>
            </a:solidFill>
            <a:prstDash val="solid"/>
          </a:ln>
          <a:effectLst>
            <a:outerShdw sx="100000" sy="100000" kx="0" ky="0" algn="bl" rotWithShape="0" blurRad="76200" dist="25400" dir="5400000">
              <a:srgbClr val="141B41">
                <a:alpha val="12000"/>
              </a:srgbClr>
            </a:outerShdw>
          </a:effectLst>
        </p:spPr>
      </p:sp>
      <p:pic>
        <p:nvPicPr>
          <p:cNvPr id="7" name="Image 1" descr="Screenshot of the running application: employee self service">    </p:cNvPr>
          <p:cNvPicPr>
            <a:picLocks noChangeAspect="1"/>
          </p:cNvPicPr>
          <p:nvPr/>
        </p:nvPicPr>
        <p:blipFill>
          <a:blip r:embed="rId2"/>
          <a:stretch>
            <a:fillRect/>
          </a:stretch>
        </p:blipFill>
        <p:spPr>
          <a:xfrm>
            <a:off x="457200" y="1143000"/>
            <a:ext cx="4023360" cy="2263418"/>
          </a:xfrm>
          <a:prstGeom prst="rect">
            <a:avLst/>
          </a:prstGeom>
        </p:spPr>
      </p:pic>
      <p:sp>
        <p:nvSpPr>
          <p:cNvPr id="8" name="Shape 3"/>
          <p:cNvSpPr/>
          <p:nvPr/>
        </p:nvSpPr>
        <p:spPr>
          <a:xfrm>
            <a:off x="4626864" y="1106424"/>
            <a:ext cx="4096512" cy="2336570"/>
          </a:xfrm>
          <a:prstGeom prst="rect">
            <a:avLst/>
          </a:prstGeom>
          <a:solidFill>
            <a:schemeClr val="bg1"/>
          </a:solidFill>
          <a:ln w="12700">
            <a:solidFill>
              <a:srgbClr val="D9E2F5"/>
            </a:solidFill>
            <a:prstDash val="solid"/>
          </a:ln>
          <a:effectLst>
            <a:outerShdw sx="100000" sy="100000" kx="0" ky="0" algn="bl" rotWithShape="0" blurRad="76200" dist="25400" dir="5400000">
              <a:srgbClr val="141B41">
                <a:alpha val="12000"/>
              </a:srgbClr>
            </a:outerShdw>
          </a:effectLst>
        </p:spPr>
      </p:sp>
      <p:pic>
        <p:nvPicPr>
          <p:cNvPr id="9" name="Image 2" descr="Screenshot of the running application: access denied for employee">    </p:cNvPr>
          <p:cNvPicPr>
            <a:picLocks noChangeAspect="1"/>
          </p:cNvPicPr>
          <p:nvPr/>
        </p:nvPicPr>
        <p:blipFill>
          <a:blip r:embed="rId3"/>
          <a:stretch>
            <a:fillRect/>
          </a:stretch>
        </p:blipFill>
        <p:spPr>
          <a:xfrm>
            <a:off x="4663440" y="1143000"/>
            <a:ext cx="4023360" cy="2263418"/>
          </a:xfrm>
          <a:prstGeom prst="rect">
            <a:avLst/>
          </a:prstGeom>
        </p:spPr>
      </p:pic>
      <p:sp>
        <p:nvSpPr>
          <p:cNvPr id="10" name="Text 4"/>
          <p:cNvSpPr txBox="1"/>
          <p:nvPr/>
        </p:nvSpPr>
        <p:spPr>
          <a:xfrm>
            <a:off x="457200" y="3456432"/>
            <a:ext cx="4023360" cy="237744"/>
          </a:xfrm>
          <a:prstGeom prst="rect">
            <a:avLst/>
          </a:prstGeom>
          <a:noFill/>
          <a:ln/>
        </p:spPr>
        <p:txBody>
          <a:bodyPr wrap="square" lIns="0" tIns="0" rIns="0" bIns="0" rtlCol="0" anchor="t"/>
          <a:lstStyle/>
          <a:p>
            <a:pPr algn="ctr" indent="0" marL="0">
              <a:buNone/>
            </a:pPr>
            <a:r>
              <a:rPr lang="en-US" sz="1200" b="1" dirty="0">
                <a:solidFill>
                  <a:schemeClr val="tx2"/>
                </a:solidFill>
              </a:rPr>
              <a:t>EMPLOYEE role: only own payslips</a:t>
            </a:r>
            <a:endParaRPr lang="en-US" sz="1200" dirty="0"/>
          </a:p>
        </p:txBody>
      </p:sp>
      <p:sp>
        <p:nvSpPr>
          <p:cNvPr id="11" name="Text 5"/>
          <p:cNvSpPr txBox="1"/>
          <p:nvPr/>
        </p:nvSpPr>
        <p:spPr>
          <a:xfrm>
            <a:off x="4663440" y="3456432"/>
            <a:ext cx="4023360" cy="237744"/>
          </a:xfrm>
          <a:prstGeom prst="rect">
            <a:avLst/>
          </a:prstGeom>
          <a:noFill/>
          <a:ln/>
        </p:spPr>
        <p:txBody>
          <a:bodyPr wrap="square" lIns="0" tIns="0" rIns="0" bIns="0" rtlCol="0" anchor="t"/>
          <a:lstStyle/>
          <a:p>
            <a:pPr algn="ctr" indent="0" marL="0">
              <a:buNone/>
            </a:pPr>
            <a:r>
              <a:rPr lang="en-US" sz="1200" b="1" dirty="0">
                <a:solidFill>
                  <a:schemeClr val="tx2"/>
                </a:solidFill>
              </a:rPr>
              <a:t>Same user opens the payroll register: 403</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3749040"/>
          <a:ext cx="4846320" cy="914400"/>
        </p:xfrm>
        <a:graphic>
          <a:graphicData uri="http://schemas.openxmlformats.org/drawingml/2006/table">
            <a:tbl>
              <a:tblPr/>
              <a:tblGrid>
                <a:gridCol w="914400"/>
                <a:gridCol w="3931920"/>
              </a:tblGrid>
              <a:tr h="219456">
                <a:tc>
                  <a:txBody>
                    <a:bodyPr/>
                    <a:lstStyle/>
                    <a:p>
                      <a:pPr indent="0" marL="0">
                        <a:buNone/>
                      </a:pPr>
                      <a:r>
                        <a:rPr lang="en-US" sz="1000" b="1" dirty="0">
                          <a:solidFill>
                            <a:schemeClr val="bg1"/>
                          </a:solidFill>
                        </a:rPr>
                        <a:t>Role</a:t>
                      </a:r>
                      <a:endParaRPr lang="en-US" sz="10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accent3"/>
                    </a:solidFill>
                  </a:tcPr>
                </a:tc>
                <a:tc>
                  <a:txBody>
                    <a:bodyPr/>
                    <a:lstStyle/>
                    <a:p>
                      <a:pPr indent="0" marL="0">
                        <a:buNone/>
                      </a:pPr>
                      <a:r>
                        <a:rPr lang="en-US" sz="1000" b="1" dirty="0">
                          <a:solidFill>
                            <a:schemeClr val="bg1"/>
                          </a:solidFill>
                        </a:rPr>
                        <a:t>Can do</a:t>
                      </a:r>
                      <a:endParaRPr lang="en-US" sz="10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accent3"/>
                    </a:solidFill>
                  </a:tcPr>
                </a:tc>
              </a:tr>
              <a:tr h="219456">
                <a:tc>
                  <a:txBody>
                    <a:bodyPr/>
                    <a:lstStyle/>
                    <a:p>
                      <a:pPr indent="0" marL="0">
                        <a:buNone/>
                      </a:pPr>
                      <a:r>
                        <a:rPr lang="en-US" sz="1000" dirty="0">
                          <a:solidFill>
                            <a:schemeClr val="tx1"/>
                          </a:solidFill>
                        </a:rPr>
                        <a:t>ADMIN</a:t>
                      </a:r>
                      <a:endParaRPr lang="en-US" sz="10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everything + rates, users, Database Explorer</a:t>
                      </a:r>
                      <a:endParaRPr lang="en-US" sz="10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219456">
                <a:tc>
                  <a:txBody>
                    <a:bodyPr/>
                    <a:lstStyle/>
                    <a:p>
                      <a:pPr indent="0" marL="0">
                        <a:buNone/>
                      </a:pPr>
                      <a:r>
                        <a:rPr lang="en-US" sz="1000" dirty="0">
                          <a:solidFill>
                            <a:schemeClr val="tx1"/>
                          </a:solidFill>
                        </a:rPr>
                        <a:t>HR</a:t>
                      </a:r>
                      <a:endParaRPr lang="en-US" sz="10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manage data, run payroll, payslips, reports</a:t>
                      </a:r>
                      <a:endParaRPr lang="en-US" sz="10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r h="219456">
                <a:tc>
                  <a:txBody>
                    <a:bodyPr/>
                    <a:lstStyle/>
                    <a:p>
                      <a:pPr indent="0" marL="0">
                        <a:buNone/>
                      </a:pPr>
                      <a:r>
                        <a:rPr lang="en-US" sz="1000" dirty="0">
                          <a:solidFill>
                            <a:schemeClr val="tx1"/>
                          </a:solidFill>
                        </a:rPr>
                        <a:t>EMPLOYEE</a:t>
                      </a:r>
                      <a:endParaRPr lang="en-US" sz="10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own profile, loans and payslips only</a:t>
                      </a:r>
                      <a:endParaRPr lang="en-US" sz="100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bl>
          </a:graphicData>
        </a:graphic>
      </p:graphicFrame>
      <p:sp>
        <p:nvSpPr>
          <p:cNvPr id="13" name="Shape 6"/>
          <p:cNvSpPr/>
          <p:nvPr/>
        </p:nvSpPr>
        <p:spPr>
          <a:xfrm>
            <a:off x="5486400" y="3749040"/>
            <a:ext cx="3200400" cy="914400"/>
          </a:xfrm>
          <a:prstGeom prst="roundRect">
            <a:avLst>
              <a:gd name="adj" fmla="val 8000"/>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4" name="Text 7"/>
          <p:cNvSpPr txBox="1"/>
          <p:nvPr/>
        </p:nvSpPr>
        <p:spPr>
          <a:xfrm>
            <a:off x="5623560" y="3776472"/>
            <a:ext cx="2926080" cy="859536"/>
          </a:xfrm>
          <a:prstGeom prst="rect">
            <a:avLst/>
          </a:prstGeom>
          <a:noFill/>
          <a:ln/>
        </p:spPr>
        <p:txBody>
          <a:bodyPr wrap="square" lIns="0" tIns="0" rIns="0" bIns="0" rtlCol="0" anchor="ctr"/>
          <a:lstStyle/>
          <a:p>
            <a:pPr indent="0" marL="0">
              <a:buNone/>
            </a:pPr>
            <a:r>
              <a:rPr lang="en-US" sz="1100" dirty="0">
                <a:solidFill>
                  <a:schemeClr val="tx1"/>
                </a:solidFill>
              </a:rPr>
              <a:t>Salted PBKDF2 hashes · CSRF tokens · login throttle · own-payslip check · signed one-time password-reset links</a:t>
            </a:r>
            <a:endParaRPr lang="en-US" sz="11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Demonstration Flow</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57200" y="1143000"/>
            <a:ext cx="1828800" cy="1280160"/>
          </a:xfrm>
          <a:prstGeom prst="roundRect">
            <a:avLst>
              <a:gd name="adj" fmla="val 5714"/>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7" name="Shape 3"/>
          <p:cNvSpPr/>
          <p:nvPr/>
        </p:nvSpPr>
        <p:spPr>
          <a:xfrm>
            <a:off x="1143000" y="1252728"/>
            <a:ext cx="457200" cy="457200"/>
          </a:xfrm>
          <a:prstGeom prst="ellipse">
            <a:avLst/>
          </a:prstGeom>
          <a:solidFill>
            <a:schemeClr val="accent3"/>
          </a:solidFill>
          <a:ln w="12700">
            <a:solidFill>
              <a:schemeClr val="bg1"/>
            </a:solidFill>
            <a:prstDash val="solid"/>
          </a:ln>
        </p:spPr>
      </p:sp>
      <p:sp>
        <p:nvSpPr>
          <p:cNvPr id="8" name="Text 4"/>
          <p:cNvSpPr txBox="1"/>
          <p:nvPr/>
        </p:nvSpPr>
        <p:spPr>
          <a:xfrm>
            <a:off x="1143000" y="125272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5"/>
          <p:cNvSpPr txBox="1"/>
          <p:nvPr/>
        </p:nvSpPr>
        <p:spPr>
          <a:xfrm>
            <a:off x="548640" y="1801368"/>
            <a:ext cx="1645920" cy="274320"/>
          </a:xfrm>
          <a:prstGeom prst="rect">
            <a:avLst/>
          </a:prstGeom>
          <a:noFill/>
          <a:ln/>
        </p:spPr>
        <p:txBody>
          <a:bodyPr wrap="square" lIns="0" tIns="0" rIns="0" bIns="0" rtlCol="0" anchor="t"/>
          <a:lstStyle/>
          <a:p>
            <a:pPr algn="ctr" indent="0" marL="0">
              <a:buNone/>
            </a:pPr>
            <a:r>
              <a:rPr lang="en-US" sz="1300" b="1" dirty="0">
                <a:solidFill>
                  <a:schemeClr val="tx2"/>
                </a:solidFill>
              </a:rPr>
              <a:t>Sign in</a:t>
            </a:r>
            <a:endParaRPr lang="en-US" sz="1300" dirty="0"/>
          </a:p>
        </p:txBody>
      </p:sp>
      <p:sp>
        <p:nvSpPr>
          <p:cNvPr id="10" name="Text 6"/>
          <p:cNvSpPr txBox="1"/>
          <p:nvPr/>
        </p:nvSpPr>
        <p:spPr>
          <a:xfrm>
            <a:off x="548640" y="2075688"/>
            <a:ext cx="1645920" cy="256032"/>
          </a:xfrm>
          <a:prstGeom prst="rect">
            <a:avLst/>
          </a:prstGeom>
          <a:noFill/>
          <a:ln/>
        </p:spPr>
        <p:txBody>
          <a:bodyPr wrap="square" lIns="0" tIns="0" rIns="0" bIns="0" rtlCol="0" anchor="t"/>
          <a:lstStyle/>
          <a:p>
            <a:pPr algn="ctr" indent="0" marL="0">
              <a:buNone/>
            </a:pPr>
            <a:r>
              <a:rPr lang="en-US" sz="1100" dirty="0">
                <a:solidFill>
                  <a:schemeClr val="tx1"/>
                </a:solidFill>
              </a:rPr>
              <a:t>admin / hr / employee</a:t>
            </a:r>
            <a:endParaRPr lang="en-US" sz="1100" dirty="0"/>
          </a:p>
        </p:txBody>
      </p:sp>
      <p:sp>
        <p:nvSpPr>
          <p:cNvPr id="11" name="Shape 7"/>
          <p:cNvSpPr/>
          <p:nvPr/>
        </p:nvSpPr>
        <p:spPr>
          <a:xfrm>
            <a:off x="2304288" y="1783080"/>
            <a:ext cx="237744" cy="0"/>
          </a:xfrm>
          <a:prstGeom prst="line">
            <a:avLst/>
          </a:prstGeom>
          <a:noFill/>
          <a:ln w="25400">
            <a:solidFill>
              <a:schemeClr val="accent4"/>
            </a:solidFill>
            <a:prstDash val="solid"/>
            <a:tailEnd type="triangle"/>
          </a:ln>
        </p:spPr>
      </p:sp>
      <p:sp>
        <p:nvSpPr>
          <p:cNvPr id="12" name="Shape 8"/>
          <p:cNvSpPr/>
          <p:nvPr/>
        </p:nvSpPr>
        <p:spPr>
          <a:xfrm>
            <a:off x="2560320" y="1143000"/>
            <a:ext cx="1828800" cy="1280160"/>
          </a:xfrm>
          <a:prstGeom prst="roundRect">
            <a:avLst>
              <a:gd name="adj" fmla="val 5714"/>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3" name="Shape 9"/>
          <p:cNvSpPr/>
          <p:nvPr/>
        </p:nvSpPr>
        <p:spPr>
          <a:xfrm>
            <a:off x="3246120" y="1252728"/>
            <a:ext cx="457200" cy="457200"/>
          </a:xfrm>
          <a:prstGeom prst="ellipse">
            <a:avLst/>
          </a:prstGeom>
          <a:solidFill>
            <a:schemeClr val="accent3"/>
          </a:solidFill>
          <a:ln w="12700">
            <a:solidFill>
              <a:schemeClr val="bg1"/>
            </a:solidFill>
            <a:prstDash val="solid"/>
          </a:ln>
        </p:spPr>
      </p:sp>
      <p:sp>
        <p:nvSpPr>
          <p:cNvPr id="14" name="Text 10"/>
          <p:cNvSpPr txBox="1"/>
          <p:nvPr/>
        </p:nvSpPr>
        <p:spPr>
          <a:xfrm>
            <a:off x="3246120" y="125272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5" name="Text 11"/>
          <p:cNvSpPr txBox="1"/>
          <p:nvPr/>
        </p:nvSpPr>
        <p:spPr>
          <a:xfrm>
            <a:off x="2651760" y="1801368"/>
            <a:ext cx="1645920" cy="274320"/>
          </a:xfrm>
          <a:prstGeom prst="rect">
            <a:avLst/>
          </a:prstGeom>
          <a:noFill/>
          <a:ln/>
        </p:spPr>
        <p:txBody>
          <a:bodyPr wrap="square" lIns="0" tIns="0" rIns="0" bIns="0" rtlCol="0" anchor="t"/>
          <a:lstStyle/>
          <a:p>
            <a:pPr algn="ctr" indent="0" marL="0">
              <a:buNone/>
            </a:pPr>
            <a:r>
              <a:rPr lang="en-US" sz="1300" b="1" dirty="0">
                <a:solidFill>
                  <a:schemeClr val="tx2"/>
                </a:solidFill>
              </a:rPr>
              <a:t>Employees</a:t>
            </a:r>
            <a:endParaRPr lang="en-US" sz="1300" dirty="0"/>
          </a:p>
        </p:txBody>
      </p:sp>
      <p:sp>
        <p:nvSpPr>
          <p:cNvPr id="16" name="Text 12"/>
          <p:cNvSpPr txBox="1"/>
          <p:nvPr/>
        </p:nvSpPr>
        <p:spPr>
          <a:xfrm>
            <a:off x="2651760" y="2075688"/>
            <a:ext cx="1645920" cy="256032"/>
          </a:xfrm>
          <a:prstGeom prst="rect">
            <a:avLst/>
          </a:prstGeom>
          <a:noFill/>
          <a:ln/>
        </p:spPr>
        <p:txBody>
          <a:bodyPr wrap="square" lIns="0" tIns="0" rIns="0" bIns="0" rtlCol="0" anchor="t"/>
          <a:lstStyle/>
          <a:p>
            <a:pPr algn="ctr" indent="0" marL="0">
              <a:buNone/>
            </a:pPr>
            <a:r>
              <a:rPr lang="en-US" sz="1100" dirty="0">
                <a:solidFill>
                  <a:schemeClr val="tx1"/>
                </a:solidFill>
              </a:rPr>
              <a:t>add / edit</a:t>
            </a:r>
            <a:endParaRPr lang="en-US" sz="1100" dirty="0"/>
          </a:p>
        </p:txBody>
      </p:sp>
      <p:sp>
        <p:nvSpPr>
          <p:cNvPr id="17" name="Shape 13"/>
          <p:cNvSpPr/>
          <p:nvPr/>
        </p:nvSpPr>
        <p:spPr>
          <a:xfrm>
            <a:off x="4407408" y="1783080"/>
            <a:ext cx="237744" cy="0"/>
          </a:xfrm>
          <a:prstGeom prst="line">
            <a:avLst/>
          </a:prstGeom>
          <a:noFill/>
          <a:ln w="25400">
            <a:solidFill>
              <a:schemeClr val="accent4"/>
            </a:solidFill>
            <a:prstDash val="solid"/>
            <a:tailEnd type="triangle"/>
          </a:ln>
        </p:spPr>
      </p:sp>
      <p:sp>
        <p:nvSpPr>
          <p:cNvPr id="18" name="Shape 14"/>
          <p:cNvSpPr/>
          <p:nvPr/>
        </p:nvSpPr>
        <p:spPr>
          <a:xfrm>
            <a:off x="4663440" y="1143000"/>
            <a:ext cx="1828800" cy="1280160"/>
          </a:xfrm>
          <a:prstGeom prst="roundRect">
            <a:avLst>
              <a:gd name="adj" fmla="val 5714"/>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9" name="Shape 15"/>
          <p:cNvSpPr/>
          <p:nvPr/>
        </p:nvSpPr>
        <p:spPr>
          <a:xfrm>
            <a:off x="5349240" y="1252728"/>
            <a:ext cx="457200" cy="457200"/>
          </a:xfrm>
          <a:prstGeom prst="ellipse">
            <a:avLst/>
          </a:prstGeom>
          <a:solidFill>
            <a:schemeClr val="accent3"/>
          </a:solidFill>
          <a:ln w="12700">
            <a:solidFill>
              <a:schemeClr val="bg1"/>
            </a:solidFill>
            <a:prstDash val="solid"/>
          </a:ln>
        </p:spPr>
      </p:sp>
      <p:sp>
        <p:nvSpPr>
          <p:cNvPr id="20" name="Text 16"/>
          <p:cNvSpPr txBox="1"/>
          <p:nvPr/>
        </p:nvSpPr>
        <p:spPr>
          <a:xfrm>
            <a:off x="5349240" y="125272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1" name="Text 17"/>
          <p:cNvSpPr txBox="1"/>
          <p:nvPr/>
        </p:nvSpPr>
        <p:spPr>
          <a:xfrm>
            <a:off x="4754880" y="1801368"/>
            <a:ext cx="1645920" cy="274320"/>
          </a:xfrm>
          <a:prstGeom prst="rect">
            <a:avLst/>
          </a:prstGeom>
          <a:noFill/>
          <a:ln/>
        </p:spPr>
        <p:txBody>
          <a:bodyPr wrap="square" lIns="0" tIns="0" rIns="0" bIns="0" rtlCol="0" anchor="t"/>
          <a:lstStyle/>
          <a:p>
            <a:pPr algn="ctr" indent="0" marL="0">
              <a:buNone/>
            </a:pPr>
            <a:r>
              <a:rPr lang="en-US" sz="1300" b="1" dirty="0">
                <a:solidFill>
                  <a:schemeClr val="tx2"/>
                </a:solidFill>
              </a:rPr>
              <a:t>Salary + attendance</a:t>
            </a:r>
            <a:endParaRPr lang="en-US" sz="1300" dirty="0"/>
          </a:p>
        </p:txBody>
      </p:sp>
      <p:sp>
        <p:nvSpPr>
          <p:cNvPr id="22" name="Text 18"/>
          <p:cNvSpPr txBox="1"/>
          <p:nvPr/>
        </p:nvSpPr>
        <p:spPr>
          <a:xfrm>
            <a:off x="4754880" y="2075688"/>
            <a:ext cx="1645920" cy="256032"/>
          </a:xfrm>
          <a:prstGeom prst="rect">
            <a:avLst/>
          </a:prstGeom>
          <a:noFill/>
          <a:ln/>
        </p:spPr>
        <p:txBody>
          <a:bodyPr wrap="square" lIns="0" tIns="0" rIns="0" bIns="0" rtlCol="0" anchor="t"/>
          <a:lstStyle/>
          <a:p>
            <a:pPr algn="ctr" indent="0" marL="0">
              <a:buNone/>
            </a:pPr>
            <a:r>
              <a:rPr lang="en-US" sz="1100" dirty="0">
                <a:solidFill>
                  <a:schemeClr val="tx1"/>
                </a:solidFill>
              </a:rPr>
              <a:t>monthly inputs</a:t>
            </a:r>
            <a:endParaRPr lang="en-US" sz="1100" dirty="0"/>
          </a:p>
        </p:txBody>
      </p:sp>
      <p:sp>
        <p:nvSpPr>
          <p:cNvPr id="23" name="Shape 19"/>
          <p:cNvSpPr/>
          <p:nvPr/>
        </p:nvSpPr>
        <p:spPr>
          <a:xfrm>
            <a:off x="6510528" y="1783080"/>
            <a:ext cx="237744" cy="0"/>
          </a:xfrm>
          <a:prstGeom prst="line">
            <a:avLst/>
          </a:prstGeom>
          <a:noFill/>
          <a:ln w="25400">
            <a:solidFill>
              <a:schemeClr val="accent4"/>
            </a:solidFill>
            <a:prstDash val="solid"/>
            <a:tailEnd type="triangle"/>
          </a:ln>
        </p:spPr>
      </p:sp>
      <p:sp>
        <p:nvSpPr>
          <p:cNvPr id="24" name="Shape 20"/>
          <p:cNvSpPr/>
          <p:nvPr/>
        </p:nvSpPr>
        <p:spPr>
          <a:xfrm>
            <a:off x="6766560" y="1143000"/>
            <a:ext cx="1828800" cy="1280160"/>
          </a:xfrm>
          <a:prstGeom prst="roundRect">
            <a:avLst>
              <a:gd name="adj" fmla="val 5714"/>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5" name="Shape 21"/>
          <p:cNvSpPr/>
          <p:nvPr/>
        </p:nvSpPr>
        <p:spPr>
          <a:xfrm>
            <a:off x="7452360" y="1252728"/>
            <a:ext cx="457200" cy="457200"/>
          </a:xfrm>
          <a:prstGeom prst="ellipse">
            <a:avLst/>
          </a:prstGeom>
          <a:solidFill>
            <a:schemeClr val="accent3"/>
          </a:solidFill>
          <a:ln w="12700">
            <a:solidFill>
              <a:schemeClr val="bg1"/>
            </a:solidFill>
            <a:prstDash val="solid"/>
          </a:ln>
        </p:spPr>
      </p:sp>
      <p:sp>
        <p:nvSpPr>
          <p:cNvPr id="26" name="Text 22"/>
          <p:cNvSpPr txBox="1"/>
          <p:nvPr/>
        </p:nvSpPr>
        <p:spPr>
          <a:xfrm>
            <a:off x="7452360" y="125272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7" name="Text 23"/>
          <p:cNvSpPr txBox="1"/>
          <p:nvPr/>
        </p:nvSpPr>
        <p:spPr>
          <a:xfrm>
            <a:off x="6858000" y="1801368"/>
            <a:ext cx="1645920" cy="274320"/>
          </a:xfrm>
          <a:prstGeom prst="rect">
            <a:avLst/>
          </a:prstGeom>
          <a:noFill/>
          <a:ln/>
        </p:spPr>
        <p:txBody>
          <a:bodyPr wrap="square" lIns="0" tIns="0" rIns="0" bIns="0" rtlCol="0" anchor="t"/>
          <a:lstStyle/>
          <a:p>
            <a:pPr algn="ctr" indent="0" marL="0">
              <a:buNone/>
            </a:pPr>
            <a:r>
              <a:rPr lang="en-US" sz="1300" b="1" dirty="0">
                <a:solidFill>
                  <a:schemeClr val="tx2"/>
                </a:solidFill>
              </a:rPr>
              <a:t>Loans</a:t>
            </a:r>
            <a:endParaRPr lang="en-US" sz="1300" dirty="0"/>
          </a:p>
        </p:txBody>
      </p:sp>
      <p:sp>
        <p:nvSpPr>
          <p:cNvPr id="28" name="Text 24"/>
          <p:cNvSpPr txBox="1"/>
          <p:nvPr/>
        </p:nvSpPr>
        <p:spPr>
          <a:xfrm>
            <a:off x="6858000" y="2075688"/>
            <a:ext cx="1645920" cy="256032"/>
          </a:xfrm>
          <a:prstGeom prst="rect">
            <a:avLst/>
          </a:prstGeom>
          <a:noFill/>
          <a:ln/>
        </p:spPr>
        <p:txBody>
          <a:bodyPr wrap="square" lIns="0" tIns="0" rIns="0" bIns="0" rtlCol="0" anchor="t"/>
          <a:lstStyle/>
          <a:p>
            <a:pPr algn="ctr" indent="0" marL="0">
              <a:buNone/>
            </a:pPr>
            <a:r>
              <a:rPr lang="en-US" sz="1100" dirty="0">
                <a:solidFill>
                  <a:schemeClr val="tx1"/>
                </a:solidFill>
              </a:rPr>
              <a:t>EMI, balance</a:t>
            </a:r>
            <a:endParaRPr lang="en-US" sz="1100" dirty="0"/>
          </a:p>
        </p:txBody>
      </p:sp>
      <p:sp>
        <p:nvSpPr>
          <p:cNvPr id="29" name="Shape 25"/>
          <p:cNvSpPr/>
          <p:nvPr/>
        </p:nvSpPr>
        <p:spPr>
          <a:xfrm>
            <a:off x="457200" y="2560320"/>
            <a:ext cx="1828800" cy="1280160"/>
          </a:xfrm>
          <a:prstGeom prst="roundRect">
            <a:avLst>
              <a:gd name="adj" fmla="val 5714"/>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30" name="Shape 26"/>
          <p:cNvSpPr/>
          <p:nvPr/>
        </p:nvSpPr>
        <p:spPr>
          <a:xfrm>
            <a:off x="1143000" y="2670048"/>
            <a:ext cx="457200" cy="457200"/>
          </a:xfrm>
          <a:prstGeom prst="ellipse">
            <a:avLst/>
          </a:prstGeom>
          <a:solidFill>
            <a:schemeClr val="accent2"/>
          </a:solidFill>
          <a:ln w="12700">
            <a:solidFill>
              <a:schemeClr val="bg1"/>
            </a:solidFill>
            <a:prstDash val="solid"/>
          </a:ln>
        </p:spPr>
      </p:sp>
      <p:sp>
        <p:nvSpPr>
          <p:cNvPr id="31" name="Text 27"/>
          <p:cNvSpPr txBox="1"/>
          <p:nvPr/>
        </p:nvSpPr>
        <p:spPr>
          <a:xfrm>
            <a:off x="1143000" y="26700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2" name="Text 28"/>
          <p:cNvSpPr txBox="1"/>
          <p:nvPr/>
        </p:nvSpPr>
        <p:spPr>
          <a:xfrm>
            <a:off x="548640" y="3218688"/>
            <a:ext cx="1645920" cy="274320"/>
          </a:xfrm>
          <a:prstGeom prst="rect">
            <a:avLst/>
          </a:prstGeom>
          <a:noFill/>
          <a:ln/>
        </p:spPr>
        <p:txBody>
          <a:bodyPr wrap="square" lIns="0" tIns="0" rIns="0" bIns="0" rtlCol="0" anchor="t"/>
          <a:lstStyle/>
          <a:p>
            <a:pPr algn="ctr" indent="0" marL="0">
              <a:buNone/>
            </a:pPr>
            <a:r>
              <a:rPr lang="en-US" sz="1300" b="1" dirty="0">
                <a:solidFill>
                  <a:schemeClr val="tx2"/>
                </a:solidFill>
              </a:rPr>
              <a:t>Process payroll</a:t>
            </a:r>
            <a:endParaRPr lang="en-US" sz="1300" dirty="0"/>
          </a:p>
        </p:txBody>
      </p:sp>
      <p:sp>
        <p:nvSpPr>
          <p:cNvPr id="33" name="Text 29"/>
          <p:cNvSpPr txBox="1"/>
          <p:nvPr/>
        </p:nvSpPr>
        <p:spPr>
          <a:xfrm>
            <a:off x="548640" y="3493008"/>
            <a:ext cx="1645920" cy="256032"/>
          </a:xfrm>
          <a:prstGeom prst="rect">
            <a:avLst/>
          </a:prstGeom>
          <a:noFill/>
          <a:ln/>
        </p:spPr>
        <p:txBody>
          <a:bodyPr wrap="square" lIns="0" tIns="0" rIns="0" bIns="0" rtlCol="0" anchor="t"/>
          <a:lstStyle/>
          <a:p>
            <a:pPr algn="ctr" indent="0" marL="0">
              <a:buNone/>
            </a:pPr>
            <a:r>
              <a:rPr lang="en-US" sz="1100" dirty="0">
                <a:solidFill>
                  <a:schemeClr val="tx1"/>
                </a:solidFill>
              </a:rPr>
              <a:t>one click</a:t>
            </a:r>
            <a:endParaRPr lang="en-US" sz="1100" dirty="0"/>
          </a:p>
        </p:txBody>
      </p:sp>
      <p:sp>
        <p:nvSpPr>
          <p:cNvPr id="34" name="Shape 30"/>
          <p:cNvSpPr/>
          <p:nvPr/>
        </p:nvSpPr>
        <p:spPr>
          <a:xfrm>
            <a:off x="2304288" y="3200400"/>
            <a:ext cx="237744" cy="0"/>
          </a:xfrm>
          <a:prstGeom prst="line">
            <a:avLst/>
          </a:prstGeom>
          <a:noFill/>
          <a:ln w="25400">
            <a:solidFill>
              <a:schemeClr val="accent4"/>
            </a:solidFill>
            <a:prstDash val="solid"/>
            <a:tailEnd type="triangle"/>
          </a:ln>
        </p:spPr>
      </p:sp>
      <p:sp>
        <p:nvSpPr>
          <p:cNvPr id="35" name="Shape 31"/>
          <p:cNvSpPr/>
          <p:nvPr/>
        </p:nvSpPr>
        <p:spPr>
          <a:xfrm>
            <a:off x="2560320" y="2560320"/>
            <a:ext cx="1828800" cy="1280160"/>
          </a:xfrm>
          <a:prstGeom prst="roundRect">
            <a:avLst>
              <a:gd name="adj" fmla="val 5714"/>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36" name="Shape 32"/>
          <p:cNvSpPr/>
          <p:nvPr/>
        </p:nvSpPr>
        <p:spPr>
          <a:xfrm>
            <a:off x="3246120" y="2670048"/>
            <a:ext cx="457200" cy="457200"/>
          </a:xfrm>
          <a:prstGeom prst="ellipse">
            <a:avLst/>
          </a:prstGeom>
          <a:solidFill>
            <a:schemeClr val="accent3"/>
          </a:solidFill>
          <a:ln w="12700">
            <a:solidFill>
              <a:schemeClr val="bg1"/>
            </a:solidFill>
            <a:prstDash val="solid"/>
          </a:ln>
        </p:spPr>
      </p:sp>
      <p:sp>
        <p:nvSpPr>
          <p:cNvPr id="37" name="Text 33"/>
          <p:cNvSpPr txBox="1"/>
          <p:nvPr/>
        </p:nvSpPr>
        <p:spPr>
          <a:xfrm>
            <a:off x="3246120" y="26700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8" name="Text 34"/>
          <p:cNvSpPr txBox="1"/>
          <p:nvPr/>
        </p:nvSpPr>
        <p:spPr>
          <a:xfrm>
            <a:off x="2651760" y="3218688"/>
            <a:ext cx="1645920" cy="274320"/>
          </a:xfrm>
          <a:prstGeom prst="rect">
            <a:avLst/>
          </a:prstGeom>
          <a:noFill/>
          <a:ln/>
        </p:spPr>
        <p:txBody>
          <a:bodyPr wrap="square" lIns="0" tIns="0" rIns="0" bIns="0" rtlCol="0" anchor="t"/>
          <a:lstStyle/>
          <a:p>
            <a:pPr algn="ctr" indent="0" marL="0">
              <a:buNone/>
            </a:pPr>
            <a:r>
              <a:rPr lang="en-US" sz="1300" b="1" dirty="0">
                <a:solidFill>
                  <a:schemeClr val="tx2"/>
                </a:solidFill>
              </a:rPr>
              <a:t>Payslip</a:t>
            </a:r>
            <a:endParaRPr lang="en-US" sz="1300" dirty="0"/>
          </a:p>
        </p:txBody>
      </p:sp>
      <p:sp>
        <p:nvSpPr>
          <p:cNvPr id="39" name="Text 35"/>
          <p:cNvSpPr txBox="1"/>
          <p:nvPr/>
        </p:nvSpPr>
        <p:spPr>
          <a:xfrm>
            <a:off x="2651760" y="3493008"/>
            <a:ext cx="1645920" cy="256032"/>
          </a:xfrm>
          <a:prstGeom prst="rect">
            <a:avLst/>
          </a:prstGeom>
          <a:noFill/>
          <a:ln/>
        </p:spPr>
        <p:txBody>
          <a:bodyPr wrap="square" lIns="0" tIns="0" rIns="0" bIns="0" rtlCol="0" anchor="t"/>
          <a:lstStyle/>
          <a:p>
            <a:pPr algn="ctr" indent="0" marL="0">
              <a:buNone/>
            </a:pPr>
            <a:r>
              <a:rPr lang="en-US" sz="1100" dirty="0">
                <a:solidFill>
                  <a:schemeClr val="tx1"/>
                </a:solidFill>
              </a:rPr>
              <a:t>check the maths</a:t>
            </a:r>
            <a:endParaRPr lang="en-US" sz="1100" dirty="0"/>
          </a:p>
        </p:txBody>
      </p:sp>
      <p:sp>
        <p:nvSpPr>
          <p:cNvPr id="40" name="Shape 36"/>
          <p:cNvSpPr/>
          <p:nvPr/>
        </p:nvSpPr>
        <p:spPr>
          <a:xfrm>
            <a:off x="4407408" y="3200400"/>
            <a:ext cx="237744" cy="0"/>
          </a:xfrm>
          <a:prstGeom prst="line">
            <a:avLst/>
          </a:prstGeom>
          <a:noFill/>
          <a:ln w="25400">
            <a:solidFill>
              <a:schemeClr val="accent4"/>
            </a:solidFill>
            <a:prstDash val="solid"/>
            <a:tailEnd type="triangle"/>
          </a:ln>
        </p:spPr>
      </p:sp>
      <p:sp>
        <p:nvSpPr>
          <p:cNvPr id="41" name="Shape 37"/>
          <p:cNvSpPr/>
          <p:nvPr/>
        </p:nvSpPr>
        <p:spPr>
          <a:xfrm>
            <a:off x="4663440" y="2560320"/>
            <a:ext cx="1828800" cy="1280160"/>
          </a:xfrm>
          <a:prstGeom prst="roundRect">
            <a:avLst>
              <a:gd name="adj" fmla="val 5714"/>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42" name="Shape 38"/>
          <p:cNvSpPr/>
          <p:nvPr/>
        </p:nvSpPr>
        <p:spPr>
          <a:xfrm>
            <a:off x="5349240" y="2670048"/>
            <a:ext cx="457200" cy="457200"/>
          </a:xfrm>
          <a:prstGeom prst="ellipse">
            <a:avLst/>
          </a:prstGeom>
          <a:solidFill>
            <a:schemeClr val="accent3"/>
          </a:solidFill>
          <a:ln w="12700">
            <a:solidFill>
              <a:schemeClr val="bg1"/>
            </a:solidFill>
            <a:prstDash val="solid"/>
          </a:ln>
        </p:spPr>
      </p:sp>
      <p:sp>
        <p:nvSpPr>
          <p:cNvPr id="43" name="Text 39"/>
          <p:cNvSpPr txBox="1"/>
          <p:nvPr/>
        </p:nvSpPr>
        <p:spPr>
          <a:xfrm>
            <a:off x="5349240" y="26700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44" name="Text 40"/>
          <p:cNvSpPr txBox="1"/>
          <p:nvPr/>
        </p:nvSpPr>
        <p:spPr>
          <a:xfrm>
            <a:off x="4754880" y="3218688"/>
            <a:ext cx="1645920" cy="274320"/>
          </a:xfrm>
          <a:prstGeom prst="rect">
            <a:avLst/>
          </a:prstGeom>
          <a:noFill/>
          <a:ln/>
        </p:spPr>
        <p:txBody>
          <a:bodyPr wrap="square" lIns="0" tIns="0" rIns="0" bIns="0" rtlCol="0" anchor="t"/>
          <a:lstStyle/>
          <a:p>
            <a:pPr algn="ctr" indent="0" marL="0">
              <a:buNone/>
            </a:pPr>
            <a:r>
              <a:rPr lang="en-US" sz="1300" b="1" dirty="0">
                <a:solidFill>
                  <a:schemeClr val="tx2"/>
                </a:solidFill>
              </a:rPr>
              <a:t>Bank transfers</a:t>
            </a:r>
            <a:endParaRPr lang="en-US" sz="1300" dirty="0"/>
          </a:p>
        </p:txBody>
      </p:sp>
      <p:sp>
        <p:nvSpPr>
          <p:cNvPr id="45" name="Text 41"/>
          <p:cNvSpPr txBox="1"/>
          <p:nvPr/>
        </p:nvSpPr>
        <p:spPr>
          <a:xfrm>
            <a:off x="4754880" y="3493008"/>
            <a:ext cx="1645920" cy="256032"/>
          </a:xfrm>
          <a:prstGeom prst="rect">
            <a:avLst/>
          </a:prstGeom>
          <a:noFill/>
          <a:ln/>
        </p:spPr>
        <p:txBody>
          <a:bodyPr wrap="square" lIns="0" tIns="0" rIns="0" bIns="0" rtlCol="0" anchor="t"/>
          <a:lstStyle/>
          <a:p>
            <a:pPr algn="ctr" indent="0" marL="0">
              <a:buNone/>
            </a:pPr>
            <a:r>
              <a:rPr lang="en-US" sz="1100" dirty="0">
                <a:solidFill>
                  <a:schemeClr val="tx1"/>
                </a:solidFill>
              </a:rPr>
              <a:t>pending &gt; paid</a:t>
            </a:r>
            <a:endParaRPr lang="en-US" sz="1100" dirty="0"/>
          </a:p>
        </p:txBody>
      </p:sp>
      <p:sp>
        <p:nvSpPr>
          <p:cNvPr id="46" name="Shape 42"/>
          <p:cNvSpPr/>
          <p:nvPr/>
        </p:nvSpPr>
        <p:spPr>
          <a:xfrm>
            <a:off x="6510528" y="3200400"/>
            <a:ext cx="237744" cy="0"/>
          </a:xfrm>
          <a:prstGeom prst="line">
            <a:avLst/>
          </a:prstGeom>
          <a:noFill/>
          <a:ln w="25400">
            <a:solidFill>
              <a:schemeClr val="accent4"/>
            </a:solidFill>
            <a:prstDash val="solid"/>
            <a:tailEnd type="triangle"/>
          </a:ln>
        </p:spPr>
      </p:sp>
      <p:sp>
        <p:nvSpPr>
          <p:cNvPr id="47" name="Shape 43"/>
          <p:cNvSpPr/>
          <p:nvPr/>
        </p:nvSpPr>
        <p:spPr>
          <a:xfrm>
            <a:off x="6766560" y="2560320"/>
            <a:ext cx="1828800" cy="1280160"/>
          </a:xfrm>
          <a:prstGeom prst="roundRect">
            <a:avLst>
              <a:gd name="adj" fmla="val 5714"/>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48" name="Shape 44"/>
          <p:cNvSpPr/>
          <p:nvPr/>
        </p:nvSpPr>
        <p:spPr>
          <a:xfrm>
            <a:off x="7452360" y="2670048"/>
            <a:ext cx="457200" cy="457200"/>
          </a:xfrm>
          <a:prstGeom prst="ellipse">
            <a:avLst/>
          </a:prstGeom>
          <a:solidFill>
            <a:schemeClr val="accent3"/>
          </a:solidFill>
          <a:ln w="12700">
            <a:solidFill>
              <a:schemeClr val="bg1"/>
            </a:solidFill>
            <a:prstDash val="solid"/>
          </a:ln>
        </p:spPr>
      </p:sp>
      <p:sp>
        <p:nvSpPr>
          <p:cNvPr id="49" name="Text 45"/>
          <p:cNvSpPr txBox="1"/>
          <p:nvPr/>
        </p:nvSpPr>
        <p:spPr>
          <a:xfrm>
            <a:off x="7452360" y="26700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50" name="Text 46"/>
          <p:cNvSpPr txBox="1"/>
          <p:nvPr/>
        </p:nvSpPr>
        <p:spPr>
          <a:xfrm>
            <a:off x="6858000" y="3218688"/>
            <a:ext cx="1645920" cy="274320"/>
          </a:xfrm>
          <a:prstGeom prst="rect">
            <a:avLst/>
          </a:prstGeom>
          <a:noFill/>
          <a:ln/>
        </p:spPr>
        <p:txBody>
          <a:bodyPr wrap="square" lIns="0" tIns="0" rIns="0" bIns="0" rtlCol="0" anchor="t"/>
          <a:lstStyle/>
          <a:p>
            <a:pPr algn="ctr" indent="0" marL="0">
              <a:buNone/>
            </a:pPr>
            <a:r>
              <a:rPr lang="en-US" sz="1300" b="1" dirty="0">
                <a:solidFill>
                  <a:schemeClr val="tx2"/>
                </a:solidFill>
              </a:rPr>
              <a:t>Explorer + reports</a:t>
            </a:r>
            <a:endParaRPr lang="en-US" sz="1300" dirty="0"/>
          </a:p>
        </p:txBody>
      </p:sp>
      <p:sp>
        <p:nvSpPr>
          <p:cNvPr id="51" name="Text 47"/>
          <p:cNvSpPr txBox="1"/>
          <p:nvPr/>
        </p:nvSpPr>
        <p:spPr>
          <a:xfrm>
            <a:off x="6858000" y="3493008"/>
            <a:ext cx="1645920" cy="256032"/>
          </a:xfrm>
          <a:prstGeom prst="rect">
            <a:avLst/>
          </a:prstGeom>
          <a:noFill/>
          <a:ln/>
        </p:spPr>
        <p:txBody>
          <a:bodyPr wrap="square" lIns="0" tIns="0" rIns="0" bIns="0" rtlCol="0" anchor="t"/>
          <a:lstStyle/>
          <a:p>
            <a:pPr algn="ctr" indent="0" marL="0">
              <a:buNone/>
            </a:pPr>
            <a:r>
              <a:rPr lang="en-US" sz="1100" dirty="0">
                <a:solidFill>
                  <a:schemeClr val="tx1"/>
                </a:solidFill>
              </a:rPr>
              <a:t>triggers, audit, SQL</a:t>
            </a:r>
            <a:endParaRPr lang="en-US" sz="1100" dirty="0"/>
          </a:p>
        </p:txBody>
      </p:sp>
      <p:sp>
        <p:nvSpPr>
          <p:cNvPr id="52" name="Shape 48"/>
          <p:cNvSpPr/>
          <p:nvPr/>
        </p:nvSpPr>
        <p:spPr>
          <a:xfrm>
            <a:off x="457200" y="4114800"/>
            <a:ext cx="8229600" cy="548640"/>
          </a:xfrm>
          <a:prstGeom prst="roundRect">
            <a:avLst>
              <a:gd name="adj" fmla="val 13333"/>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53" name="Text 49"/>
          <p:cNvSpPr txBox="1"/>
          <p:nvPr/>
        </p:nvSpPr>
        <p:spPr>
          <a:xfrm>
            <a:off x="640080" y="4133088"/>
            <a:ext cx="7863840" cy="512064"/>
          </a:xfrm>
          <a:prstGeom prst="rect">
            <a:avLst/>
          </a:prstGeom>
          <a:noFill/>
          <a:ln/>
        </p:spPr>
        <p:txBody>
          <a:bodyPr wrap="square" lIns="0" tIns="0" rIns="0" bIns="0" rtlCol="0" anchor="ctr"/>
          <a:lstStyle/>
          <a:p>
            <a:pPr indent="0" marL="0">
              <a:buNone/>
            </a:pPr>
            <a:r>
              <a:rPr lang="en-US" sz="1300" dirty="0">
                <a:solidFill>
                  <a:schemeClr val="tx2"/>
                </a:solidFill>
                <a:latin typeface="Courier New" pitchFamily="34" charset="0"/>
                <a:ea typeface="Courier New" pitchFamily="34" charset="-122"/>
                <a:cs typeface="Courier New" pitchFamily="34" charset="-120"/>
              </a:rPr>
              <a:t>Reset the demo database at any time:  python scripts/init_db.py</a:t>
            </a:r>
            <a:endParaRPr lang="en-US" sz="13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Payroll Workflow</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Text 2"/>
          <p:cNvSpPr txBox="1"/>
          <p:nvPr/>
        </p:nvSpPr>
        <p:spPr>
          <a:xfrm>
            <a:off x="640080" y="1143000"/>
            <a:ext cx="2286000" cy="914400"/>
          </a:xfrm>
          <a:prstGeom prst="roundRect">
            <a:avLst>
              <a:gd name="adj" fmla="val 10000"/>
            </a:avLst>
          </a:prstGeom>
          <a:solidFill>
            <a:schemeClr val="accent4"/>
          </a:solidFill>
          <a:ln/>
        </p:spPr>
        <p:txBody>
          <a:bodyPr wrap="square" lIns="635" tIns="635" rIns="635" bIns="635" rtlCol="0" anchor="ctr"/>
          <a:lstStyle/>
          <a:p>
            <a:pPr algn="ctr" indent="0" marL="0">
              <a:buNone/>
            </a:pPr>
            <a:r>
              <a:rPr lang="en-US" sz="1600" b="1" dirty="0">
                <a:solidFill>
                  <a:schemeClr val="tx2"/>
                </a:solidFill>
              </a:rPr>
              <a:t>OPEN</a:t>
            </a:r>
            <a:endParaRPr lang="en-US" sz="1600" dirty="0"/>
          </a:p>
          <a:p>
            <a:pPr algn="ctr" indent="0" marL="0">
              <a:buNone/>
            </a:pPr>
            <a:r>
              <a:rPr lang="en-US" sz="1100" dirty="0">
                <a:solidFill>
                  <a:schemeClr val="tx2"/>
                </a:solidFill>
              </a:rPr>
              <a:t>Enter attendance,</a:t>
            </a:r>
            <a:endParaRPr lang="en-US" sz="1600" dirty="0"/>
          </a:p>
          <a:p>
            <a:pPr algn="ctr" indent="0" marL="0">
              <a:buNone/>
            </a:pPr>
            <a:r>
              <a:rPr lang="en-US" sz="1100" dirty="0">
                <a:solidFill>
                  <a:schemeClr val="tx2"/>
                </a:solidFill>
              </a:rPr>
              <a:t>earnings, deductions</a:t>
            </a:r>
            <a:endParaRPr lang="en-US" sz="1600" dirty="0"/>
          </a:p>
        </p:txBody>
      </p:sp>
      <p:sp>
        <p:nvSpPr>
          <p:cNvPr id="7" name="Shape 3"/>
          <p:cNvSpPr/>
          <p:nvPr/>
        </p:nvSpPr>
        <p:spPr>
          <a:xfrm>
            <a:off x="2971800" y="1600200"/>
            <a:ext cx="457200" cy="0"/>
          </a:xfrm>
          <a:prstGeom prst="line">
            <a:avLst/>
          </a:prstGeom>
          <a:noFill/>
          <a:ln w="31750">
            <a:solidFill>
              <a:schemeClr val="accent2"/>
            </a:solidFill>
            <a:prstDash val="solid"/>
            <a:tailEnd type="triangle"/>
          </a:ln>
        </p:spPr>
      </p:sp>
      <p:sp>
        <p:nvSpPr>
          <p:cNvPr id="8" name="Text 4"/>
          <p:cNvSpPr txBox="1"/>
          <p:nvPr/>
        </p:nvSpPr>
        <p:spPr>
          <a:xfrm>
            <a:off x="3474720" y="1143000"/>
            <a:ext cx="2286000" cy="914400"/>
          </a:xfrm>
          <a:prstGeom prst="roundRect">
            <a:avLst>
              <a:gd name="adj" fmla="val 10000"/>
            </a:avLst>
          </a:prstGeom>
          <a:solidFill>
            <a:schemeClr val="accent1"/>
          </a:solidFill>
          <a:ln/>
        </p:spPr>
        <p:txBody>
          <a:bodyPr wrap="square" lIns="635" tIns="635" rIns="635" bIns="635" rtlCol="0" anchor="ctr"/>
          <a:lstStyle/>
          <a:p>
            <a:pPr algn="ctr" indent="0" marL="0">
              <a:buNone/>
            </a:pPr>
            <a:r>
              <a:rPr lang="en-US" sz="1600" b="1" dirty="0">
                <a:solidFill>
                  <a:schemeClr val="bg1"/>
                </a:solidFill>
              </a:rPr>
              <a:t>PROCESSED</a:t>
            </a:r>
            <a:endParaRPr lang="en-US" sz="1600" dirty="0"/>
          </a:p>
          <a:p>
            <a:pPr algn="ctr" indent="0" marL="0">
              <a:buNone/>
            </a:pPr>
            <a:r>
              <a:rPr lang="en-US" sz="1100" dirty="0">
                <a:solidFill>
                  <a:schemeClr val="bg1"/>
                </a:solidFill>
              </a:rPr>
              <a:t>Gross, deductions,</a:t>
            </a:r>
            <a:endParaRPr lang="en-US" sz="1600" dirty="0"/>
          </a:p>
          <a:p>
            <a:pPr algn="ctr" indent="0" marL="0">
              <a:buNone/>
            </a:pPr>
            <a:r>
              <a:rPr lang="en-US" sz="1100" dirty="0">
                <a:solidFill>
                  <a:schemeClr val="bg1"/>
                </a:solidFill>
              </a:rPr>
              <a:t>net + payslips written</a:t>
            </a:r>
            <a:endParaRPr lang="en-US" sz="1600" dirty="0"/>
          </a:p>
        </p:txBody>
      </p:sp>
      <p:sp>
        <p:nvSpPr>
          <p:cNvPr id="9" name="Shape 5"/>
          <p:cNvSpPr/>
          <p:nvPr/>
        </p:nvSpPr>
        <p:spPr>
          <a:xfrm>
            <a:off x="5806440" y="1600200"/>
            <a:ext cx="457200" cy="0"/>
          </a:xfrm>
          <a:prstGeom prst="line">
            <a:avLst/>
          </a:prstGeom>
          <a:noFill/>
          <a:ln w="31750">
            <a:solidFill>
              <a:schemeClr val="accent2"/>
            </a:solidFill>
            <a:prstDash val="solid"/>
            <a:tailEnd type="triangle"/>
          </a:ln>
        </p:spPr>
      </p:sp>
      <p:sp>
        <p:nvSpPr>
          <p:cNvPr id="10" name="Text 6"/>
          <p:cNvSpPr txBox="1"/>
          <p:nvPr/>
        </p:nvSpPr>
        <p:spPr>
          <a:xfrm>
            <a:off x="6309360" y="1143000"/>
            <a:ext cx="2286000" cy="914400"/>
          </a:xfrm>
          <a:prstGeom prst="roundRect">
            <a:avLst>
              <a:gd name="adj" fmla="val 10000"/>
            </a:avLst>
          </a:prstGeom>
          <a:solidFill>
            <a:schemeClr val="accent3"/>
          </a:solidFill>
          <a:ln/>
        </p:spPr>
        <p:txBody>
          <a:bodyPr wrap="square" lIns="635" tIns="635" rIns="635" bIns="635" rtlCol="0" anchor="ctr"/>
          <a:lstStyle/>
          <a:p>
            <a:pPr algn="ctr" indent="0" marL="0">
              <a:buNone/>
            </a:pPr>
            <a:r>
              <a:rPr lang="en-US" sz="1600" b="1" dirty="0">
                <a:solidFill>
                  <a:schemeClr val="bg1"/>
                </a:solidFill>
              </a:rPr>
              <a:t>PAID</a:t>
            </a:r>
            <a:endParaRPr lang="en-US" sz="1600" dirty="0"/>
          </a:p>
          <a:p>
            <a:pPr algn="ctr" indent="0" marL="0">
              <a:buNone/>
            </a:pPr>
            <a:r>
              <a:rPr lang="en-US" sz="1100" dirty="0">
                <a:solidFill>
                  <a:schemeClr val="bg1"/>
                </a:solidFill>
              </a:rPr>
              <a:t>Transfers marked</a:t>
            </a:r>
            <a:endParaRPr lang="en-US" sz="1600" dirty="0"/>
          </a:p>
          <a:p>
            <a:pPr algn="ctr" indent="0" marL="0">
              <a:buNone/>
            </a:pPr>
            <a:r>
              <a:rPr lang="en-US" sz="1100" dirty="0">
                <a:solidFill>
                  <a:schemeClr val="bg1"/>
                </a:solidFill>
              </a:rPr>
              <a:t>paid, history locked</a:t>
            </a:r>
            <a:endParaRPr lang="en-US" sz="1600" dirty="0"/>
          </a:p>
        </p:txBody>
      </p:sp>
      <p:sp>
        <p:nvSpPr>
          <p:cNvPr id="11" name="Text 7"/>
          <p:cNvSpPr txBox="1"/>
          <p:nvPr/>
        </p:nvSpPr>
        <p:spPr>
          <a:xfrm>
            <a:off x="3017520" y="2103120"/>
            <a:ext cx="1645920" cy="201168"/>
          </a:xfrm>
          <a:prstGeom prst="rect">
            <a:avLst/>
          </a:prstGeom>
          <a:noFill/>
          <a:ln/>
        </p:spPr>
        <p:txBody>
          <a:bodyPr wrap="square" lIns="0" tIns="0" rIns="0" bIns="0" rtlCol="0" anchor="t"/>
          <a:lstStyle/>
          <a:p>
            <a:pPr algn="ctr" indent="0" marL="0">
              <a:buNone/>
            </a:pPr>
            <a:r>
              <a:rPr lang="en-US" sz="1000" b="1" dirty="0">
                <a:solidFill>
                  <a:schemeClr val="accent3"/>
                </a:solidFill>
              </a:rPr>
              <a:t>Process payroll</a:t>
            </a:r>
            <a:endParaRPr lang="en-US" sz="1000" dirty="0"/>
          </a:p>
        </p:txBody>
      </p:sp>
      <p:sp>
        <p:nvSpPr>
          <p:cNvPr id="12" name="Text 8"/>
          <p:cNvSpPr txBox="1"/>
          <p:nvPr/>
        </p:nvSpPr>
        <p:spPr>
          <a:xfrm>
            <a:off x="5852160" y="2103120"/>
            <a:ext cx="1828800" cy="201168"/>
          </a:xfrm>
          <a:prstGeom prst="rect">
            <a:avLst/>
          </a:prstGeom>
          <a:noFill/>
          <a:ln/>
        </p:spPr>
        <p:txBody>
          <a:bodyPr wrap="square" lIns="0" tIns="0" rIns="0" bIns="0" rtlCol="0" anchor="t"/>
          <a:lstStyle/>
          <a:p>
            <a:pPr algn="ctr" indent="0" marL="0">
              <a:buNone/>
            </a:pPr>
            <a:r>
              <a:rPr lang="en-US" sz="1000" b="1" dirty="0">
                <a:solidFill>
                  <a:schemeClr val="accent3"/>
                </a:solidFill>
              </a:rPr>
              <a:t>Mark transfers paid</a:t>
            </a:r>
            <a:endParaRPr lang="en-US" sz="1000" dirty="0"/>
          </a:p>
        </p:txBody>
      </p:sp>
      <p:sp>
        <p:nvSpPr>
          <p:cNvPr id="13" name="Text 9"/>
          <p:cNvSpPr txBox="1"/>
          <p:nvPr/>
        </p:nvSpPr>
        <p:spPr>
          <a:xfrm>
            <a:off x="457200" y="2423160"/>
            <a:ext cx="4572000" cy="274320"/>
          </a:xfrm>
          <a:prstGeom prst="rect">
            <a:avLst/>
          </a:prstGeom>
          <a:noFill/>
          <a:ln/>
        </p:spPr>
        <p:txBody>
          <a:bodyPr wrap="square" lIns="0" tIns="0" rIns="0" bIns="0" rtlCol="0" anchor="t"/>
          <a:lstStyle/>
          <a:p>
            <a:pPr indent="0" marL="0">
              <a:buNone/>
            </a:pPr>
            <a:r>
              <a:rPr lang="en-US" sz="1400" b="1" dirty="0">
                <a:solidFill>
                  <a:schemeClr val="tx2"/>
                </a:solidFill>
                <a:latin typeface="Cambria" pitchFamily="34" charset="0"/>
                <a:ea typeface="Cambria" pitchFamily="34" charset="-122"/>
                <a:cs typeface="Cambria" pitchFamily="34" charset="-120"/>
              </a:rPr>
              <a:t>Inside the single transaction</a:t>
            </a:r>
            <a:endParaRPr lang="en-US" sz="1400" dirty="0"/>
          </a:p>
        </p:txBody>
      </p:sp>
      <p:sp>
        <p:nvSpPr>
          <p:cNvPr id="14" name="Shape 10"/>
          <p:cNvSpPr/>
          <p:nvPr/>
        </p:nvSpPr>
        <p:spPr>
          <a:xfrm>
            <a:off x="457200" y="2743200"/>
            <a:ext cx="1508760" cy="822960"/>
          </a:xfrm>
          <a:prstGeom prst="roundRect">
            <a:avLst>
              <a:gd name="adj" fmla="val 8889"/>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5" name="Text 11"/>
          <p:cNvSpPr txBox="1"/>
          <p:nvPr/>
        </p:nvSpPr>
        <p:spPr>
          <a:xfrm>
            <a:off x="502920" y="2761488"/>
            <a:ext cx="1417320" cy="786384"/>
          </a:xfrm>
          <a:prstGeom prst="rect">
            <a:avLst/>
          </a:prstGeom>
          <a:noFill/>
          <a:ln/>
        </p:spPr>
        <p:txBody>
          <a:bodyPr wrap="square" lIns="0" tIns="0" rIns="0" bIns="0" rtlCol="0" anchor="ctr"/>
          <a:lstStyle/>
          <a:p>
            <a:pPr algn="ctr" indent="0" marL="0">
              <a:buNone/>
            </a:pPr>
            <a:r>
              <a:rPr lang="en-US" sz="1050" dirty="0">
                <a:solidFill>
                  <a:schemeClr val="tx1"/>
                </a:solidFill>
              </a:rPr>
              <a:t>Load active employees,</a:t>
            </a:r>
            <a:endParaRPr lang="en-US" sz="1050" dirty="0"/>
          </a:p>
          <a:p>
            <a:pPr algn="ctr" indent="0" marL="0">
              <a:buNone/>
            </a:pPr>
            <a:r>
              <a:rPr lang="en-US" sz="1050" dirty="0">
                <a:solidFill>
                  <a:schemeClr val="tx1"/>
                </a:solidFill>
              </a:rPr>
              <a:t>salary and attendance</a:t>
            </a:r>
            <a:endParaRPr lang="en-US" sz="1050" dirty="0"/>
          </a:p>
        </p:txBody>
      </p:sp>
      <p:sp>
        <p:nvSpPr>
          <p:cNvPr id="16" name="Shape 12"/>
          <p:cNvSpPr/>
          <p:nvPr/>
        </p:nvSpPr>
        <p:spPr>
          <a:xfrm>
            <a:off x="1975104" y="3154680"/>
            <a:ext cx="137160" cy="0"/>
          </a:xfrm>
          <a:prstGeom prst="line">
            <a:avLst/>
          </a:prstGeom>
          <a:noFill/>
          <a:ln w="19050">
            <a:solidFill>
              <a:schemeClr val="accent4"/>
            </a:solidFill>
            <a:prstDash val="solid"/>
            <a:tailEnd type="triangle"/>
          </a:ln>
        </p:spPr>
      </p:sp>
      <p:sp>
        <p:nvSpPr>
          <p:cNvPr id="17" name="Shape 13"/>
          <p:cNvSpPr/>
          <p:nvPr/>
        </p:nvSpPr>
        <p:spPr>
          <a:xfrm>
            <a:off x="2121408" y="2743200"/>
            <a:ext cx="1508760" cy="822960"/>
          </a:xfrm>
          <a:prstGeom prst="roundRect">
            <a:avLst>
              <a:gd name="adj" fmla="val 8889"/>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8" name="Text 14"/>
          <p:cNvSpPr txBox="1"/>
          <p:nvPr/>
        </p:nvSpPr>
        <p:spPr>
          <a:xfrm>
            <a:off x="2167128" y="2761488"/>
            <a:ext cx="1417320" cy="786384"/>
          </a:xfrm>
          <a:prstGeom prst="rect">
            <a:avLst/>
          </a:prstGeom>
          <a:noFill/>
          <a:ln/>
        </p:spPr>
        <p:txBody>
          <a:bodyPr wrap="square" lIns="0" tIns="0" rIns="0" bIns="0" rtlCol="0" anchor="ctr"/>
          <a:lstStyle/>
          <a:p>
            <a:pPr algn="ctr" indent="0" marL="0">
              <a:buNone/>
            </a:pPr>
            <a:r>
              <a:rPr lang="en-US" sz="1050" dirty="0">
                <a:solidFill>
                  <a:schemeClr val="tx1"/>
                </a:solidFill>
              </a:rPr>
              <a:t>Compute gross, LOP,</a:t>
            </a:r>
            <a:endParaRPr lang="en-US" sz="1050" dirty="0"/>
          </a:p>
          <a:p>
            <a:pPr algn="ctr" indent="0" marL="0">
              <a:buNone/>
            </a:pPr>
            <a:r>
              <a:rPr lang="en-US" sz="1050" dirty="0">
                <a:solidFill>
                  <a:schemeClr val="tx1"/>
                </a:solidFill>
              </a:rPr>
              <a:t>statutory deductions</a:t>
            </a:r>
            <a:endParaRPr lang="en-US" sz="1050" dirty="0"/>
          </a:p>
        </p:txBody>
      </p:sp>
      <p:sp>
        <p:nvSpPr>
          <p:cNvPr id="19" name="Shape 15"/>
          <p:cNvSpPr/>
          <p:nvPr/>
        </p:nvSpPr>
        <p:spPr>
          <a:xfrm>
            <a:off x="3639312" y="3154680"/>
            <a:ext cx="137160" cy="0"/>
          </a:xfrm>
          <a:prstGeom prst="line">
            <a:avLst/>
          </a:prstGeom>
          <a:noFill/>
          <a:ln w="19050">
            <a:solidFill>
              <a:schemeClr val="accent4"/>
            </a:solidFill>
            <a:prstDash val="solid"/>
            <a:tailEnd type="triangle"/>
          </a:ln>
        </p:spPr>
      </p:sp>
      <p:sp>
        <p:nvSpPr>
          <p:cNvPr id="20" name="Shape 16"/>
          <p:cNvSpPr/>
          <p:nvPr/>
        </p:nvSpPr>
        <p:spPr>
          <a:xfrm>
            <a:off x="3785616" y="2743200"/>
            <a:ext cx="1508760" cy="822960"/>
          </a:xfrm>
          <a:prstGeom prst="roundRect">
            <a:avLst>
              <a:gd name="adj" fmla="val 8889"/>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1" name="Text 17"/>
          <p:cNvSpPr txBox="1"/>
          <p:nvPr/>
        </p:nvSpPr>
        <p:spPr>
          <a:xfrm>
            <a:off x="3831336" y="2761488"/>
            <a:ext cx="1417320" cy="786384"/>
          </a:xfrm>
          <a:prstGeom prst="rect">
            <a:avLst/>
          </a:prstGeom>
          <a:noFill/>
          <a:ln/>
        </p:spPr>
        <p:txBody>
          <a:bodyPr wrap="square" lIns="0" tIns="0" rIns="0" bIns="0" rtlCol="0" anchor="ctr"/>
          <a:lstStyle/>
          <a:p>
            <a:pPr algn="ctr" indent="0" marL="0">
              <a:buNone/>
            </a:pPr>
            <a:r>
              <a:rPr lang="en-US" sz="1050" dirty="0">
                <a:solidFill>
                  <a:schemeClr val="tx1"/>
                </a:solidFill>
              </a:rPr>
              <a:t>Apply loan EMI and</a:t>
            </a:r>
            <a:endParaRPr lang="en-US" sz="1050" dirty="0"/>
          </a:p>
          <a:p>
            <a:pPr algn="ctr" indent="0" marL="0">
              <a:buNone/>
            </a:pPr>
            <a:r>
              <a:rPr lang="en-US" sz="1050" dirty="0">
                <a:solidFill>
                  <a:schemeClr val="tx1"/>
                </a:solidFill>
              </a:rPr>
              <a:t>manual deductions</a:t>
            </a:r>
            <a:endParaRPr lang="en-US" sz="1050" dirty="0"/>
          </a:p>
        </p:txBody>
      </p:sp>
      <p:sp>
        <p:nvSpPr>
          <p:cNvPr id="22" name="Shape 18"/>
          <p:cNvSpPr/>
          <p:nvPr/>
        </p:nvSpPr>
        <p:spPr>
          <a:xfrm>
            <a:off x="5303520" y="3154680"/>
            <a:ext cx="137160" cy="0"/>
          </a:xfrm>
          <a:prstGeom prst="line">
            <a:avLst/>
          </a:prstGeom>
          <a:noFill/>
          <a:ln w="19050">
            <a:solidFill>
              <a:schemeClr val="accent4"/>
            </a:solidFill>
            <a:prstDash val="solid"/>
            <a:tailEnd type="triangle"/>
          </a:ln>
        </p:spPr>
      </p:sp>
      <p:sp>
        <p:nvSpPr>
          <p:cNvPr id="23" name="Shape 19"/>
          <p:cNvSpPr/>
          <p:nvPr/>
        </p:nvSpPr>
        <p:spPr>
          <a:xfrm>
            <a:off x="5449824" y="2743200"/>
            <a:ext cx="1508760" cy="822960"/>
          </a:xfrm>
          <a:prstGeom prst="roundRect">
            <a:avLst>
              <a:gd name="adj" fmla="val 8889"/>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4" name="Text 20"/>
          <p:cNvSpPr txBox="1"/>
          <p:nvPr/>
        </p:nvSpPr>
        <p:spPr>
          <a:xfrm>
            <a:off x="5495544" y="2761488"/>
            <a:ext cx="1417320" cy="786384"/>
          </a:xfrm>
          <a:prstGeom prst="rect">
            <a:avLst/>
          </a:prstGeom>
          <a:noFill/>
          <a:ln/>
        </p:spPr>
        <p:txBody>
          <a:bodyPr wrap="square" lIns="0" tIns="0" rIns="0" bIns="0" rtlCol="0" anchor="ctr"/>
          <a:lstStyle/>
          <a:p>
            <a:pPr algn="ctr" indent="0" marL="0">
              <a:buNone/>
            </a:pPr>
            <a:r>
              <a:rPr lang="en-US" sz="1050" dirty="0">
                <a:solidFill>
                  <a:schemeClr val="tx1"/>
                </a:solidFill>
              </a:rPr>
              <a:t>Insert payroll_detail,</a:t>
            </a:r>
            <a:endParaRPr lang="en-US" sz="1050" dirty="0"/>
          </a:p>
          <a:p>
            <a:pPr algn="ctr" indent="0" marL="0">
              <a:buNone/>
            </a:pPr>
            <a:r>
              <a:rPr lang="en-US" sz="1050" dirty="0">
                <a:solidFill>
                  <a:schemeClr val="tx1"/>
                </a:solidFill>
              </a:rPr>
              <a:t>deductions, payslip</a:t>
            </a:r>
            <a:endParaRPr lang="en-US" sz="1050" dirty="0"/>
          </a:p>
        </p:txBody>
      </p:sp>
      <p:sp>
        <p:nvSpPr>
          <p:cNvPr id="25" name="Shape 21"/>
          <p:cNvSpPr/>
          <p:nvPr/>
        </p:nvSpPr>
        <p:spPr>
          <a:xfrm>
            <a:off x="6967728" y="3154680"/>
            <a:ext cx="137160" cy="0"/>
          </a:xfrm>
          <a:prstGeom prst="line">
            <a:avLst/>
          </a:prstGeom>
          <a:noFill/>
          <a:ln w="19050">
            <a:solidFill>
              <a:schemeClr val="accent4"/>
            </a:solidFill>
            <a:prstDash val="solid"/>
            <a:tailEnd type="triangle"/>
          </a:ln>
        </p:spPr>
      </p:sp>
      <p:sp>
        <p:nvSpPr>
          <p:cNvPr id="26" name="Shape 22"/>
          <p:cNvSpPr/>
          <p:nvPr/>
        </p:nvSpPr>
        <p:spPr>
          <a:xfrm>
            <a:off x="7114032" y="2743200"/>
            <a:ext cx="1508760" cy="822960"/>
          </a:xfrm>
          <a:prstGeom prst="roundRect">
            <a:avLst>
              <a:gd name="adj" fmla="val 8889"/>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7" name="Text 23"/>
          <p:cNvSpPr txBox="1"/>
          <p:nvPr/>
        </p:nvSpPr>
        <p:spPr>
          <a:xfrm>
            <a:off x="7159752" y="2761488"/>
            <a:ext cx="1417320" cy="786384"/>
          </a:xfrm>
          <a:prstGeom prst="rect">
            <a:avLst/>
          </a:prstGeom>
          <a:noFill/>
          <a:ln/>
        </p:spPr>
        <p:txBody>
          <a:bodyPr wrap="square" lIns="0" tIns="0" rIns="0" bIns="0" rtlCol="0" anchor="ctr"/>
          <a:lstStyle/>
          <a:p>
            <a:pPr algn="ctr" indent="0" marL="0">
              <a:buNone/>
            </a:pPr>
            <a:r>
              <a:rPr lang="en-US" sz="1050" dirty="0">
                <a:solidFill>
                  <a:schemeClr val="tx1"/>
                </a:solidFill>
              </a:rPr>
              <a:t>Update loan balance,</a:t>
            </a:r>
            <a:endParaRPr lang="en-US" sz="1050" dirty="0"/>
          </a:p>
          <a:p>
            <a:pPr algn="ctr" indent="0" marL="0">
              <a:buNone/>
            </a:pPr>
            <a:r>
              <a:rPr lang="en-US" sz="1050" dirty="0">
                <a:solidFill>
                  <a:schemeClr val="tx1"/>
                </a:solidFill>
              </a:rPr>
              <a:t>write repayment row</a:t>
            </a:r>
            <a:endParaRPr lang="en-US" sz="1050" dirty="0"/>
          </a:p>
        </p:txBody>
      </p:sp>
      <p:sp>
        <p:nvSpPr>
          <p:cNvPr id="28" name="Shape 24"/>
          <p:cNvSpPr/>
          <p:nvPr/>
        </p:nvSpPr>
        <p:spPr>
          <a:xfrm>
            <a:off x="457200" y="3794760"/>
            <a:ext cx="8229600" cy="868680"/>
          </a:xfrm>
          <a:prstGeom prst="roundRect">
            <a:avLst>
              <a:gd name="adj" fmla="val 8421"/>
            </a:avLst>
          </a:prstGeom>
          <a:solidFill>
            <a:schemeClr val="accent3"/>
          </a:solidFill>
          <a:ln w="12700">
            <a:solidFill>
              <a:schemeClr val="accent3"/>
            </a:solidFill>
            <a:prstDash val="solid"/>
          </a:ln>
        </p:spPr>
      </p:sp>
      <p:sp>
        <p:nvSpPr>
          <p:cNvPr id="29" name="Text 25"/>
          <p:cNvSpPr txBox="1"/>
          <p:nvPr/>
        </p:nvSpPr>
        <p:spPr>
          <a:xfrm>
            <a:off x="640080" y="3858768"/>
            <a:ext cx="7863840" cy="777240"/>
          </a:xfrm>
          <a:prstGeom prst="rect">
            <a:avLst/>
          </a:prstGeom>
          <a:noFill/>
          <a:ln/>
        </p:spPr>
        <p:txBody>
          <a:bodyPr wrap="square" lIns="0" tIns="0" rIns="0" bIns="0" rtlCol="0" anchor="t"/>
          <a:lstStyle/>
          <a:p>
            <a:pPr marL="177800" indent="-177800">
              <a:spcAft>
                <a:spcPts val="200"/>
              </a:spcAft>
              <a:buSzPct val="100000"/>
              <a:buChar char="•"/>
            </a:pPr>
            <a:r>
              <a:rPr lang="en-US" sz="1200" b="1" dirty="0">
                <a:solidFill>
                  <a:schemeClr val="accent2"/>
                </a:solidFill>
              </a:rPr>
              <a:t>Safe: </a:t>
            </a:r>
            <a:pPr indent="0" marL="0">
              <a:spcAft>
                <a:spcPts val="200"/>
              </a:spcAft>
              <a:buNone/>
            </a:pPr>
            <a:r>
              <a:rPr lang="en-US" sz="1200" dirty="0">
                <a:solidFill>
                  <a:schemeClr val="bg1"/>
                </a:solidFill>
              </a:rPr>
              <a:t>any error rolls the whole run back</a:t>
            </a:r>
            <a:endParaRPr lang="en-US" sz="1200" dirty="0"/>
          </a:p>
          <a:p>
            <a:pPr marL="177800" indent="-177800">
              <a:spcAft>
                <a:spcPts val="200"/>
              </a:spcAft>
              <a:buSzPct val="100000"/>
              <a:buChar char="•"/>
            </a:pPr>
            <a:r>
              <a:rPr lang="en-US" sz="1200" b="1" dirty="0">
                <a:solidFill>
                  <a:schemeClr val="accent2"/>
                </a:solidFill>
              </a:rPr>
              <a:t>Locked: </a:t>
            </a:r>
            <a:pPr indent="0" marL="0">
              <a:spcAft>
                <a:spcPts val="200"/>
              </a:spcAft>
              <a:buNone/>
            </a:pPr>
            <a:r>
              <a:rPr lang="en-US" sz="1200" dirty="0">
                <a:solidFill>
                  <a:schemeClr val="bg1"/>
                </a:solidFill>
              </a:rPr>
              <a:t>a processed period cannot be processed again; triggers block edits to its rows</a:t>
            </a:r>
            <a:endParaRPr lang="en-US" sz="1200" dirty="0"/>
          </a:p>
          <a:p>
            <a:pPr marL="177800" indent="-177800">
              <a:spcAft>
                <a:spcPts val="200"/>
              </a:spcAft>
              <a:buSzPct val="100000"/>
              <a:buChar char="•"/>
            </a:pPr>
            <a:r>
              <a:rPr lang="en-US" sz="1200" b="1" dirty="0">
                <a:solidFill>
                  <a:schemeClr val="accent2"/>
                </a:solidFill>
              </a:rPr>
              <a:t>Skipped and reported: </a:t>
            </a:r>
            <a:pPr indent="0" marL="0">
              <a:spcAft>
                <a:spcPts val="200"/>
              </a:spcAft>
              <a:buNone/>
            </a:pPr>
            <a:r>
              <a:rPr lang="en-US" sz="1200" dirty="0">
                <a:solidFill>
                  <a:schemeClr val="bg1"/>
                </a:solidFill>
              </a:rPr>
              <a:t>inactive employees, missing salary or attendance</a:t>
            </a:r>
            <a:endParaRPr lang="en-US" sz="12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Calculation Rules and Worked Example</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57200" y="1143000"/>
            <a:ext cx="4114800" cy="3520440"/>
          </a:xfrm>
          <a:prstGeom prst="roundRect">
            <a:avLst>
              <a:gd name="adj" fmla="val 2078"/>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7" name="Text 3"/>
          <p:cNvSpPr txBox="1"/>
          <p:nvPr/>
        </p:nvSpPr>
        <p:spPr>
          <a:xfrm>
            <a:off x="640080" y="1216152"/>
            <a:ext cx="3749040" cy="274320"/>
          </a:xfrm>
          <a:prstGeom prst="rect">
            <a:avLst/>
          </a:prstGeom>
          <a:noFill/>
          <a:ln/>
        </p:spPr>
        <p:txBody>
          <a:bodyPr wrap="square" lIns="0" tIns="0" rIns="0" bIns="0" rtlCol="0" anchor="t"/>
          <a:lstStyle/>
          <a:p>
            <a:pPr indent="0" marL="0">
              <a:buNone/>
            </a:pPr>
            <a:r>
              <a:rPr lang="en-US" sz="1400" b="1" dirty="0">
                <a:solidFill>
                  <a:schemeClr val="tx2"/>
                </a:solidFill>
              </a:rPr>
              <a:t>Rules (illustrative, editable)</a:t>
            </a:r>
            <a:endParaRPr lang="en-US" sz="1400" dirty="0"/>
          </a:p>
        </p:txBody>
      </p:sp>
      <p:sp>
        <p:nvSpPr>
          <p:cNvPr id="8" name="Text 4"/>
          <p:cNvSpPr txBox="1"/>
          <p:nvPr/>
        </p:nvSpPr>
        <p:spPr>
          <a:xfrm>
            <a:off x="640080" y="1554480"/>
            <a:ext cx="3840480" cy="3063240"/>
          </a:xfrm>
          <a:prstGeom prst="rect">
            <a:avLst/>
          </a:prstGeom>
          <a:noFill/>
          <a:ln/>
        </p:spPr>
        <p:txBody>
          <a:bodyPr wrap="square" lIns="0" tIns="0" rIns="0" bIns="0" rtlCol="0" anchor="t"/>
          <a:lstStyle/>
          <a:p>
            <a:pPr marL="177800" indent="-177800">
              <a:spcAft>
                <a:spcPts val="600"/>
              </a:spcAft>
              <a:buSzPct val="100000"/>
              <a:buChar char="•"/>
            </a:pPr>
            <a:r>
              <a:rPr lang="en-US" sz="1250" b="1" dirty="0">
                <a:solidFill>
                  <a:schemeClr val="tx2"/>
                </a:solidFill>
              </a:rPr>
              <a:t>Gross = </a:t>
            </a:r>
            <a:pPr indent="0" marL="0">
              <a:spcAft>
                <a:spcPts val="600"/>
              </a:spcAft>
              <a:buNone/>
            </a:pPr>
            <a:r>
              <a:rPr lang="en-US" sz="1250" dirty="0">
                <a:solidFill>
                  <a:schemeClr val="tx1"/>
                </a:solidFill>
              </a:rPr>
              <a:t>fixed - loss of pay + extra earnings</a:t>
            </a:r>
            <a:endParaRPr lang="en-US" sz="1250" dirty="0"/>
          </a:p>
          <a:p>
            <a:pPr marL="177800" indent="-177800">
              <a:spcAft>
                <a:spcPts val="600"/>
              </a:spcAft>
              <a:buSzPct val="100000"/>
              <a:buChar char="•"/>
            </a:pPr>
            <a:r>
              <a:rPr lang="en-US" sz="1250" b="1" dirty="0">
                <a:solidFill>
                  <a:schemeClr val="tx2"/>
                </a:solidFill>
              </a:rPr>
              <a:t>LOP = </a:t>
            </a:r>
            <a:pPr indent="0" marL="0">
              <a:spcAft>
                <a:spcPts val="600"/>
              </a:spcAft>
              <a:buNone/>
            </a:pPr>
            <a:r>
              <a:rPr lang="en-US" sz="1250" dirty="0">
                <a:solidFill>
                  <a:schemeClr val="tx1"/>
                </a:solidFill>
              </a:rPr>
              <a:t>fixed / working days x LOP days</a:t>
            </a:r>
            <a:endParaRPr lang="en-US" sz="1250" dirty="0"/>
          </a:p>
          <a:p>
            <a:pPr marL="177800" indent="-177800">
              <a:spcAft>
                <a:spcPts val="600"/>
              </a:spcAft>
              <a:buSzPct val="100000"/>
              <a:buChar char="•"/>
            </a:pPr>
            <a:r>
              <a:rPr lang="en-US" sz="1250" b="1" dirty="0">
                <a:solidFill>
                  <a:schemeClr val="tx2"/>
                </a:solidFill>
              </a:rPr>
              <a:t>PF = </a:t>
            </a:r>
            <a:pPr indent="0" marL="0">
              <a:spcAft>
                <a:spcPts val="600"/>
              </a:spcAft>
              <a:buNone/>
            </a:pPr>
            <a:r>
              <a:rPr lang="en-US" sz="1250" dirty="0">
                <a:solidFill>
                  <a:schemeClr val="tx1"/>
                </a:solidFill>
              </a:rPr>
              <a:t>12% of basic, basic capped at 15,000</a:t>
            </a:r>
            <a:endParaRPr lang="en-US" sz="1250" dirty="0"/>
          </a:p>
          <a:p>
            <a:pPr marL="177800" indent="-177800">
              <a:spcAft>
                <a:spcPts val="600"/>
              </a:spcAft>
              <a:buSzPct val="100000"/>
              <a:buChar char="•"/>
            </a:pPr>
            <a:r>
              <a:rPr lang="en-US" sz="1250" b="1" dirty="0">
                <a:solidFill>
                  <a:schemeClr val="tx2"/>
                </a:solidFill>
              </a:rPr>
              <a:t>ESI = </a:t>
            </a:r>
            <a:pPr indent="0" marL="0">
              <a:spcAft>
                <a:spcPts val="600"/>
              </a:spcAft>
              <a:buNone/>
            </a:pPr>
            <a:r>
              <a:rPr lang="en-US" sz="1250" dirty="0">
                <a:solidFill>
                  <a:schemeClr val="tx1"/>
                </a:solidFill>
              </a:rPr>
              <a:t>0.75% of gross, only if gross &lt;= 21,000</a:t>
            </a:r>
            <a:endParaRPr lang="en-US" sz="1250" dirty="0"/>
          </a:p>
          <a:p>
            <a:pPr marL="177800" indent="-177800">
              <a:spcAft>
                <a:spcPts val="600"/>
              </a:spcAft>
              <a:buSzPct val="100000"/>
              <a:buChar char="•"/>
            </a:pPr>
            <a:r>
              <a:rPr lang="en-US" sz="1250" b="1" dirty="0">
                <a:solidFill>
                  <a:schemeClr val="tx2"/>
                </a:solidFill>
              </a:rPr>
              <a:t>PT = </a:t>
            </a:r>
            <a:pPr indent="0" marL="0">
              <a:spcAft>
                <a:spcPts val="600"/>
              </a:spcAft>
              <a:buNone/>
            </a:pPr>
            <a:r>
              <a:rPr lang="en-US" sz="1250" dirty="0">
                <a:solidFill>
                  <a:schemeClr val="tx1"/>
                </a:solidFill>
              </a:rPr>
              <a:t>200 if gross &gt; 15,000</a:t>
            </a:r>
            <a:endParaRPr lang="en-US" sz="1250" dirty="0"/>
          </a:p>
          <a:p>
            <a:pPr marL="177800" indent="-177800">
              <a:spcAft>
                <a:spcPts val="600"/>
              </a:spcAft>
              <a:buSzPct val="100000"/>
              <a:buChar char="•"/>
            </a:pPr>
            <a:r>
              <a:rPr lang="en-US" sz="1250" b="1" dirty="0">
                <a:solidFill>
                  <a:schemeClr val="tx2"/>
                </a:solidFill>
              </a:rPr>
              <a:t>TDS = </a:t>
            </a:r>
            <a:pPr indent="0" marL="0">
              <a:spcAft>
                <a:spcPts val="600"/>
              </a:spcAft>
              <a:buNone/>
            </a:pPr>
            <a:r>
              <a:rPr lang="en-US" sz="1250" dirty="0">
                <a:solidFill>
                  <a:schemeClr val="tx1"/>
                </a:solidFill>
              </a:rPr>
              <a:t>5% of gross above 50,000</a:t>
            </a:r>
            <a:endParaRPr lang="en-US" sz="1250" dirty="0"/>
          </a:p>
          <a:p>
            <a:pPr marL="177800" indent="-177800">
              <a:spcAft>
                <a:spcPts val="600"/>
              </a:spcAft>
              <a:buSzPct val="100000"/>
              <a:buChar char="•"/>
            </a:pPr>
            <a:r>
              <a:rPr lang="en-US" sz="1250" b="1" dirty="0">
                <a:solidFill>
                  <a:schemeClr val="tx2"/>
                </a:solidFill>
              </a:rPr>
              <a:t>EMI = </a:t>
            </a:r>
            <a:pPr indent="0" marL="0">
              <a:spcAft>
                <a:spcPts val="600"/>
              </a:spcAft>
              <a:buNone/>
            </a:pPr>
            <a:r>
              <a:rPr lang="en-US" sz="1250" dirty="0">
                <a:solidFill>
                  <a:schemeClr val="tx1"/>
                </a:solidFill>
              </a:rPr>
              <a:t>min(EMI, outstanding), ACTIVE loans</a:t>
            </a:r>
            <a:endParaRPr lang="en-US" sz="1250" dirty="0"/>
          </a:p>
          <a:p>
            <a:pPr marL="177800" indent="-177800">
              <a:spcAft>
                <a:spcPts val="600"/>
              </a:spcAft>
              <a:buSzPct val="100000"/>
              <a:buChar char="•"/>
            </a:pPr>
            <a:r>
              <a:rPr lang="en-US" sz="1250" b="1" dirty="0">
                <a:solidFill>
                  <a:schemeClr val="tx2"/>
                </a:solidFill>
              </a:rPr>
              <a:t>Net = </a:t>
            </a:r>
            <a:pPr indent="0" marL="0">
              <a:spcAft>
                <a:spcPts val="600"/>
              </a:spcAft>
              <a:buNone/>
            </a:pPr>
            <a:r>
              <a:rPr lang="en-US" sz="1250" dirty="0">
                <a:solidFill>
                  <a:schemeClr val="tx1"/>
                </a:solidFill>
              </a:rPr>
              <a:t>gross - total deductions</a:t>
            </a:r>
            <a:endParaRPr lang="en-US" sz="1250" dirty="0"/>
          </a:p>
        </p:txBody>
      </p:sp>
      <p:sp>
        <p:nvSpPr>
          <p:cNvPr id="9" name="Shape 5"/>
          <p:cNvSpPr/>
          <p:nvPr/>
        </p:nvSpPr>
        <p:spPr>
          <a:xfrm>
            <a:off x="4754880" y="1143000"/>
            <a:ext cx="3931920" cy="3520440"/>
          </a:xfrm>
          <a:prstGeom prst="roundRect">
            <a:avLst>
              <a:gd name="adj" fmla="val 2078"/>
            </a:avLst>
          </a:prstGeom>
          <a:solidFill>
            <a:schemeClr val="accent3"/>
          </a:solidFill>
          <a:ln w="12700">
            <a:solidFill>
              <a:schemeClr val="accent3"/>
            </a:solidFill>
            <a:prstDash val="solid"/>
          </a:ln>
        </p:spPr>
      </p:sp>
      <p:sp>
        <p:nvSpPr>
          <p:cNvPr id="10" name="Text 6"/>
          <p:cNvSpPr txBox="1"/>
          <p:nvPr/>
        </p:nvSpPr>
        <p:spPr>
          <a:xfrm>
            <a:off x="4937760" y="1216152"/>
            <a:ext cx="3566160" cy="274320"/>
          </a:xfrm>
          <a:prstGeom prst="rect">
            <a:avLst/>
          </a:prstGeom>
          <a:noFill/>
          <a:ln/>
        </p:spPr>
        <p:txBody>
          <a:bodyPr wrap="square" lIns="0" tIns="0" rIns="0" bIns="0" rtlCol="0" anchor="t"/>
          <a:lstStyle/>
          <a:p>
            <a:pPr indent="0" marL="0">
              <a:buNone/>
            </a:pPr>
            <a:r>
              <a:rPr lang="en-US" sz="1400" b="1" dirty="0">
                <a:solidFill>
                  <a:schemeClr val="accent2"/>
                </a:solidFill>
              </a:rPr>
              <a:t>Worked example: EMP003, Oct 2026</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937760" y="1554480"/>
          <a:ext cx="3566160" cy="914400"/>
        </p:xfrm>
        <a:graphic>
          <a:graphicData uri="http://schemas.openxmlformats.org/drawingml/2006/table">
            <a:tbl>
              <a:tblPr/>
              <a:tblGrid>
                <a:gridCol w="2011680"/>
                <a:gridCol w="1554480"/>
              </a:tblGrid>
              <a:tr h="265176">
                <a:tc>
                  <a:txBody>
                    <a:bodyPr/>
                    <a:lstStyle/>
                    <a:p>
                      <a:pPr indent="0" marL="0">
                        <a:buNone/>
                      </a:pPr>
                      <a:r>
                        <a:rPr lang="en-US" sz="1150" dirty="0">
                          <a:solidFill>
                            <a:schemeClr val="bg1"/>
                          </a:solidFill>
                        </a:rPr>
                        <a:t>Basic</a:t>
                      </a:r>
                      <a:endParaRPr lang="en-US" sz="1150" dirty="0"/>
                    </a:p>
                  </a:txBody>
                  <a:tcPr marL="45720" marR="45720" marT="18288" marB="18288">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150" dirty="0">
                          <a:solidFill>
                            <a:schemeClr val="bg1"/>
                          </a:solidFill>
                        </a:rPr>
                        <a:t>58,900.00</a:t>
                      </a:r>
                      <a:endParaRPr lang="en-US" sz="1150" dirty="0"/>
                    </a:p>
                  </a:txBody>
                  <a:tcPr marL="45720" marR="45720" marT="18288" marB="18288">
                    <a:lnL w="0" cap="flat" cmpd="sng" algn="ctr">
                      <a:noFill/>
                    </a:lnL>
                    <a:lnR w="0" cap="flat" cmpd="sng" algn="ctr">
                      <a:noFill/>
                    </a:lnR>
                    <a:lnT w="0" cap="flat" cmpd="sng" algn="ctr">
                      <a:noFill/>
                    </a:lnT>
                    <a:lnB w="0" cap="flat" cmpd="sng" algn="ctr">
                      <a:noFill/>
                    </a:lnB>
                  </a:tcPr>
                </a:tc>
              </a:tr>
              <a:tr h="265176">
                <a:tc>
                  <a:txBody>
                    <a:bodyPr/>
                    <a:lstStyle/>
                    <a:p>
                      <a:pPr indent="0" marL="0">
                        <a:buNone/>
                      </a:pPr>
                      <a:r>
                        <a:rPr lang="en-US" sz="1150" dirty="0">
                          <a:solidFill>
                            <a:schemeClr val="bg1"/>
                          </a:solidFill>
                        </a:rPr>
                        <a:t>HRA</a:t>
                      </a:r>
                      <a:endParaRPr lang="en-US" sz="1150" dirty="0"/>
                    </a:p>
                  </a:txBody>
                  <a:tcPr marL="45720" marR="45720" marT="18288" marB="18288">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150" dirty="0">
                          <a:solidFill>
                            <a:schemeClr val="bg1"/>
                          </a:solidFill>
                        </a:rPr>
                        <a:t>23,560.00</a:t>
                      </a:r>
                      <a:endParaRPr lang="en-US" sz="1150" dirty="0"/>
                    </a:p>
                  </a:txBody>
                  <a:tcPr marL="45720" marR="45720" marT="18288" marB="18288">
                    <a:lnL w="0" cap="flat" cmpd="sng" algn="ctr">
                      <a:noFill/>
                    </a:lnL>
                    <a:lnR w="0" cap="flat" cmpd="sng" algn="ctr">
                      <a:noFill/>
                    </a:lnR>
                    <a:lnT w="0" cap="flat" cmpd="sng" algn="ctr">
                      <a:noFill/>
                    </a:lnT>
                    <a:lnB w="0" cap="flat" cmpd="sng" algn="ctr">
                      <a:noFill/>
                    </a:lnB>
                  </a:tcPr>
                </a:tc>
              </a:tr>
              <a:tr h="265176">
                <a:tc>
                  <a:txBody>
                    <a:bodyPr/>
                    <a:lstStyle/>
                    <a:p>
                      <a:pPr indent="0" marL="0">
                        <a:buNone/>
                      </a:pPr>
                      <a:r>
                        <a:rPr lang="en-US" sz="1150" dirty="0">
                          <a:solidFill>
                            <a:schemeClr val="bg1"/>
                          </a:solidFill>
                        </a:rPr>
                        <a:t>DA</a:t>
                      </a:r>
                      <a:endParaRPr lang="en-US" sz="1150" dirty="0"/>
                    </a:p>
                  </a:txBody>
                  <a:tcPr marL="45720" marR="45720" marT="18288" marB="18288">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150" dirty="0">
                          <a:solidFill>
                            <a:schemeClr val="bg1"/>
                          </a:solidFill>
                        </a:rPr>
                        <a:t>5,890.00</a:t>
                      </a:r>
                      <a:endParaRPr lang="en-US" sz="1150" dirty="0"/>
                    </a:p>
                  </a:txBody>
                  <a:tcPr marL="45720" marR="45720" marT="18288" marB="18288">
                    <a:lnL w="0" cap="flat" cmpd="sng" algn="ctr">
                      <a:noFill/>
                    </a:lnL>
                    <a:lnR w="0" cap="flat" cmpd="sng" algn="ctr">
                      <a:noFill/>
                    </a:lnR>
                    <a:lnT w="0" cap="flat" cmpd="sng" algn="ctr">
                      <a:noFill/>
                    </a:lnT>
                    <a:lnB w="0" cap="flat" cmpd="sng" algn="ctr">
                      <a:noFill/>
                    </a:lnB>
                  </a:tcPr>
                </a:tc>
              </a:tr>
              <a:tr h="265176">
                <a:tc>
                  <a:txBody>
                    <a:bodyPr/>
                    <a:lstStyle/>
                    <a:p>
                      <a:pPr indent="0" marL="0">
                        <a:buNone/>
                      </a:pPr>
                      <a:r>
                        <a:rPr lang="en-US" sz="1150" dirty="0">
                          <a:solidFill>
                            <a:schemeClr val="bg1"/>
                          </a:solidFill>
                        </a:rPr>
                        <a:t>Special</a:t>
                      </a:r>
                      <a:endParaRPr lang="en-US" sz="1150" dirty="0"/>
                    </a:p>
                  </a:txBody>
                  <a:tcPr marL="45720" marR="45720" marT="18288" marB="18288">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150" dirty="0">
                          <a:solidFill>
                            <a:schemeClr val="bg1"/>
                          </a:solidFill>
                        </a:rPr>
                        <a:t>11,780.00</a:t>
                      </a:r>
                      <a:endParaRPr lang="en-US" sz="1150" dirty="0"/>
                    </a:p>
                  </a:txBody>
                  <a:tcPr marL="45720" marR="45720" marT="18288" marB="18288">
                    <a:lnL w="0" cap="flat" cmpd="sng" algn="ctr">
                      <a:noFill/>
                    </a:lnL>
                    <a:lnR w="0" cap="flat" cmpd="sng" algn="ctr">
                      <a:noFill/>
                    </a:lnR>
                    <a:lnT w="0" cap="flat" cmpd="sng" algn="ctr">
                      <a:noFill/>
                    </a:lnT>
                    <a:lnB w="0" cap="flat" cmpd="sng" algn="ctr">
                      <a:noFill/>
                    </a:lnB>
                  </a:tcPr>
                </a:tc>
              </a:tr>
              <a:tr h="265176">
                <a:tc>
                  <a:txBody>
                    <a:bodyPr/>
                    <a:lstStyle/>
                    <a:p>
                      <a:pPr indent="0" marL="0">
                        <a:buNone/>
                      </a:pPr>
                      <a:r>
                        <a:rPr lang="en-US" sz="1150" b="1" dirty="0">
                          <a:solidFill>
                            <a:schemeClr val="accent2"/>
                          </a:solidFill>
                        </a:rPr>
                        <a:t>Gross</a:t>
                      </a:r>
                      <a:endParaRPr lang="en-US" sz="1150" dirty="0"/>
                    </a:p>
                  </a:txBody>
                  <a:tcPr marL="45720" marR="45720" marT="18288" marB="18288">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150" b="1" dirty="0">
                          <a:solidFill>
                            <a:schemeClr val="accent2"/>
                          </a:solidFill>
                        </a:rPr>
                        <a:t>1,00,130.00</a:t>
                      </a:r>
                      <a:endParaRPr lang="en-US" sz="1150" dirty="0"/>
                    </a:p>
                  </a:txBody>
                  <a:tcPr marL="45720" marR="45720" marT="18288" marB="18288">
                    <a:lnL w="0" cap="flat" cmpd="sng" algn="ctr">
                      <a:noFill/>
                    </a:lnL>
                    <a:lnR w="0" cap="flat" cmpd="sng" algn="ctr">
                      <a:noFill/>
                    </a:lnR>
                    <a:lnT w="0" cap="flat" cmpd="sng" algn="ctr">
                      <a:noFill/>
                    </a:lnT>
                    <a:lnB w="0" cap="flat" cmpd="sng" algn="ctr">
                      <a:noFill/>
                    </a:lnB>
                  </a:tcPr>
                </a:tc>
              </a:tr>
              <a:tr h="265176">
                <a:tc>
                  <a:txBody>
                    <a:bodyPr/>
                    <a:lstStyle/>
                    <a:p>
                      <a:pPr indent="0" marL="0">
                        <a:buNone/>
                      </a:pPr>
                      <a:r>
                        <a:rPr lang="en-US" sz="1150" dirty="0">
                          <a:solidFill>
                            <a:schemeClr val="bg1"/>
                          </a:solidFill>
                        </a:rPr>
                        <a:t>PF</a:t>
                      </a:r>
                      <a:endParaRPr lang="en-US" sz="1150" dirty="0"/>
                    </a:p>
                  </a:txBody>
                  <a:tcPr marL="45720" marR="45720" marT="18288" marB="18288">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150" dirty="0">
                          <a:solidFill>
                            <a:schemeClr val="bg1"/>
                          </a:solidFill>
                        </a:rPr>
                        <a:t>1,800.00</a:t>
                      </a:r>
                      <a:endParaRPr lang="en-US" sz="1150" dirty="0"/>
                    </a:p>
                  </a:txBody>
                  <a:tcPr marL="45720" marR="45720" marT="18288" marB="18288">
                    <a:lnL w="0" cap="flat" cmpd="sng" algn="ctr">
                      <a:noFill/>
                    </a:lnL>
                    <a:lnR w="0" cap="flat" cmpd="sng" algn="ctr">
                      <a:noFill/>
                    </a:lnR>
                    <a:lnT w="0" cap="flat" cmpd="sng" algn="ctr">
                      <a:noFill/>
                    </a:lnT>
                    <a:lnB w="0" cap="flat" cmpd="sng" algn="ctr">
                      <a:noFill/>
                    </a:lnB>
                  </a:tcPr>
                </a:tc>
              </a:tr>
              <a:tr h="265176">
                <a:tc>
                  <a:txBody>
                    <a:bodyPr/>
                    <a:lstStyle/>
                    <a:p>
                      <a:pPr indent="0" marL="0">
                        <a:buNone/>
                      </a:pPr>
                      <a:r>
                        <a:rPr lang="en-US" sz="1150" dirty="0">
                          <a:solidFill>
                            <a:schemeClr val="bg1"/>
                          </a:solidFill>
                        </a:rPr>
                        <a:t>PT</a:t>
                      </a:r>
                      <a:endParaRPr lang="en-US" sz="1150" dirty="0"/>
                    </a:p>
                  </a:txBody>
                  <a:tcPr marL="45720" marR="45720" marT="18288" marB="18288">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150" dirty="0">
                          <a:solidFill>
                            <a:schemeClr val="bg1"/>
                          </a:solidFill>
                        </a:rPr>
                        <a:t>200.00</a:t>
                      </a:r>
                      <a:endParaRPr lang="en-US" sz="1150" dirty="0"/>
                    </a:p>
                  </a:txBody>
                  <a:tcPr marL="45720" marR="45720" marT="18288" marB="18288">
                    <a:lnL w="0" cap="flat" cmpd="sng" algn="ctr">
                      <a:noFill/>
                    </a:lnL>
                    <a:lnR w="0" cap="flat" cmpd="sng" algn="ctr">
                      <a:noFill/>
                    </a:lnR>
                    <a:lnT w="0" cap="flat" cmpd="sng" algn="ctr">
                      <a:noFill/>
                    </a:lnT>
                    <a:lnB w="0" cap="flat" cmpd="sng" algn="ctr">
                      <a:noFill/>
                    </a:lnB>
                  </a:tcPr>
                </a:tc>
              </a:tr>
              <a:tr h="265176">
                <a:tc>
                  <a:txBody>
                    <a:bodyPr/>
                    <a:lstStyle/>
                    <a:p>
                      <a:pPr indent="0" marL="0">
                        <a:buNone/>
                      </a:pPr>
                      <a:r>
                        <a:rPr lang="en-US" sz="1150" dirty="0">
                          <a:solidFill>
                            <a:schemeClr val="bg1"/>
                          </a:solidFill>
                        </a:rPr>
                        <a:t>TDS</a:t>
                      </a:r>
                      <a:endParaRPr lang="en-US" sz="1150" dirty="0"/>
                    </a:p>
                  </a:txBody>
                  <a:tcPr marL="45720" marR="45720" marT="18288" marB="18288">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150" dirty="0">
                          <a:solidFill>
                            <a:schemeClr val="bg1"/>
                          </a:solidFill>
                        </a:rPr>
                        <a:t>2,506.50</a:t>
                      </a:r>
                      <a:endParaRPr lang="en-US" sz="1150" dirty="0"/>
                    </a:p>
                  </a:txBody>
                  <a:tcPr marL="45720" marR="45720" marT="18288" marB="18288">
                    <a:lnL w="0" cap="flat" cmpd="sng" algn="ctr">
                      <a:noFill/>
                    </a:lnL>
                    <a:lnR w="0" cap="flat" cmpd="sng" algn="ctr">
                      <a:noFill/>
                    </a:lnR>
                    <a:lnT w="0" cap="flat" cmpd="sng" algn="ctr">
                      <a:noFill/>
                    </a:lnT>
                    <a:lnB w="0" cap="flat" cmpd="sng" algn="ctr">
                      <a:noFill/>
                    </a:lnB>
                  </a:tcPr>
                </a:tc>
              </a:tr>
              <a:tr h="265176">
                <a:tc>
                  <a:txBody>
                    <a:bodyPr/>
                    <a:lstStyle/>
                    <a:p>
                      <a:pPr indent="0" marL="0">
                        <a:buNone/>
                      </a:pPr>
                      <a:r>
                        <a:rPr lang="en-US" sz="1150" dirty="0">
                          <a:solidFill>
                            <a:schemeClr val="bg1"/>
                          </a:solidFill>
                        </a:rPr>
                        <a:t>Loan EMI</a:t>
                      </a:r>
                      <a:endParaRPr lang="en-US" sz="1150" dirty="0"/>
                    </a:p>
                  </a:txBody>
                  <a:tcPr marL="45720" marR="45720" marT="18288" marB="18288">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150" dirty="0">
                          <a:solidFill>
                            <a:schemeClr val="bg1"/>
                          </a:solidFill>
                        </a:rPr>
                        <a:t>5,000.00</a:t>
                      </a:r>
                      <a:endParaRPr lang="en-US" sz="1150" dirty="0"/>
                    </a:p>
                  </a:txBody>
                  <a:tcPr marL="45720" marR="45720" marT="18288" marB="18288">
                    <a:lnL w="0" cap="flat" cmpd="sng" algn="ctr">
                      <a:noFill/>
                    </a:lnL>
                    <a:lnR w="0" cap="flat" cmpd="sng" algn="ctr">
                      <a:noFill/>
                    </a:lnR>
                    <a:lnT w="0" cap="flat" cmpd="sng" algn="ctr">
                      <a:noFill/>
                    </a:lnT>
                    <a:lnB w="0" cap="flat" cmpd="sng" algn="ctr">
                      <a:noFill/>
                    </a:lnB>
                  </a:tcPr>
                </a:tc>
              </a:tr>
              <a:tr h="265176">
                <a:tc>
                  <a:txBody>
                    <a:bodyPr/>
                    <a:lstStyle/>
                    <a:p>
                      <a:pPr indent="0" marL="0">
                        <a:buNone/>
                      </a:pPr>
                      <a:r>
                        <a:rPr lang="en-US" sz="1150" b="1" dirty="0">
                          <a:solidFill>
                            <a:schemeClr val="accent2"/>
                          </a:solidFill>
                        </a:rPr>
                        <a:t>Total deductions</a:t>
                      </a:r>
                      <a:endParaRPr lang="en-US" sz="1150" dirty="0"/>
                    </a:p>
                  </a:txBody>
                  <a:tcPr marL="45720" marR="45720" marT="18288" marB="18288">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150" b="1" dirty="0">
                          <a:solidFill>
                            <a:schemeClr val="accent2"/>
                          </a:solidFill>
                        </a:rPr>
                        <a:t>9,506.50</a:t>
                      </a:r>
                      <a:endParaRPr lang="en-US" sz="1150" dirty="0"/>
                    </a:p>
                  </a:txBody>
                  <a:tcPr marL="45720" marR="45720" marT="18288" marB="18288">
                    <a:lnL w="0" cap="flat" cmpd="sng" algn="ctr">
                      <a:noFill/>
                    </a:lnL>
                    <a:lnR w="0" cap="flat" cmpd="sng" algn="ctr">
                      <a:noFill/>
                    </a:lnR>
                    <a:lnT w="0" cap="flat" cmpd="sng" algn="ctr">
                      <a:noFill/>
                    </a:lnT>
                    <a:lnB w="0" cap="flat" cmpd="sng" algn="ctr">
                      <a:noFill/>
                    </a:lnB>
                  </a:tcPr>
                </a:tc>
              </a:tr>
              <a:tr h="265176">
                <a:tc>
                  <a:txBody>
                    <a:bodyPr/>
                    <a:lstStyle/>
                    <a:p>
                      <a:pPr indent="0" marL="0">
                        <a:buNone/>
                      </a:pPr>
                      <a:r>
                        <a:rPr lang="en-US" sz="1150" b="1" dirty="0">
                          <a:solidFill>
                            <a:schemeClr val="accent2"/>
                          </a:solidFill>
                        </a:rPr>
                        <a:t>Net salary</a:t>
                      </a:r>
                      <a:endParaRPr lang="en-US" sz="1150" dirty="0"/>
                    </a:p>
                  </a:txBody>
                  <a:tcPr marL="45720" marR="45720" marT="18288" marB="18288">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150" b="1" dirty="0">
                          <a:solidFill>
                            <a:schemeClr val="accent2"/>
                          </a:solidFill>
                        </a:rPr>
                        <a:t>90,623.50</a:t>
                      </a:r>
                      <a:endParaRPr lang="en-US" sz="1150" dirty="0"/>
                    </a:p>
                  </a:txBody>
                  <a:tcPr marL="45720" marR="45720" marT="18288" marB="18288">
                    <a:lnL w="0" cap="flat" cmpd="sng" algn="ctr">
                      <a:noFill/>
                    </a:lnL>
                    <a:lnR w="0" cap="flat" cmpd="sng" algn="ctr">
                      <a:noFill/>
                    </a:lnR>
                    <a:lnT w="0" cap="flat" cmpd="sng" algn="ctr">
                      <a:noFill/>
                    </a:lnT>
                    <a:lnB w="0" cap="flat" cmpd="sng" algn="ctr">
                      <a:noFill/>
                    </a:lnB>
                  </a:tcPr>
                </a:tc>
              </a:tr>
            </a:tbl>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Payslip Output</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20624" y="1106424"/>
            <a:ext cx="4828032" cy="2748101"/>
          </a:xfrm>
          <a:prstGeom prst="rect">
            <a:avLst/>
          </a:prstGeom>
          <a:solidFill>
            <a:schemeClr val="bg1"/>
          </a:solidFill>
          <a:ln w="12700">
            <a:solidFill>
              <a:srgbClr val="D9E2F5"/>
            </a:solidFill>
            <a:prstDash val="solid"/>
          </a:ln>
          <a:effectLst>
            <a:outerShdw sx="100000" sy="100000" kx="0" ky="0" algn="bl" rotWithShape="0" blurRad="76200" dist="25400" dir="5400000">
              <a:srgbClr val="141B41">
                <a:alpha val="12000"/>
              </a:srgbClr>
            </a:outerShdw>
          </a:effectLst>
        </p:spPr>
      </p:sp>
      <p:pic>
        <p:nvPicPr>
          <p:cNvPr id="7" name="Image 1" descr="Screenshot of the running application: payslip">    </p:cNvPr>
          <p:cNvPicPr>
            <a:picLocks noChangeAspect="1"/>
          </p:cNvPicPr>
          <p:nvPr/>
        </p:nvPicPr>
        <p:blipFill>
          <a:blip r:embed="rId2"/>
          <a:stretch>
            <a:fillRect/>
          </a:stretch>
        </p:blipFill>
        <p:spPr>
          <a:xfrm>
            <a:off x="457200" y="1143000"/>
            <a:ext cx="4754880" cy="2674949"/>
          </a:xfrm>
          <a:prstGeom prst="rect">
            <a:avLst/>
          </a:prstGeom>
        </p:spPr>
      </p:pic>
      <p:sp>
        <p:nvSpPr>
          <p:cNvPr id="8" name="Text 3"/>
          <p:cNvSpPr txBox="1"/>
          <p:nvPr/>
        </p:nvSpPr>
        <p:spPr>
          <a:xfrm>
            <a:off x="5486400" y="1188720"/>
            <a:ext cx="3200400" cy="2651760"/>
          </a:xfrm>
          <a:prstGeom prst="rect">
            <a:avLst/>
          </a:prstGeom>
          <a:noFill/>
          <a:ln/>
        </p:spPr>
        <p:txBody>
          <a:bodyPr wrap="square" lIns="0" tIns="0" rIns="0" bIns="0" rtlCol="0" anchor="t"/>
          <a:lstStyle/>
          <a:p>
            <a:pPr marL="177800" indent="-177800">
              <a:spcAft>
                <a:spcPts val="700"/>
              </a:spcAft>
              <a:buSzPct val="100000"/>
              <a:buChar char="•"/>
            </a:pPr>
            <a:r>
              <a:rPr lang="en-US" sz="1250" b="1" dirty="0">
                <a:solidFill>
                  <a:schemeClr val="tx2"/>
                </a:solidFill>
              </a:rPr>
              <a:t>Numbered: </a:t>
            </a:r>
            <a:pPr indent="0" marL="0">
              <a:spcAft>
                <a:spcPts val="700"/>
              </a:spcAft>
              <a:buNone/>
            </a:pPr>
            <a:r>
              <a:rPr lang="en-US" sz="1250" dirty="0">
                <a:solidFill>
                  <a:schemeClr val="tx1"/>
                </a:solidFill>
              </a:rPr>
              <a:t>PS-202610-EMP003</a:t>
            </a:r>
            <a:endParaRPr lang="en-US" sz="1250" dirty="0"/>
          </a:p>
          <a:p>
            <a:pPr marL="177800" indent="-177800">
              <a:spcAft>
                <a:spcPts val="700"/>
              </a:spcAft>
              <a:buSzPct val="100000"/>
              <a:buChar char="•"/>
            </a:pPr>
            <a:r>
              <a:rPr lang="en-US" sz="1250" b="1" dirty="0">
                <a:solidFill>
                  <a:schemeClr val="tx2"/>
                </a:solidFill>
              </a:rPr>
              <a:t>Itemised: </a:t>
            </a:r>
            <a:pPr indent="0" marL="0">
              <a:spcAft>
                <a:spcPts val="700"/>
              </a:spcAft>
              <a:buNone/>
            </a:pPr>
            <a:r>
              <a:rPr lang="en-US" sz="1250" dirty="0">
                <a:solidFill>
                  <a:schemeClr val="tx1"/>
                </a:solidFill>
              </a:rPr>
              <a:t>each earning and deduction line</a:t>
            </a:r>
            <a:endParaRPr lang="en-US" sz="1250" dirty="0"/>
          </a:p>
          <a:p>
            <a:pPr marL="177800" indent="-177800">
              <a:spcAft>
                <a:spcPts val="700"/>
              </a:spcAft>
              <a:buSzPct val="100000"/>
              <a:buChar char="•"/>
            </a:pPr>
            <a:r>
              <a:rPr lang="en-US" sz="1250" b="1" dirty="0">
                <a:solidFill>
                  <a:schemeClr val="tx2"/>
                </a:solidFill>
              </a:rPr>
              <a:t>Net payable: </a:t>
            </a:r>
            <a:pPr indent="0" marL="0">
              <a:spcAft>
                <a:spcPts val="700"/>
              </a:spcAft>
              <a:buNone/>
            </a:pPr>
            <a:r>
              <a:rPr lang="en-US" sz="1250" dirty="0">
                <a:solidFill>
                  <a:schemeClr val="tx1"/>
                </a:solidFill>
              </a:rPr>
              <a:t>Rs 90,623.50</a:t>
            </a:r>
            <a:endParaRPr lang="en-US" sz="1250" dirty="0"/>
          </a:p>
          <a:p>
            <a:pPr marL="177800" indent="-177800">
              <a:spcAft>
                <a:spcPts val="700"/>
              </a:spcAft>
              <a:buSzPct val="100000"/>
              <a:buChar char="•"/>
            </a:pPr>
            <a:r>
              <a:rPr lang="en-US" sz="1250" b="1" dirty="0">
                <a:solidFill>
                  <a:schemeClr val="tx2"/>
                </a:solidFill>
              </a:rPr>
              <a:t>Linked: </a:t>
            </a:r>
            <a:pPr indent="0" marL="0">
              <a:spcAft>
                <a:spcPts val="700"/>
              </a:spcAft>
              <a:buNone/>
            </a:pPr>
            <a:r>
              <a:rPr lang="en-US" sz="1250" dirty="0">
                <a:solidFill>
                  <a:schemeClr val="tx1"/>
                </a:solidFill>
              </a:rPr>
              <a:t>bank transfer reference TXN00300061</a:t>
            </a:r>
            <a:endParaRPr lang="en-US" sz="1250" dirty="0"/>
          </a:p>
          <a:p>
            <a:pPr marL="177800" indent="-177800">
              <a:spcAft>
                <a:spcPts val="700"/>
              </a:spcAft>
              <a:buSzPct val="100000"/>
              <a:buChar char="•"/>
            </a:pPr>
            <a:r>
              <a:rPr lang="en-US" sz="1250" b="1" dirty="0">
                <a:solidFill>
                  <a:schemeClr val="tx2"/>
                </a:solidFill>
              </a:rPr>
              <a:t>Printable: </a:t>
            </a:r>
            <a:pPr indent="0" marL="0">
              <a:spcAft>
                <a:spcPts val="700"/>
              </a:spcAft>
              <a:buNone/>
            </a:pPr>
            <a:r>
              <a:rPr lang="en-US" sz="1250" dirty="0">
                <a:solidFill>
                  <a:schemeClr val="tx1"/>
                </a:solidFill>
              </a:rPr>
              <a:t>Print / Save PDF button</a:t>
            </a:r>
            <a:endParaRPr lang="en-US" sz="1250" dirty="0"/>
          </a:p>
        </p:txBody>
      </p:sp>
      <p:sp>
        <p:nvSpPr>
          <p:cNvPr id="9" name="Shape 4"/>
          <p:cNvSpPr/>
          <p:nvPr/>
        </p:nvSpPr>
        <p:spPr>
          <a:xfrm>
            <a:off x="457200" y="3931920"/>
            <a:ext cx="8229600" cy="731520"/>
          </a:xfrm>
          <a:prstGeom prst="roundRect">
            <a:avLst>
              <a:gd name="adj" fmla="val 10000"/>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0" name="Text 5"/>
          <p:cNvSpPr txBox="1"/>
          <p:nvPr/>
        </p:nvSpPr>
        <p:spPr>
          <a:xfrm>
            <a:off x="640080" y="3959352"/>
            <a:ext cx="7863840" cy="676656"/>
          </a:xfrm>
          <a:prstGeom prst="rect">
            <a:avLst/>
          </a:prstGeom>
          <a:noFill/>
          <a:ln/>
        </p:spPr>
        <p:txBody>
          <a:bodyPr wrap="square" lIns="0" tIns="0" rIns="0" bIns="0" rtlCol="0" anchor="ctr"/>
          <a:lstStyle/>
          <a:p>
            <a:pPr indent="0" marL="0">
              <a:buNone/>
            </a:pPr>
            <a:r>
              <a:rPr lang="en-US" sz="1250" dirty="0">
                <a:solidFill>
                  <a:schemeClr val="tx1"/>
                </a:solidFill>
              </a:rPr>
              <a:t>Payslip figures are read from payroll_detail and deductions; the page performs no recalculation, so a payslip cannot drift from what was paid.</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Bank Transfer Records</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20624" y="1152144"/>
            <a:ext cx="4096512" cy="2336570"/>
          </a:xfrm>
          <a:prstGeom prst="rect">
            <a:avLst/>
          </a:prstGeom>
          <a:solidFill>
            <a:schemeClr val="bg1"/>
          </a:solidFill>
          <a:ln w="12700">
            <a:solidFill>
              <a:srgbClr val="D9E2F5"/>
            </a:solidFill>
            <a:prstDash val="solid"/>
          </a:ln>
          <a:effectLst>
            <a:outerShdw sx="100000" sy="100000" kx="0" ky="0" algn="bl" rotWithShape="0" blurRad="76200" dist="25400" dir="5400000">
              <a:srgbClr val="141B41">
                <a:alpha val="12000"/>
              </a:srgbClr>
            </a:outerShdw>
          </a:effectLst>
        </p:spPr>
      </p:sp>
      <p:pic>
        <p:nvPicPr>
          <p:cNvPr id="7" name="Image 1" descr="Screenshot of the running application: bank transfers pending">    </p:cNvPr>
          <p:cNvPicPr>
            <a:picLocks noChangeAspect="1"/>
          </p:cNvPicPr>
          <p:nvPr/>
        </p:nvPicPr>
        <p:blipFill>
          <a:blip r:embed="rId2"/>
          <a:stretch>
            <a:fillRect/>
          </a:stretch>
        </p:blipFill>
        <p:spPr>
          <a:xfrm>
            <a:off x="457200" y="1188720"/>
            <a:ext cx="4023360" cy="2263418"/>
          </a:xfrm>
          <a:prstGeom prst="rect">
            <a:avLst/>
          </a:prstGeom>
        </p:spPr>
      </p:pic>
      <p:sp>
        <p:nvSpPr>
          <p:cNvPr id="8" name="Shape 3"/>
          <p:cNvSpPr/>
          <p:nvPr/>
        </p:nvSpPr>
        <p:spPr>
          <a:xfrm>
            <a:off x="4526280" y="1920240"/>
            <a:ext cx="91440" cy="0"/>
          </a:xfrm>
          <a:prstGeom prst="line">
            <a:avLst/>
          </a:prstGeom>
          <a:noFill/>
          <a:ln w="25400">
            <a:solidFill>
              <a:schemeClr val="accent2"/>
            </a:solidFill>
            <a:prstDash val="solid"/>
            <a:tailEnd type="triangle"/>
          </a:ln>
        </p:spPr>
      </p:sp>
      <p:sp>
        <p:nvSpPr>
          <p:cNvPr id="9" name="Shape 4"/>
          <p:cNvSpPr/>
          <p:nvPr/>
        </p:nvSpPr>
        <p:spPr>
          <a:xfrm>
            <a:off x="4626864" y="1152144"/>
            <a:ext cx="4096512" cy="2336570"/>
          </a:xfrm>
          <a:prstGeom prst="rect">
            <a:avLst/>
          </a:prstGeom>
          <a:solidFill>
            <a:schemeClr val="bg1"/>
          </a:solidFill>
          <a:ln w="12700">
            <a:solidFill>
              <a:srgbClr val="D9E2F5"/>
            </a:solidFill>
            <a:prstDash val="solid"/>
          </a:ln>
          <a:effectLst>
            <a:outerShdw sx="100000" sy="100000" kx="0" ky="0" algn="bl" rotWithShape="0" blurRad="76200" dist="25400" dir="5400000">
              <a:srgbClr val="141B41">
                <a:alpha val="12000"/>
              </a:srgbClr>
            </a:outerShdw>
          </a:effectLst>
        </p:spPr>
      </p:sp>
      <p:pic>
        <p:nvPicPr>
          <p:cNvPr id="10" name="Image 2" descr="Screenshot of the running application: bank transfers paid">    </p:cNvPr>
          <p:cNvPicPr>
            <a:picLocks noChangeAspect="1"/>
          </p:cNvPicPr>
          <p:nvPr/>
        </p:nvPicPr>
        <p:blipFill>
          <a:blip r:embed="rId3"/>
          <a:stretch>
            <a:fillRect/>
          </a:stretch>
        </p:blipFill>
        <p:spPr>
          <a:xfrm>
            <a:off x="4663440" y="1188720"/>
            <a:ext cx="4023360" cy="2263418"/>
          </a:xfrm>
          <a:prstGeom prst="rect">
            <a:avLst/>
          </a:prstGeom>
        </p:spPr>
      </p:pic>
      <p:sp>
        <p:nvSpPr>
          <p:cNvPr id="11" name="Text 5"/>
          <p:cNvSpPr txBox="1"/>
          <p:nvPr/>
        </p:nvSpPr>
        <p:spPr>
          <a:xfrm>
            <a:off x="457200" y="3611880"/>
            <a:ext cx="4023360" cy="256032"/>
          </a:xfrm>
          <a:prstGeom prst="rect">
            <a:avLst/>
          </a:prstGeom>
          <a:noFill/>
          <a:ln/>
        </p:spPr>
        <p:txBody>
          <a:bodyPr wrap="square" lIns="0" tIns="0" rIns="0" bIns="0" rtlCol="0" anchor="t"/>
          <a:lstStyle/>
          <a:p>
            <a:pPr algn="ctr" indent="0" marL="0">
              <a:buNone/>
            </a:pPr>
            <a:r>
              <a:rPr lang="en-US" sz="1200" b="1" dirty="0">
                <a:solidFill>
                  <a:schemeClr val="tx2"/>
                </a:solidFill>
              </a:rPr>
              <a:t>Before: status PENDING</a:t>
            </a:r>
            <a:endParaRPr lang="en-US" sz="1200" dirty="0"/>
          </a:p>
        </p:txBody>
      </p:sp>
      <p:sp>
        <p:nvSpPr>
          <p:cNvPr id="12" name="Text 6"/>
          <p:cNvSpPr txBox="1"/>
          <p:nvPr/>
        </p:nvSpPr>
        <p:spPr>
          <a:xfrm>
            <a:off x="4663440" y="3611880"/>
            <a:ext cx="4023360" cy="256032"/>
          </a:xfrm>
          <a:prstGeom prst="rect">
            <a:avLst/>
          </a:prstGeom>
          <a:noFill/>
          <a:ln/>
        </p:spPr>
        <p:txBody>
          <a:bodyPr wrap="square" lIns="0" tIns="0" rIns="0" bIns="0" rtlCol="0" anchor="t"/>
          <a:lstStyle/>
          <a:p>
            <a:pPr algn="ctr" indent="0" marL="0">
              <a:buNone/>
            </a:pPr>
            <a:r>
              <a:rPr lang="en-US" sz="1200" b="1" dirty="0">
                <a:solidFill>
                  <a:schemeClr val="tx2"/>
                </a:solidFill>
              </a:rPr>
              <a:t>After: status SUCCESS, period PAID</a:t>
            </a:r>
            <a:endParaRPr lang="en-US" sz="1200" dirty="0"/>
          </a:p>
        </p:txBody>
      </p:sp>
      <p:sp>
        <p:nvSpPr>
          <p:cNvPr id="13" name="Shape 7"/>
          <p:cNvSpPr/>
          <p:nvPr/>
        </p:nvSpPr>
        <p:spPr>
          <a:xfrm>
            <a:off x="457200" y="4023360"/>
            <a:ext cx="8229600" cy="640080"/>
          </a:xfrm>
          <a:prstGeom prst="roundRect">
            <a:avLst>
              <a:gd name="adj" fmla="val 11429"/>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4" name="Text 8"/>
          <p:cNvSpPr txBox="1"/>
          <p:nvPr/>
        </p:nvSpPr>
        <p:spPr>
          <a:xfrm>
            <a:off x="640080" y="4050792"/>
            <a:ext cx="7863840" cy="585216"/>
          </a:xfrm>
          <a:prstGeom prst="rect">
            <a:avLst/>
          </a:prstGeom>
          <a:noFill/>
          <a:ln/>
        </p:spPr>
        <p:txBody>
          <a:bodyPr wrap="square" lIns="0" tIns="0" rIns="0" bIns="0" rtlCol="0" anchor="ctr"/>
          <a:lstStyle/>
          <a:p>
            <a:pPr indent="0" marL="0">
              <a:buNone/>
            </a:pPr>
            <a:r>
              <a:rPr lang="en-US" sz="1250" b="1" dirty="0">
                <a:solidFill>
                  <a:schemeClr val="accent2"/>
                </a:solidFill>
              </a:rPr>
              <a:t>Simulated: </a:t>
            </a:r>
            <a:pPr indent="0" marL="0">
              <a:buNone/>
            </a:pPr>
            <a:r>
              <a:rPr lang="en-US" sz="1250" dirty="0">
                <a:solidFill>
                  <a:schemeClr val="tx1"/>
                </a:solidFill>
              </a:rPr>
              <a:t>records only, no real bank API, synthetic account numbers. One transfer per payslip (UNIQUE payroll_id).</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Reports</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20624" y="1152144"/>
            <a:ext cx="4096512" cy="2336570"/>
          </a:xfrm>
          <a:prstGeom prst="rect">
            <a:avLst/>
          </a:prstGeom>
          <a:solidFill>
            <a:schemeClr val="bg1"/>
          </a:solidFill>
          <a:ln w="12700">
            <a:solidFill>
              <a:srgbClr val="D9E2F5"/>
            </a:solidFill>
            <a:prstDash val="solid"/>
          </a:ln>
          <a:effectLst>
            <a:outerShdw sx="100000" sy="100000" kx="0" ky="0" algn="bl" rotWithShape="0" blurRad="76200" dist="25400" dir="5400000">
              <a:srgbClr val="141B41">
                <a:alpha val="12000"/>
              </a:srgbClr>
            </a:outerShdw>
          </a:effectLst>
        </p:spPr>
      </p:sp>
      <p:pic>
        <p:nvPicPr>
          <p:cNvPr id="7" name="Image 1" descr="Screenshot of the running application: reports top">    </p:cNvPr>
          <p:cNvPicPr>
            <a:picLocks noChangeAspect="1"/>
          </p:cNvPicPr>
          <p:nvPr/>
        </p:nvPicPr>
        <p:blipFill>
          <a:blip r:embed="rId2"/>
          <a:stretch>
            <a:fillRect/>
          </a:stretch>
        </p:blipFill>
        <p:spPr>
          <a:xfrm>
            <a:off x="457200" y="1188720"/>
            <a:ext cx="4023360" cy="2263418"/>
          </a:xfrm>
          <a:prstGeom prst="rect">
            <a:avLst/>
          </a:prstGeom>
        </p:spPr>
      </p:pic>
      <p:sp>
        <p:nvSpPr>
          <p:cNvPr id="8" name="Shape 3"/>
          <p:cNvSpPr/>
          <p:nvPr/>
        </p:nvSpPr>
        <p:spPr>
          <a:xfrm>
            <a:off x="4626864" y="1152144"/>
            <a:ext cx="4096512" cy="2336570"/>
          </a:xfrm>
          <a:prstGeom prst="rect">
            <a:avLst/>
          </a:prstGeom>
          <a:solidFill>
            <a:schemeClr val="bg1"/>
          </a:solidFill>
          <a:ln w="12700">
            <a:solidFill>
              <a:srgbClr val="D9E2F5"/>
            </a:solidFill>
            <a:prstDash val="solid"/>
          </a:ln>
          <a:effectLst>
            <a:outerShdw sx="100000" sy="100000" kx="0" ky="0" algn="bl" rotWithShape="0" blurRad="76200" dist="25400" dir="5400000">
              <a:srgbClr val="141B41">
                <a:alpha val="12000"/>
              </a:srgbClr>
            </a:outerShdw>
          </a:effectLst>
        </p:spPr>
      </p:sp>
      <p:pic>
        <p:nvPicPr>
          <p:cNvPr id="9" name="Image 2" descr="Screenshot of the running application: report sql subquery">    </p:cNvPr>
          <p:cNvPicPr>
            <a:picLocks noChangeAspect="1"/>
          </p:cNvPicPr>
          <p:nvPr/>
        </p:nvPicPr>
        <p:blipFill>
          <a:blip r:embed="rId3"/>
          <a:stretch>
            <a:fillRect/>
          </a:stretch>
        </p:blipFill>
        <p:spPr>
          <a:xfrm>
            <a:off x="4663440" y="1188720"/>
            <a:ext cx="4023360" cy="2263418"/>
          </a:xfrm>
          <a:prstGeom prst="rect">
            <a:avLst/>
          </a:prstGeom>
        </p:spPr>
      </p:pic>
      <p:sp>
        <p:nvSpPr>
          <p:cNvPr id="10" name="Text 4"/>
          <p:cNvSpPr txBox="1"/>
          <p:nvPr/>
        </p:nvSpPr>
        <p:spPr>
          <a:xfrm>
            <a:off x="457200" y="3611880"/>
            <a:ext cx="4023360" cy="256032"/>
          </a:xfrm>
          <a:prstGeom prst="rect">
            <a:avLst/>
          </a:prstGeom>
          <a:noFill/>
          <a:ln/>
        </p:spPr>
        <p:txBody>
          <a:bodyPr wrap="square" lIns="0" tIns="0" rIns="0" bIns="0" rtlCol="0" anchor="t"/>
          <a:lstStyle/>
          <a:p>
            <a:pPr algn="ctr" indent="0" marL="0">
              <a:buNone/>
            </a:pPr>
            <a:r>
              <a:rPr lang="en-US" sz="1200" b="1" dirty="0">
                <a:solidFill>
                  <a:schemeClr val="tx2"/>
                </a:solidFill>
              </a:rPr>
              <a:t>Reports page, period selector</a:t>
            </a:r>
            <a:endParaRPr lang="en-US" sz="1200" dirty="0"/>
          </a:p>
        </p:txBody>
      </p:sp>
      <p:sp>
        <p:nvSpPr>
          <p:cNvPr id="11" name="Text 5"/>
          <p:cNvSpPr txBox="1"/>
          <p:nvPr/>
        </p:nvSpPr>
        <p:spPr>
          <a:xfrm>
            <a:off x="4663440" y="3611880"/>
            <a:ext cx="4023360" cy="256032"/>
          </a:xfrm>
          <a:prstGeom prst="rect">
            <a:avLst/>
          </a:prstGeom>
          <a:noFill/>
          <a:ln/>
        </p:spPr>
        <p:txBody>
          <a:bodyPr wrap="square" lIns="0" tIns="0" rIns="0" bIns="0" rtlCol="0" anchor="t"/>
          <a:lstStyle/>
          <a:p>
            <a:pPr algn="ctr" indent="0" marL="0">
              <a:buNone/>
            </a:pPr>
            <a:r>
              <a:rPr lang="en-US" sz="1200" b="1" dirty="0">
                <a:solidFill>
                  <a:schemeClr val="tx2"/>
                </a:solidFill>
              </a:rPr>
              <a:t>Subquery report with its SQL shown</a:t>
            </a:r>
            <a:endParaRPr lang="en-US" sz="1200" dirty="0"/>
          </a:p>
        </p:txBody>
      </p:sp>
      <p:sp>
        <p:nvSpPr>
          <p:cNvPr id="12" name="Shape 6"/>
          <p:cNvSpPr/>
          <p:nvPr/>
        </p:nvSpPr>
        <p:spPr>
          <a:xfrm>
            <a:off x="457200" y="4023360"/>
            <a:ext cx="8229600" cy="640080"/>
          </a:xfrm>
          <a:prstGeom prst="roundRect">
            <a:avLst>
              <a:gd name="adj" fmla="val 11429"/>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3" name="Text 7"/>
          <p:cNvSpPr txBox="1"/>
          <p:nvPr/>
        </p:nvSpPr>
        <p:spPr>
          <a:xfrm>
            <a:off x="640080" y="4050792"/>
            <a:ext cx="7863840" cy="585216"/>
          </a:xfrm>
          <a:prstGeom prst="rect">
            <a:avLst/>
          </a:prstGeom>
          <a:noFill/>
          <a:ln/>
        </p:spPr>
        <p:txBody>
          <a:bodyPr wrap="square" lIns="0" tIns="0" rIns="0" bIns="0" rtlCol="0" anchor="ctr"/>
          <a:lstStyle/>
          <a:p>
            <a:pPr indent="0" marL="0">
              <a:buNone/>
            </a:pPr>
            <a:r>
              <a:rPr lang="en-US" sz="1200" dirty="0">
                <a:solidFill>
                  <a:schemeClr val="tx1"/>
                </a:solidFill>
              </a:rPr>
              <a:t>7 reports: period summary, department cost, statutory breakdown, top 5 net, above department average, active loans, not yet processed.</a:t>
            </a:r>
            <a:endParaRPr lang="en-US" sz="12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SQL Queries Behind the Results</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Text 2"/>
          <p:cNvSpPr txBox="1"/>
          <p:nvPr/>
        </p:nvSpPr>
        <p:spPr>
          <a:xfrm>
            <a:off x="457200" y="1097280"/>
            <a:ext cx="201168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Consistency check</a:t>
            </a:r>
            <a:endParaRPr lang="en-US" sz="1100" dirty="0"/>
          </a:p>
        </p:txBody>
      </p:sp>
      <p:sp>
        <p:nvSpPr>
          <p:cNvPr id="7" name="Shape 3"/>
          <p:cNvSpPr/>
          <p:nvPr/>
        </p:nvSpPr>
        <p:spPr>
          <a:xfrm>
            <a:off x="457200" y="1399032"/>
            <a:ext cx="2651760" cy="2286000"/>
          </a:xfrm>
          <a:prstGeom prst="roundRect">
            <a:avLst>
              <a:gd name="adj" fmla="val 3200"/>
            </a:avLst>
          </a:prstGeom>
          <a:solidFill>
            <a:schemeClr val="tx2"/>
          </a:solidFill>
          <a:ln w="12700">
            <a:solidFill>
              <a:schemeClr val="tx2"/>
            </a:solidFill>
            <a:prstDash val="solid"/>
          </a:ln>
        </p:spPr>
      </p:sp>
      <p:sp>
        <p:nvSpPr>
          <p:cNvPr id="8" name="Text 4"/>
          <p:cNvSpPr txBox="1"/>
          <p:nvPr/>
        </p:nvSpPr>
        <p:spPr>
          <a:xfrm>
            <a:off x="594360" y="1490472"/>
            <a:ext cx="2377440" cy="2103120"/>
          </a:xfrm>
          <a:prstGeom prst="rect">
            <a:avLst/>
          </a:prstGeom>
          <a:noFill/>
          <a:ln/>
        </p:spPr>
        <p:txBody>
          <a:bodyPr wrap="square" lIns="0" tIns="0" rIns="0" bIns="0" rtlCol="0" anchor="t"/>
          <a:lstStyle/>
          <a:p>
            <a:pPr indent="0" marL="0">
              <a:buNone/>
            </a:pPr>
            <a:r>
              <a:rPr lang="en-US" sz="900" b="1" dirty="0">
                <a:solidFill>
                  <a:schemeClr val="accent2"/>
                </a:solidFill>
                <a:latin typeface="Courier New" pitchFamily="34" charset="0"/>
                <a:ea typeface="Courier New" pitchFamily="34" charset="-122"/>
                <a:cs typeface="Courier New" pitchFamily="34" charset="-120"/>
              </a:rPr>
              <a:t>SELECT</a:t>
            </a:r>
            <a:pPr indent="0" marL="0">
              <a:buNone/>
            </a:pPr>
            <a:r>
              <a:rPr lang="en-US" sz="900" dirty="0">
                <a:solidFill>
                  <a:schemeClr val="bg2"/>
                </a:solidFill>
                <a:latin typeface="Courier New" pitchFamily="34" charset="0"/>
                <a:ea typeface="Courier New" pitchFamily="34" charset="-122"/>
                <a:cs typeface="Courier New" pitchFamily="34" charset="-120"/>
              </a:rPr>
              <a:t> payroll_id</a:t>
            </a:r>
            <a:pPr indent="0" marL="0">
              <a:buNone/>
            </a:pPr>
            <a:endParaRPr lang="en-US" sz="900" dirty="0"/>
          </a:p>
          <a:p>
            <a:pPr indent="0" marL="0">
              <a:buNone/>
            </a:pPr>
            <a:r>
              <a:rPr lang="en-US" sz="900" b="1" dirty="0">
                <a:solidFill>
                  <a:schemeClr val="accent2"/>
                </a:solidFill>
                <a:latin typeface="Courier New" pitchFamily="34" charset="0"/>
                <a:ea typeface="Courier New" pitchFamily="34" charset="-122"/>
                <a:cs typeface="Courier New" pitchFamily="34" charset="-120"/>
              </a:rPr>
              <a:t>FROM</a:t>
            </a:r>
            <a:pPr indent="0" marL="0">
              <a:buNone/>
            </a:pPr>
            <a:r>
              <a:rPr lang="en-US" sz="900" dirty="0">
                <a:solidFill>
                  <a:schemeClr val="bg2"/>
                </a:solidFill>
                <a:latin typeface="Courier New" pitchFamily="34" charset="0"/>
                <a:ea typeface="Courier New" pitchFamily="34" charset="-122"/>
                <a:cs typeface="Courier New" pitchFamily="34" charset="-120"/>
              </a:rPr>
              <a:t> payroll_detail</a:t>
            </a:r>
            <a:pPr indent="0" marL="0">
              <a:buNone/>
            </a:pPr>
            <a:endParaRPr lang="en-US" sz="900" dirty="0"/>
          </a:p>
          <a:p>
            <a:pPr indent="0" marL="0">
              <a:buNone/>
            </a:pPr>
            <a:r>
              <a:rPr lang="en-US" sz="900" b="1" dirty="0">
                <a:solidFill>
                  <a:schemeClr val="accent2"/>
                </a:solidFill>
                <a:latin typeface="Courier New" pitchFamily="34" charset="0"/>
                <a:ea typeface="Courier New" pitchFamily="34" charset="-122"/>
                <a:cs typeface="Courier New" pitchFamily="34" charset="-120"/>
              </a:rPr>
              <a:t>WHERE</a:t>
            </a:r>
            <a:pPr indent="0" marL="0">
              <a:buNone/>
            </a:pPr>
            <a:r>
              <a:rPr lang="en-US" sz="900" dirty="0">
                <a:solidFill>
                  <a:schemeClr val="bg2"/>
                </a:solidFill>
                <a:latin typeface="Courier New" pitchFamily="34" charset="0"/>
                <a:ea typeface="Courier New" pitchFamily="34" charset="-122"/>
                <a:cs typeface="Courier New" pitchFamily="34" charset="-120"/>
              </a:rPr>
              <a:t> </a:t>
            </a:r>
            <a:pPr indent="0" marL="0">
              <a:buNone/>
            </a:pPr>
            <a:r>
              <a:rPr lang="en-US" sz="900" b="1" dirty="0">
                <a:solidFill>
                  <a:schemeClr val="accent2"/>
                </a:solidFill>
                <a:latin typeface="Courier New" pitchFamily="34" charset="0"/>
                <a:ea typeface="Courier New" pitchFamily="34" charset="-122"/>
                <a:cs typeface="Courier New" pitchFamily="34" charset="-120"/>
              </a:rPr>
              <a:t>ROUND</a:t>
            </a:r>
            <a:pPr indent="0" marL="0">
              <a:buNone/>
            </a:pPr>
            <a:r>
              <a:rPr lang="en-US" sz="900" dirty="0">
                <a:solidFill>
                  <a:schemeClr val="bg2"/>
                </a:solidFill>
                <a:latin typeface="Courier New" pitchFamily="34" charset="0"/>
                <a:ea typeface="Courier New" pitchFamily="34" charset="-122"/>
                <a:cs typeface="Courier New" pitchFamily="34" charset="-120"/>
              </a:rPr>
              <a:t>(gross_salary</a:t>
            </a:r>
            <a:pPr indent="0" marL="0">
              <a:buNone/>
            </a:pP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 total_deductions, 2)</a:t>
            </a:r>
            <a:pPr indent="0" marL="0">
              <a:buNone/>
            </a:pP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&lt;&gt; net_salary;</a:t>
            </a:r>
            <a:pPr indent="0" marL="0">
              <a:buNone/>
            </a:pP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expected: 0 rows</a:t>
            </a:r>
            <a:pPr indent="0" marL="0">
              <a:buNone/>
            </a:pPr>
            <a:endParaRPr lang="en-US" sz="900" dirty="0"/>
          </a:p>
        </p:txBody>
      </p:sp>
      <p:sp>
        <p:nvSpPr>
          <p:cNvPr id="9" name="Text 5"/>
          <p:cNvSpPr txBox="1"/>
          <p:nvPr/>
        </p:nvSpPr>
        <p:spPr>
          <a:xfrm>
            <a:off x="3246120" y="1097280"/>
            <a:ext cx="201168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NOT EXISTS</a:t>
            </a:r>
            <a:endParaRPr lang="en-US" sz="1100" dirty="0"/>
          </a:p>
        </p:txBody>
      </p:sp>
      <p:sp>
        <p:nvSpPr>
          <p:cNvPr id="10" name="Shape 6"/>
          <p:cNvSpPr/>
          <p:nvPr/>
        </p:nvSpPr>
        <p:spPr>
          <a:xfrm>
            <a:off x="3246120" y="1399032"/>
            <a:ext cx="2651760" cy="2286000"/>
          </a:xfrm>
          <a:prstGeom prst="roundRect">
            <a:avLst>
              <a:gd name="adj" fmla="val 3200"/>
            </a:avLst>
          </a:prstGeom>
          <a:solidFill>
            <a:schemeClr val="tx2"/>
          </a:solidFill>
          <a:ln w="12700">
            <a:solidFill>
              <a:schemeClr val="tx2"/>
            </a:solidFill>
            <a:prstDash val="solid"/>
          </a:ln>
        </p:spPr>
      </p:sp>
      <p:sp>
        <p:nvSpPr>
          <p:cNvPr id="11" name="Text 7"/>
          <p:cNvSpPr txBox="1"/>
          <p:nvPr/>
        </p:nvSpPr>
        <p:spPr>
          <a:xfrm>
            <a:off x="3383280" y="1490472"/>
            <a:ext cx="2377440" cy="2103120"/>
          </a:xfrm>
          <a:prstGeom prst="rect">
            <a:avLst/>
          </a:prstGeom>
          <a:noFill/>
          <a:ln/>
        </p:spPr>
        <p:txBody>
          <a:bodyPr wrap="square" lIns="0" tIns="0" rIns="0" bIns="0" rtlCol="0" anchor="t"/>
          <a:lstStyle/>
          <a:p>
            <a:pPr indent="0" marL="0">
              <a:buNone/>
            </a:pPr>
            <a:r>
              <a:rPr lang="en-US" sz="900" b="1" dirty="0">
                <a:solidFill>
                  <a:schemeClr val="accent2"/>
                </a:solidFill>
                <a:latin typeface="Courier New" pitchFamily="34" charset="0"/>
                <a:ea typeface="Courier New" pitchFamily="34" charset="-122"/>
                <a:cs typeface="Courier New" pitchFamily="34" charset="-120"/>
              </a:rPr>
              <a:t>SELECT</a:t>
            </a:r>
            <a:pPr indent="0" marL="0">
              <a:buNone/>
            </a:pPr>
            <a:r>
              <a:rPr lang="en-US" sz="900" dirty="0">
                <a:solidFill>
                  <a:schemeClr val="bg2"/>
                </a:solidFill>
                <a:latin typeface="Courier New" pitchFamily="34" charset="0"/>
                <a:ea typeface="Courier New" pitchFamily="34" charset="-122"/>
                <a:cs typeface="Courier New" pitchFamily="34" charset="-120"/>
              </a:rPr>
              <a:t> e.emp_code</a:t>
            </a:r>
            <a:pPr indent="0" marL="0">
              <a:buNone/>
            </a:pPr>
            <a:endParaRPr lang="en-US" sz="900" dirty="0"/>
          </a:p>
          <a:p>
            <a:pPr indent="0" marL="0">
              <a:buNone/>
            </a:pPr>
            <a:r>
              <a:rPr lang="en-US" sz="900" b="1" dirty="0">
                <a:solidFill>
                  <a:schemeClr val="accent2"/>
                </a:solidFill>
                <a:latin typeface="Courier New" pitchFamily="34" charset="0"/>
                <a:ea typeface="Courier New" pitchFamily="34" charset="-122"/>
                <a:cs typeface="Courier New" pitchFamily="34" charset="-120"/>
              </a:rPr>
              <a:t>FROM</a:t>
            </a:r>
            <a:pPr indent="0" marL="0">
              <a:buNone/>
            </a:pPr>
            <a:r>
              <a:rPr lang="en-US" sz="900" dirty="0">
                <a:solidFill>
                  <a:schemeClr val="bg2"/>
                </a:solidFill>
                <a:latin typeface="Courier New" pitchFamily="34" charset="0"/>
                <a:ea typeface="Courier New" pitchFamily="34" charset="-122"/>
                <a:cs typeface="Courier New" pitchFamily="34" charset="-120"/>
              </a:rPr>
              <a:t> employee e</a:t>
            </a:r>
            <a:pPr indent="0" marL="0">
              <a:buNone/>
            </a:pPr>
            <a:endParaRPr lang="en-US" sz="900" dirty="0"/>
          </a:p>
          <a:p>
            <a:pPr indent="0" marL="0">
              <a:buNone/>
            </a:pPr>
            <a:r>
              <a:rPr lang="en-US" sz="900" b="1" dirty="0">
                <a:solidFill>
                  <a:schemeClr val="accent2"/>
                </a:solidFill>
                <a:latin typeface="Courier New" pitchFamily="34" charset="0"/>
                <a:ea typeface="Courier New" pitchFamily="34" charset="-122"/>
                <a:cs typeface="Courier New" pitchFamily="34" charset="-120"/>
              </a:rPr>
              <a:t>WHERE</a:t>
            </a:r>
            <a:pPr indent="0" marL="0">
              <a:buNone/>
            </a:pPr>
            <a:r>
              <a:rPr lang="en-US" sz="900" dirty="0">
                <a:solidFill>
                  <a:schemeClr val="bg2"/>
                </a:solidFill>
                <a:latin typeface="Courier New" pitchFamily="34" charset="0"/>
                <a:ea typeface="Courier New" pitchFamily="34" charset="-122"/>
                <a:cs typeface="Courier New" pitchFamily="34" charset="-120"/>
              </a:rPr>
              <a:t> e.status = 'ACTIVE'</a:t>
            </a:r>
            <a:pPr indent="0" marL="0">
              <a:buNone/>
            </a:pP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a:t>
            </a:r>
            <a:pPr indent="0" marL="0">
              <a:buNone/>
            </a:pPr>
            <a:r>
              <a:rPr lang="en-US" sz="900" b="1" dirty="0">
                <a:solidFill>
                  <a:schemeClr val="accent2"/>
                </a:solidFill>
                <a:latin typeface="Courier New" pitchFamily="34" charset="0"/>
                <a:ea typeface="Courier New" pitchFamily="34" charset="-122"/>
                <a:cs typeface="Courier New" pitchFamily="34" charset="-120"/>
              </a:rPr>
              <a:t>AND</a:t>
            </a:r>
            <a:pPr indent="0" marL="0">
              <a:buNone/>
            </a:pPr>
            <a:r>
              <a:rPr lang="en-US" sz="900" dirty="0">
                <a:solidFill>
                  <a:schemeClr val="bg2"/>
                </a:solidFill>
                <a:latin typeface="Courier New" pitchFamily="34" charset="0"/>
                <a:ea typeface="Courier New" pitchFamily="34" charset="-122"/>
                <a:cs typeface="Courier New" pitchFamily="34" charset="-120"/>
              </a:rPr>
              <a:t> </a:t>
            </a:r>
            <a:pPr indent="0" marL="0">
              <a:buNone/>
            </a:pPr>
            <a:r>
              <a:rPr lang="en-US" sz="900" b="1" dirty="0">
                <a:solidFill>
                  <a:schemeClr val="accent2"/>
                </a:solidFill>
                <a:latin typeface="Courier New" pitchFamily="34" charset="0"/>
                <a:ea typeface="Courier New" pitchFamily="34" charset="-122"/>
                <a:cs typeface="Courier New" pitchFamily="34" charset="-120"/>
              </a:rPr>
              <a:t>NOT EXISTS</a:t>
            </a:r>
            <a:pPr indent="0" marL="0">
              <a:buNone/>
            </a:pPr>
            <a:r>
              <a:rPr lang="en-US" sz="900" dirty="0">
                <a:solidFill>
                  <a:schemeClr val="bg2"/>
                </a:solidFill>
                <a:latin typeface="Courier New" pitchFamily="34" charset="0"/>
                <a:ea typeface="Courier New" pitchFamily="34" charset="-122"/>
                <a:cs typeface="Courier New" pitchFamily="34" charset="-120"/>
              </a:rPr>
              <a:t> (</a:t>
            </a:r>
            <a:pPr indent="0" marL="0">
              <a:buNone/>
            </a:pP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a:t>
            </a:r>
            <a:pPr indent="0" marL="0">
              <a:buNone/>
            </a:pPr>
            <a:r>
              <a:rPr lang="en-US" sz="900" b="1" dirty="0">
                <a:solidFill>
                  <a:schemeClr val="accent2"/>
                </a:solidFill>
                <a:latin typeface="Courier New" pitchFamily="34" charset="0"/>
                <a:ea typeface="Courier New" pitchFamily="34" charset="-122"/>
                <a:cs typeface="Courier New" pitchFamily="34" charset="-120"/>
              </a:rPr>
              <a:t>SELECT</a:t>
            </a:r>
            <a:pPr indent="0" marL="0">
              <a:buNone/>
            </a:pPr>
            <a:r>
              <a:rPr lang="en-US" sz="900" dirty="0">
                <a:solidFill>
                  <a:schemeClr val="bg2"/>
                </a:solidFill>
                <a:latin typeface="Courier New" pitchFamily="34" charset="0"/>
                <a:ea typeface="Courier New" pitchFamily="34" charset="-122"/>
                <a:cs typeface="Courier New" pitchFamily="34" charset="-120"/>
              </a:rPr>
              <a:t> 1 </a:t>
            </a:r>
            <a:pPr indent="0" marL="0">
              <a:buNone/>
            </a:pPr>
            <a:r>
              <a:rPr lang="en-US" sz="900" b="1" dirty="0">
                <a:solidFill>
                  <a:schemeClr val="accent2"/>
                </a:solidFill>
                <a:latin typeface="Courier New" pitchFamily="34" charset="0"/>
                <a:ea typeface="Courier New" pitchFamily="34" charset="-122"/>
                <a:cs typeface="Courier New" pitchFamily="34" charset="-120"/>
              </a:rPr>
              <a:t>FROM</a:t>
            </a:r>
            <a:pPr indent="0" marL="0">
              <a:buNone/>
            </a:pPr>
            <a:r>
              <a:rPr lang="en-US" sz="900" dirty="0">
                <a:solidFill>
                  <a:schemeClr val="bg2"/>
                </a:solidFill>
                <a:latin typeface="Courier New" pitchFamily="34" charset="0"/>
                <a:ea typeface="Courier New" pitchFamily="34" charset="-122"/>
                <a:cs typeface="Courier New" pitchFamily="34" charset="-120"/>
              </a:rPr>
              <a:t> payroll_detail p</a:t>
            </a:r>
            <a:pPr indent="0" marL="0">
              <a:buNone/>
            </a:pP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a:t>
            </a:r>
            <a:pPr indent="0" marL="0">
              <a:buNone/>
            </a:pPr>
            <a:r>
              <a:rPr lang="en-US" sz="900" b="1" dirty="0">
                <a:solidFill>
                  <a:schemeClr val="accent2"/>
                </a:solidFill>
                <a:latin typeface="Courier New" pitchFamily="34" charset="0"/>
                <a:ea typeface="Courier New" pitchFamily="34" charset="-122"/>
                <a:cs typeface="Courier New" pitchFamily="34" charset="-120"/>
              </a:rPr>
              <a:t>WHERE</a:t>
            </a:r>
            <a:pPr indent="0" marL="0">
              <a:buNone/>
            </a:pPr>
            <a:r>
              <a:rPr lang="en-US" sz="900" dirty="0">
                <a:solidFill>
                  <a:schemeClr val="bg2"/>
                </a:solidFill>
                <a:latin typeface="Courier New" pitchFamily="34" charset="0"/>
                <a:ea typeface="Courier New" pitchFamily="34" charset="-122"/>
                <a:cs typeface="Courier New" pitchFamily="34" charset="-120"/>
              </a:rPr>
              <a:t> p.employee_id =</a:t>
            </a:r>
            <a:pPr indent="0" marL="0">
              <a:buNone/>
            </a:pP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e.employee_id</a:t>
            </a:r>
            <a:pPr indent="0" marL="0">
              <a:buNone/>
            </a:pP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a:t>
            </a:r>
            <a:pPr indent="0" marL="0">
              <a:buNone/>
            </a:pPr>
            <a:r>
              <a:rPr lang="en-US" sz="900" b="1" dirty="0">
                <a:solidFill>
                  <a:schemeClr val="accent2"/>
                </a:solidFill>
                <a:latin typeface="Courier New" pitchFamily="34" charset="0"/>
                <a:ea typeface="Courier New" pitchFamily="34" charset="-122"/>
                <a:cs typeface="Courier New" pitchFamily="34" charset="-120"/>
              </a:rPr>
              <a:t>AND</a:t>
            </a:r>
            <a:pPr indent="0" marL="0">
              <a:buNone/>
            </a:pPr>
            <a:r>
              <a:rPr lang="en-US" sz="900" dirty="0">
                <a:solidFill>
                  <a:schemeClr val="bg2"/>
                </a:solidFill>
                <a:latin typeface="Courier New" pitchFamily="34" charset="0"/>
                <a:ea typeface="Courier New" pitchFamily="34" charset="-122"/>
                <a:cs typeface="Courier New" pitchFamily="34" charset="-120"/>
              </a:rPr>
              <a:t> p.payroll_period_id = 3);</a:t>
            </a:r>
            <a:pPr indent="0" marL="0">
              <a:buNone/>
            </a:pPr>
            <a:endParaRPr lang="en-US" sz="900" dirty="0"/>
          </a:p>
        </p:txBody>
      </p:sp>
      <p:sp>
        <p:nvSpPr>
          <p:cNvPr id="12" name="Text 8"/>
          <p:cNvSpPr txBox="1"/>
          <p:nvPr/>
        </p:nvSpPr>
        <p:spPr>
          <a:xfrm>
            <a:off x="6035040" y="1097280"/>
            <a:ext cx="201168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GROUP BY aggregate</a:t>
            </a:r>
            <a:endParaRPr lang="en-US" sz="1100" dirty="0"/>
          </a:p>
        </p:txBody>
      </p:sp>
      <p:sp>
        <p:nvSpPr>
          <p:cNvPr id="13" name="Shape 9"/>
          <p:cNvSpPr/>
          <p:nvPr/>
        </p:nvSpPr>
        <p:spPr>
          <a:xfrm>
            <a:off x="6035040" y="1399032"/>
            <a:ext cx="2651760" cy="2286000"/>
          </a:xfrm>
          <a:prstGeom prst="roundRect">
            <a:avLst>
              <a:gd name="adj" fmla="val 3200"/>
            </a:avLst>
          </a:prstGeom>
          <a:solidFill>
            <a:schemeClr val="tx2"/>
          </a:solidFill>
          <a:ln w="12700">
            <a:solidFill>
              <a:schemeClr val="tx2"/>
            </a:solidFill>
            <a:prstDash val="solid"/>
          </a:ln>
        </p:spPr>
      </p:sp>
      <p:sp>
        <p:nvSpPr>
          <p:cNvPr id="14" name="Text 10"/>
          <p:cNvSpPr txBox="1"/>
          <p:nvPr/>
        </p:nvSpPr>
        <p:spPr>
          <a:xfrm>
            <a:off x="6172200" y="1490472"/>
            <a:ext cx="2377440" cy="2103120"/>
          </a:xfrm>
          <a:prstGeom prst="rect">
            <a:avLst/>
          </a:prstGeom>
          <a:noFill/>
          <a:ln/>
        </p:spPr>
        <p:txBody>
          <a:bodyPr wrap="square" lIns="0" tIns="0" rIns="0" bIns="0" rtlCol="0" anchor="t"/>
          <a:lstStyle/>
          <a:p>
            <a:pPr indent="0" marL="0">
              <a:buNone/>
            </a:pPr>
            <a:r>
              <a:rPr lang="en-US" sz="900" b="1" dirty="0">
                <a:solidFill>
                  <a:schemeClr val="accent2"/>
                </a:solidFill>
                <a:latin typeface="Courier New" pitchFamily="34" charset="0"/>
                <a:ea typeface="Courier New" pitchFamily="34" charset="-122"/>
                <a:cs typeface="Courier New" pitchFamily="34" charset="-120"/>
              </a:rPr>
              <a:t>SELECT</a:t>
            </a:r>
            <a:pPr indent="0" marL="0">
              <a:buNone/>
            </a:pPr>
            <a:r>
              <a:rPr lang="en-US" sz="900" dirty="0">
                <a:solidFill>
                  <a:schemeClr val="bg2"/>
                </a:solidFill>
                <a:latin typeface="Courier New" pitchFamily="34" charset="0"/>
                <a:ea typeface="Courier New" pitchFamily="34" charset="-122"/>
                <a:cs typeface="Courier New" pitchFamily="34" charset="-120"/>
              </a:rPr>
              <a:t> pp.period_name,</a:t>
            </a:r>
            <a:pPr indent="0" marL="0">
              <a:buNone/>
            </a:pP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a:t>
            </a:r>
            <a:pPr indent="0" marL="0">
              <a:buNone/>
            </a:pPr>
            <a:r>
              <a:rPr lang="en-US" sz="900" b="1" dirty="0">
                <a:solidFill>
                  <a:schemeClr val="accent2"/>
                </a:solidFill>
                <a:latin typeface="Courier New" pitchFamily="34" charset="0"/>
                <a:ea typeface="Courier New" pitchFamily="34" charset="-122"/>
                <a:cs typeface="Courier New" pitchFamily="34" charset="-120"/>
              </a:rPr>
              <a:t>COUNT</a:t>
            </a:r>
            <a:pPr indent="0" marL="0">
              <a:buNone/>
            </a:pPr>
            <a:r>
              <a:rPr lang="en-US" sz="900" dirty="0">
                <a:solidFill>
                  <a:schemeClr val="bg2"/>
                </a:solidFill>
                <a:latin typeface="Courier New" pitchFamily="34" charset="0"/>
                <a:ea typeface="Courier New" pitchFamily="34" charset="-122"/>
                <a:cs typeface="Courier New" pitchFamily="34" charset="-120"/>
              </a:rPr>
              <a:t>(*) </a:t>
            </a:r>
            <a:pPr indent="0" marL="0">
              <a:buNone/>
            </a:pPr>
            <a:r>
              <a:rPr lang="en-US" sz="900" b="1" dirty="0">
                <a:solidFill>
                  <a:schemeClr val="accent2"/>
                </a:solidFill>
                <a:latin typeface="Courier New" pitchFamily="34" charset="0"/>
                <a:ea typeface="Courier New" pitchFamily="34" charset="-122"/>
                <a:cs typeface="Courier New" pitchFamily="34" charset="-120"/>
              </a:rPr>
              <a:t>AS</a:t>
            </a:r>
            <a:pPr indent="0" marL="0">
              <a:buNone/>
            </a:pPr>
            <a:r>
              <a:rPr lang="en-US" sz="900" dirty="0">
                <a:solidFill>
                  <a:schemeClr val="bg2"/>
                </a:solidFill>
                <a:latin typeface="Courier New" pitchFamily="34" charset="0"/>
                <a:ea typeface="Courier New" pitchFamily="34" charset="-122"/>
                <a:cs typeface="Courier New" pitchFamily="34" charset="-120"/>
              </a:rPr>
              <a:t> employees,</a:t>
            </a:r>
            <a:pPr indent="0" marL="0">
              <a:buNone/>
            </a:pP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a:t>
            </a:r>
            <a:pPr indent="0" marL="0">
              <a:buNone/>
            </a:pPr>
            <a:r>
              <a:rPr lang="en-US" sz="900" b="1" dirty="0">
                <a:solidFill>
                  <a:schemeClr val="accent2"/>
                </a:solidFill>
                <a:latin typeface="Courier New" pitchFamily="34" charset="0"/>
                <a:ea typeface="Courier New" pitchFamily="34" charset="-122"/>
                <a:cs typeface="Courier New" pitchFamily="34" charset="-120"/>
              </a:rPr>
              <a:t>SUM</a:t>
            </a:r>
            <a:pPr indent="0" marL="0">
              <a:buNone/>
            </a:pPr>
            <a:r>
              <a:rPr lang="en-US" sz="900" dirty="0">
                <a:solidFill>
                  <a:schemeClr val="bg2"/>
                </a:solidFill>
                <a:latin typeface="Courier New" pitchFamily="34" charset="0"/>
                <a:ea typeface="Courier New" pitchFamily="34" charset="-122"/>
                <a:cs typeface="Courier New" pitchFamily="34" charset="-120"/>
              </a:rPr>
              <a:t>(p.gross_salary) </a:t>
            </a:r>
            <a:pPr indent="0" marL="0">
              <a:buNone/>
            </a:pPr>
            <a:r>
              <a:rPr lang="en-US" sz="900" b="1" dirty="0">
                <a:solidFill>
                  <a:schemeClr val="accent2"/>
                </a:solidFill>
                <a:latin typeface="Courier New" pitchFamily="34" charset="0"/>
                <a:ea typeface="Courier New" pitchFamily="34" charset="-122"/>
                <a:cs typeface="Courier New" pitchFamily="34" charset="-120"/>
              </a:rPr>
              <a:t>AS</a:t>
            </a:r>
            <a:pPr indent="0" marL="0">
              <a:buNone/>
            </a:pPr>
            <a:r>
              <a:rPr lang="en-US" sz="900" dirty="0">
                <a:solidFill>
                  <a:schemeClr val="bg2"/>
                </a:solidFill>
                <a:latin typeface="Courier New" pitchFamily="34" charset="0"/>
                <a:ea typeface="Courier New" pitchFamily="34" charset="-122"/>
                <a:cs typeface="Courier New" pitchFamily="34" charset="-120"/>
              </a:rPr>
              <a:t> gross,</a:t>
            </a:r>
            <a:pPr indent="0" marL="0">
              <a:buNone/>
            </a:pP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a:t>
            </a:r>
            <a:pPr indent="0" marL="0">
              <a:buNone/>
            </a:pPr>
            <a:r>
              <a:rPr lang="en-US" sz="900" b="1" dirty="0">
                <a:solidFill>
                  <a:schemeClr val="accent2"/>
                </a:solidFill>
                <a:latin typeface="Courier New" pitchFamily="34" charset="0"/>
                <a:ea typeface="Courier New" pitchFamily="34" charset="-122"/>
                <a:cs typeface="Courier New" pitchFamily="34" charset="-120"/>
              </a:rPr>
              <a:t>SUM</a:t>
            </a:r>
            <a:pPr indent="0" marL="0">
              <a:buNone/>
            </a:pPr>
            <a:r>
              <a:rPr lang="en-US" sz="900" dirty="0">
                <a:solidFill>
                  <a:schemeClr val="bg2"/>
                </a:solidFill>
                <a:latin typeface="Courier New" pitchFamily="34" charset="0"/>
                <a:ea typeface="Courier New" pitchFamily="34" charset="-122"/>
                <a:cs typeface="Courier New" pitchFamily="34" charset="-120"/>
              </a:rPr>
              <a:t>(p.total_deductions) </a:t>
            </a:r>
            <a:pPr indent="0" marL="0">
              <a:buNone/>
            </a:pPr>
            <a:r>
              <a:rPr lang="en-US" sz="900" b="1" dirty="0">
                <a:solidFill>
                  <a:schemeClr val="accent2"/>
                </a:solidFill>
                <a:latin typeface="Courier New" pitchFamily="34" charset="0"/>
                <a:ea typeface="Courier New" pitchFamily="34" charset="-122"/>
                <a:cs typeface="Courier New" pitchFamily="34" charset="-120"/>
              </a:rPr>
              <a:t>AS</a:t>
            </a:r>
            <a:pPr indent="0" marL="0">
              <a:buNone/>
            </a:pPr>
            <a:r>
              <a:rPr lang="en-US" sz="900" dirty="0">
                <a:solidFill>
                  <a:schemeClr val="bg2"/>
                </a:solidFill>
                <a:latin typeface="Courier New" pitchFamily="34" charset="0"/>
                <a:ea typeface="Courier New" pitchFamily="34" charset="-122"/>
                <a:cs typeface="Courier New" pitchFamily="34" charset="-120"/>
              </a:rPr>
              <a:t> ded,</a:t>
            </a:r>
            <a:pPr indent="0" marL="0">
              <a:buNone/>
            </a:pP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a:t>
            </a:r>
            <a:pPr indent="0" marL="0">
              <a:buNone/>
            </a:pPr>
            <a:r>
              <a:rPr lang="en-US" sz="900" b="1" dirty="0">
                <a:solidFill>
                  <a:schemeClr val="accent2"/>
                </a:solidFill>
                <a:latin typeface="Courier New" pitchFamily="34" charset="0"/>
                <a:ea typeface="Courier New" pitchFamily="34" charset="-122"/>
                <a:cs typeface="Courier New" pitchFamily="34" charset="-120"/>
              </a:rPr>
              <a:t>SUM</a:t>
            </a:r>
            <a:pPr indent="0" marL="0">
              <a:buNone/>
            </a:pPr>
            <a:r>
              <a:rPr lang="en-US" sz="900" dirty="0">
                <a:solidFill>
                  <a:schemeClr val="bg2"/>
                </a:solidFill>
                <a:latin typeface="Courier New" pitchFamily="34" charset="0"/>
                <a:ea typeface="Courier New" pitchFamily="34" charset="-122"/>
                <a:cs typeface="Courier New" pitchFamily="34" charset="-120"/>
              </a:rPr>
              <a:t>(p.net_salary) </a:t>
            </a:r>
            <a:pPr indent="0" marL="0">
              <a:buNone/>
            </a:pPr>
            <a:r>
              <a:rPr lang="en-US" sz="900" b="1" dirty="0">
                <a:solidFill>
                  <a:schemeClr val="accent2"/>
                </a:solidFill>
                <a:latin typeface="Courier New" pitchFamily="34" charset="0"/>
                <a:ea typeface="Courier New" pitchFamily="34" charset="-122"/>
                <a:cs typeface="Courier New" pitchFamily="34" charset="-120"/>
              </a:rPr>
              <a:t>AS</a:t>
            </a:r>
            <a:pPr indent="0" marL="0">
              <a:buNone/>
            </a:pPr>
            <a:r>
              <a:rPr lang="en-US" sz="900" dirty="0">
                <a:solidFill>
                  <a:schemeClr val="bg2"/>
                </a:solidFill>
                <a:latin typeface="Courier New" pitchFamily="34" charset="0"/>
                <a:ea typeface="Courier New" pitchFamily="34" charset="-122"/>
                <a:cs typeface="Courier New" pitchFamily="34" charset="-120"/>
              </a:rPr>
              <a:t> net</a:t>
            </a:r>
            <a:pPr indent="0" marL="0">
              <a:buNone/>
            </a:pPr>
            <a:endParaRPr lang="en-US" sz="900" dirty="0"/>
          </a:p>
          <a:p>
            <a:pPr indent="0" marL="0">
              <a:buNone/>
            </a:pPr>
            <a:r>
              <a:rPr lang="en-US" sz="900" b="1" dirty="0">
                <a:solidFill>
                  <a:schemeClr val="accent2"/>
                </a:solidFill>
                <a:latin typeface="Courier New" pitchFamily="34" charset="0"/>
                <a:ea typeface="Courier New" pitchFamily="34" charset="-122"/>
                <a:cs typeface="Courier New" pitchFamily="34" charset="-120"/>
              </a:rPr>
              <a:t>FROM</a:t>
            </a:r>
            <a:pPr indent="0" marL="0">
              <a:buNone/>
            </a:pPr>
            <a:r>
              <a:rPr lang="en-US" sz="900" dirty="0">
                <a:solidFill>
                  <a:schemeClr val="bg2"/>
                </a:solidFill>
                <a:latin typeface="Courier New" pitchFamily="34" charset="0"/>
                <a:ea typeface="Courier New" pitchFamily="34" charset="-122"/>
                <a:cs typeface="Courier New" pitchFamily="34" charset="-120"/>
              </a:rPr>
              <a:t> payroll_detail p</a:t>
            </a:r>
            <a:pPr indent="0" marL="0">
              <a:buNone/>
            </a:pPr>
            <a:endParaRPr lang="en-US" sz="900" dirty="0"/>
          </a:p>
          <a:p>
            <a:pPr indent="0" marL="0">
              <a:buNone/>
            </a:pPr>
            <a:r>
              <a:rPr lang="en-US" sz="900" b="1" dirty="0">
                <a:solidFill>
                  <a:schemeClr val="accent2"/>
                </a:solidFill>
                <a:latin typeface="Courier New" pitchFamily="34" charset="0"/>
                <a:ea typeface="Courier New" pitchFamily="34" charset="-122"/>
                <a:cs typeface="Courier New" pitchFamily="34" charset="-120"/>
              </a:rPr>
              <a:t>JOIN</a:t>
            </a:r>
            <a:pPr indent="0" marL="0">
              <a:buNone/>
            </a:pPr>
            <a:r>
              <a:rPr lang="en-US" sz="900" dirty="0">
                <a:solidFill>
                  <a:schemeClr val="bg2"/>
                </a:solidFill>
                <a:latin typeface="Courier New" pitchFamily="34" charset="0"/>
                <a:ea typeface="Courier New" pitchFamily="34" charset="-122"/>
                <a:cs typeface="Courier New" pitchFamily="34" charset="-120"/>
              </a:rPr>
              <a:t> payroll_period pp</a:t>
            </a:r>
            <a:pPr indent="0" marL="0">
              <a:buNone/>
            </a:pP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a:t>
            </a:r>
            <a:pPr indent="0" marL="0">
              <a:buNone/>
            </a:pPr>
            <a:r>
              <a:rPr lang="en-US" sz="900" b="1" dirty="0">
                <a:solidFill>
                  <a:schemeClr val="accent2"/>
                </a:solidFill>
                <a:latin typeface="Courier New" pitchFamily="34" charset="0"/>
                <a:ea typeface="Courier New" pitchFamily="34" charset="-122"/>
                <a:cs typeface="Courier New" pitchFamily="34" charset="-120"/>
              </a:rPr>
              <a:t>ON</a:t>
            </a:r>
            <a:pPr indent="0" marL="0">
              <a:buNone/>
            </a:pPr>
            <a:r>
              <a:rPr lang="en-US" sz="900" dirty="0">
                <a:solidFill>
                  <a:schemeClr val="bg2"/>
                </a:solidFill>
                <a:latin typeface="Courier New" pitchFamily="34" charset="0"/>
                <a:ea typeface="Courier New" pitchFamily="34" charset="-122"/>
                <a:cs typeface="Courier New" pitchFamily="34" charset="-120"/>
              </a:rPr>
              <a:t> pp.payroll_period_id =</a:t>
            </a:r>
            <a:pPr indent="0" marL="0">
              <a:buNone/>
            </a:pP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p.payroll_period_id</a:t>
            </a:r>
            <a:pPr indent="0" marL="0">
              <a:buNone/>
            </a:pPr>
            <a:endParaRPr lang="en-US" sz="900" dirty="0"/>
          </a:p>
          <a:p>
            <a:pPr indent="0" marL="0">
              <a:buNone/>
            </a:pPr>
            <a:r>
              <a:rPr lang="en-US" sz="900" b="1" dirty="0">
                <a:solidFill>
                  <a:schemeClr val="accent2"/>
                </a:solidFill>
                <a:latin typeface="Courier New" pitchFamily="34" charset="0"/>
                <a:ea typeface="Courier New" pitchFamily="34" charset="-122"/>
                <a:cs typeface="Courier New" pitchFamily="34" charset="-120"/>
              </a:rPr>
              <a:t>GROUP BY</a:t>
            </a:r>
            <a:pPr indent="0" marL="0">
              <a:buNone/>
            </a:pPr>
            <a:r>
              <a:rPr lang="en-US" sz="900" dirty="0">
                <a:solidFill>
                  <a:schemeClr val="bg2"/>
                </a:solidFill>
                <a:latin typeface="Courier New" pitchFamily="34" charset="0"/>
                <a:ea typeface="Courier New" pitchFamily="34" charset="-122"/>
                <a:cs typeface="Courier New" pitchFamily="34" charset="-120"/>
              </a:rPr>
              <a:t> pp.period_name;</a:t>
            </a:r>
            <a:pPr indent="0" marL="0">
              <a:buNone/>
            </a:pPr>
            <a:endParaRPr lang="en-US" sz="900" dirty="0"/>
          </a:p>
        </p:txBody>
      </p:sp>
      <p:sp>
        <p:nvSpPr>
          <p:cNvPr id="15" name="Shape 11"/>
          <p:cNvSpPr/>
          <p:nvPr/>
        </p:nvSpPr>
        <p:spPr>
          <a:xfrm>
            <a:off x="457200" y="3931920"/>
            <a:ext cx="8229600" cy="640080"/>
          </a:xfrm>
          <a:prstGeom prst="roundRect">
            <a:avLst>
              <a:gd name="adj" fmla="val 11429"/>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6" name="Text 12"/>
          <p:cNvSpPr txBox="1"/>
          <p:nvPr/>
        </p:nvSpPr>
        <p:spPr>
          <a:xfrm>
            <a:off x="640080" y="3959352"/>
            <a:ext cx="7863840" cy="585216"/>
          </a:xfrm>
          <a:prstGeom prst="rect">
            <a:avLst/>
          </a:prstGeom>
          <a:noFill/>
          <a:ln/>
        </p:spPr>
        <p:txBody>
          <a:bodyPr wrap="square" lIns="0" tIns="0" rIns="0" bIns="0" rtlCol="0" anchor="ctr"/>
          <a:lstStyle/>
          <a:p>
            <a:pPr indent="0" marL="0">
              <a:buNone/>
            </a:pPr>
            <a:r>
              <a:rPr lang="en-US" sz="1200" dirty="0">
                <a:solidFill>
                  <a:schemeClr val="tx1"/>
                </a:solidFill>
              </a:rPr>
              <a:t>Also in queries.sql: INNER/LEFT JOIN, HAVING, scalar, IN, correlated and derived-table subqueries, a VIEW. All executed by the test suite.</a:t>
            </a:r>
            <a:endParaRPr lang="en-US" sz="12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Database Explorer and Audit Trail</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20624" y="1106424"/>
            <a:ext cx="4096512" cy="2336570"/>
          </a:xfrm>
          <a:prstGeom prst="rect">
            <a:avLst/>
          </a:prstGeom>
          <a:solidFill>
            <a:schemeClr val="bg1"/>
          </a:solidFill>
          <a:ln w="12700">
            <a:solidFill>
              <a:srgbClr val="D9E2F5"/>
            </a:solidFill>
            <a:prstDash val="solid"/>
          </a:ln>
          <a:effectLst>
            <a:outerShdw sx="100000" sy="100000" kx="0" ky="0" algn="bl" rotWithShape="0" blurRad="76200" dist="25400" dir="5400000">
              <a:srgbClr val="141B41">
                <a:alpha val="12000"/>
              </a:srgbClr>
            </a:outerShdw>
          </a:effectLst>
        </p:spPr>
      </p:sp>
      <p:pic>
        <p:nvPicPr>
          <p:cNvPr id="7" name="Image 1" descr="Screenshot of the running application: sql console view query">    </p:cNvPr>
          <p:cNvPicPr>
            <a:picLocks noChangeAspect="1"/>
          </p:cNvPicPr>
          <p:nvPr/>
        </p:nvPicPr>
        <p:blipFill>
          <a:blip r:embed="rId2"/>
          <a:stretch>
            <a:fillRect/>
          </a:stretch>
        </p:blipFill>
        <p:spPr>
          <a:xfrm>
            <a:off x="457200" y="1143000"/>
            <a:ext cx="4023360" cy="2263418"/>
          </a:xfrm>
          <a:prstGeom prst="rect">
            <a:avLst/>
          </a:prstGeom>
        </p:spPr>
      </p:pic>
      <p:sp>
        <p:nvSpPr>
          <p:cNvPr id="8" name="Shape 3"/>
          <p:cNvSpPr/>
          <p:nvPr/>
        </p:nvSpPr>
        <p:spPr>
          <a:xfrm>
            <a:off x="4626864" y="1106424"/>
            <a:ext cx="4096512" cy="2336570"/>
          </a:xfrm>
          <a:prstGeom prst="rect">
            <a:avLst/>
          </a:prstGeom>
          <a:solidFill>
            <a:schemeClr val="bg1"/>
          </a:solidFill>
          <a:ln w="12700">
            <a:solidFill>
              <a:srgbClr val="D9E2F5"/>
            </a:solidFill>
            <a:prstDash val="solid"/>
          </a:ln>
          <a:effectLst>
            <a:outerShdw sx="100000" sy="100000" kx="0" ky="0" algn="bl" rotWithShape="0" blurRad="76200" dist="25400" dir="5400000">
              <a:srgbClr val="141B41">
                <a:alpha val="12000"/>
              </a:srgbClr>
            </a:outerShdw>
          </a:effectLst>
        </p:spPr>
      </p:sp>
      <p:pic>
        <p:nvPicPr>
          <p:cNvPr id="9" name="Image 2" descr="Screenshot of the running application: sql console blocks writes">    </p:cNvPr>
          <p:cNvPicPr>
            <a:picLocks noChangeAspect="1"/>
          </p:cNvPicPr>
          <p:nvPr/>
        </p:nvPicPr>
        <p:blipFill>
          <a:blip r:embed="rId3"/>
          <a:stretch>
            <a:fillRect/>
          </a:stretch>
        </p:blipFill>
        <p:spPr>
          <a:xfrm>
            <a:off x="4663440" y="1143000"/>
            <a:ext cx="4023360" cy="2263418"/>
          </a:xfrm>
          <a:prstGeom prst="rect">
            <a:avLst/>
          </a:prstGeom>
        </p:spPr>
      </p:pic>
      <p:sp>
        <p:nvSpPr>
          <p:cNvPr id="10" name="Text 4"/>
          <p:cNvSpPr txBox="1"/>
          <p:nvPr/>
        </p:nvSpPr>
        <p:spPr>
          <a:xfrm>
            <a:off x="457200" y="3456432"/>
            <a:ext cx="4023360" cy="237744"/>
          </a:xfrm>
          <a:prstGeom prst="rect">
            <a:avLst/>
          </a:prstGeom>
          <a:noFill/>
          <a:ln/>
        </p:spPr>
        <p:txBody>
          <a:bodyPr wrap="square" lIns="0" tIns="0" rIns="0" bIns="0" rtlCol="0" anchor="t"/>
          <a:lstStyle/>
          <a:p>
            <a:pPr algn="ctr" indent="0" marL="0">
              <a:buNone/>
            </a:pPr>
            <a:r>
              <a:rPr lang="en-US" sz="1200" b="1" dirty="0">
                <a:solidFill>
                  <a:schemeClr val="tx2"/>
                </a:solidFill>
              </a:rPr>
              <a:t>SELECT on a view runs</a:t>
            </a:r>
            <a:endParaRPr lang="en-US" sz="1200" dirty="0"/>
          </a:p>
        </p:txBody>
      </p:sp>
      <p:sp>
        <p:nvSpPr>
          <p:cNvPr id="11" name="Text 5"/>
          <p:cNvSpPr txBox="1"/>
          <p:nvPr/>
        </p:nvSpPr>
        <p:spPr>
          <a:xfrm>
            <a:off x="4663440" y="3456432"/>
            <a:ext cx="4023360" cy="237744"/>
          </a:xfrm>
          <a:prstGeom prst="rect">
            <a:avLst/>
          </a:prstGeom>
          <a:noFill/>
          <a:ln/>
        </p:spPr>
        <p:txBody>
          <a:bodyPr wrap="square" lIns="0" tIns="0" rIns="0" bIns="0" rtlCol="0" anchor="t"/>
          <a:lstStyle/>
          <a:p>
            <a:pPr algn="ctr" indent="0" marL="0">
              <a:buNone/>
            </a:pPr>
            <a:r>
              <a:rPr lang="en-US" sz="1200" b="1" dirty="0">
                <a:solidFill>
                  <a:schemeClr val="tx2"/>
                </a:solidFill>
              </a:rPr>
              <a:t>DELETE is refused (read-only)</a:t>
            </a:r>
            <a:endParaRPr lang="en-US" sz="1200" dirty="0"/>
          </a:p>
        </p:txBody>
      </p:sp>
      <p:sp>
        <p:nvSpPr>
          <p:cNvPr id="12" name="Shape 6"/>
          <p:cNvSpPr/>
          <p:nvPr/>
        </p:nvSpPr>
        <p:spPr>
          <a:xfrm>
            <a:off x="420624" y="3749040"/>
            <a:ext cx="8302752" cy="861703"/>
          </a:xfrm>
          <a:prstGeom prst="rect">
            <a:avLst/>
          </a:prstGeom>
          <a:solidFill>
            <a:schemeClr val="bg1"/>
          </a:solidFill>
          <a:ln w="12700">
            <a:solidFill>
              <a:srgbClr val="D9E2F5"/>
            </a:solidFill>
            <a:prstDash val="solid"/>
          </a:ln>
        </p:spPr>
      </p:sp>
      <p:pic>
        <p:nvPicPr>
          <p:cNvPr id="13" name="Image 3" descr="Audit trail row written by a database trigger after a salary edit">    </p:cNvPr>
          <p:cNvPicPr>
            <a:picLocks noChangeAspect="1"/>
          </p:cNvPicPr>
          <p:nvPr/>
        </p:nvPicPr>
        <p:blipFill>
          <a:blip r:embed="rId4"/>
          <a:stretch>
            <a:fillRect/>
          </a:stretch>
        </p:blipFill>
        <p:spPr>
          <a:xfrm>
            <a:off x="457200" y="3785616"/>
            <a:ext cx="8229600" cy="788551"/>
          </a:xfrm>
          <a:prstGeom prst="rect">
            <a:avLst/>
          </a:prstGeom>
        </p:spPr>
      </p:pic>
      <p:sp>
        <p:nvSpPr>
          <p:cNvPr id="14" name="Text 7"/>
          <p:cNvSpPr txBox="1"/>
          <p:nvPr/>
        </p:nvSpPr>
        <p:spPr>
          <a:xfrm>
            <a:off x="457200" y="4665607"/>
            <a:ext cx="8229600" cy="228600"/>
          </a:xfrm>
          <a:prstGeom prst="rect">
            <a:avLst/>
          </a:prstGeom>
          <a:noFill/>
          <a:ln/>
        </p:spPr>
        <p:txBody>
          <a:bodyPr wrap="square" lIns="0" tIns="0" rIns="0" bIns="0" rtlCol="0" anchor="t"/>
          <a:lstStyle/>
          <a:p>
            <a:pPr algn="ctr" indent="0" marL="0">
              <a:buNone/>
            </a:pPr>
            <a:r>
              <a:rPr lang="en-US" sz="1100" i="1" dirty="0">
                <a:solidFill>
                  <a:schemeClr val="tx1"/>
                </a:solidFill>
              </a:rPr>
              <a:t>Audit row written by a trigger after a salary edit in the web form</a:t>
            </a:r>
            <a:endParaRPr lang="en-US" sz="11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Payroll Results by Month</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graphicFrame>
        <p:nvGraphicFramePr>
          <p:cNvPr id="6" name="Chart 0" descr=""/>
          <p:cNvGraphicFramePr/>
          <p:nvPr/>
        </p:nvGraphicFramePr>
        <p:xfrm>
          <a:off x="457200" y="1097280"/>
          <a:ext cx="4754880" cy="3017520"/>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394960" y="1143000"/>
          <a:ext cx="3291840" cy="914400"/>
        </p:xfrm>
        <a:graphic>
          <a:graphicData uri="http://schemas.openxmlformats.org/drawingml/2006/table">
            <a:tbl>
              <a:tblPr/>
              <a:tblGrid>
                <a:gridCol w="731520"/>
                <a:gridCol w="457200"/>
                <a:gridCol w="731520"/>
                <a:gridCol w="731520"/>
                <a:gridCol w="640080"/>
              </a:tblGrid>
              <a:tr h="310896">
                <a:tc>
                  <a:txBody>
                    <a:bodyPr/>
                    <a:lstStyle/>
                    <a:p>
                      <a:pPr indent="0" marL="0">
                        <a:buNone/>
                      </a:pPr>
                      <a:r>
                        <a:rPr lang="en-US" sz="950" b="1" dirty="0">
                          <a:solidFill>
                            <a:schemeClr val="bg1"/>
                          </a:solidFill>
                        </a:rPr>
                        <a:t>Month</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accent3"/>
                    </a:solidFill>
                  </a:tcPr>
                </a:tc>
                <a:tc>
                  <a:txBody>
                    <a:bodyPr/>
                    <a:lstStyle/>
                    <a:p>
                      <a:pPr indent="0" marL="0">
                        <a:buNone/>
                      </a:pPr>
                      <a:r>
                        <a:rPr lang="en-US" sz="950" b="1" dirty="0">
                          <a:solidFill>
                            <a:schemeClr val="bg1"/>
                          </a:solidFill>
                        </a:rPr>
                        <a:t>Paid</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accent3"/>
                    </a:solidFill>
                  </a:tcPr>
                </a:tc>
                <a:tc>
                  <a:txBody>
                    <a:bodyPr/>
                    <a:lstStyle/>
                    <a:p>
                      <a:pPr indent="0" marL="0">
                        <a:buNone/>
                      </a:pPr>
                      <a:r>
                        <a:rPr lang="en-US" sz="950" b="1" dirty="0">
                          <a:solidFill>
                            <a:schemeClr val="bg1"/>
                          </a:solidFill>
                        </a:rPr>
                        <a:t>Gross</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accent3"/>
                    </a:solidFill>
                  </a:tcPr>
                </a:tc>
                <a:tc>
                  <a:txBody>
                    <a:bodyPr/>
                    <a:lstStyle/>
                    <a:p>
                      <a:pPr indent="0" marL="0">
                        <a:buNone/>
                      </a:pPr>
                      <a:r>
                        <a:rPr lang="en-US" sz="950" b="1" dirty="0">
                          <a:solidFill>
                            <a:schemeClr val="bg1"/>
                          </a:solidFill>
                        </a:rPr>
                        <a:t>Deductions</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accent3"/>
                    </a:solidFill>
                  </a:tcPr>
                </a:tc>
                <a:tc>
                  <a:txBody>
                    <a:bodyPr/>
                    <a:lstStyle/>
                    <a:p>
                      <a:pPr indent="0" marL="0">
                        <a:buNone/>
                      </a:pPr>
                      <a:r>
                        <a:rPr lang="en-US" sz="950" b="1" dirty="0">
                          <a:solidFill>
                            <a:schemeClr val="bg1"/>
                          </a:solidFill>
                        </a:rPr>
                        <a:t>Net</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accent3"/>
                    </a:solidFill>
                  </a:tcPr>
                </a:tc>
              </a:tr>
              <a:tr h="310896">
                <a:tc>
                  <a:txBody>
                    <a:bodyPr/>
                    <a:lstStyle/>
                    <a:p>
                      <a:pPr indent="0" marL="0">
                        <a:buNone/>
                      </a:pPr>
                      <a:r>
                        <a:rPr lang="en-US" sz="950" dirty="0">
                          <a:solidFill>
                            <a:schemeClr val="tx1"/>
                          </a:solidFill>
                        </a:rPr>
                        <a:t>August</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29</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19,55,363</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1,19,104</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18,36,259</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r h="310896">
                <a:tc>
                  <a:txBody>
                    <a:bodyPr/>
                    <a:lstStyle/>
                    <a:p>
                      <a:pPr indent="0" marL="0">
                        <a:buNone/>
                      </a:pPr>
                      <a:r>
                        <a:rPr lang="en-US" sz="950" dirty="0">
                          <a:solidFill>
                            <a:schemeClr val="tx1"/>
                          </a:solidFill>
                        </a:rPr>
                        <a:t>September</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29</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19,38,928</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1,32,748</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c>
                  <a:txBody>
                    <a:bodyPr/>
                    <a:lstStyle/>
                    <a:p>
                      <a:pPr indent="0" marL="0">
                        <a:buNone/>
                      </a:pPr>
                      <a:r>
                        <a:rPr lang="en-US" sz="950" dirty="0">
                          <a:solidFill>
                            <a:schemeClr val="tx1"/>
                          </a:solidFill>
                        </a:rPr>
                        <a:t>18,06,179</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2"/>
                    </a:solidFill>
                  </a:tcPr>
                </a:tc>
              </a:tr>
              <a:tr h="310896">
                <a:tc>
                  <a:txBody>
                    <a:bodyPr/>
                    <a:lstStyle/>
                    <a:p>
                      <a:pPr indent="0" marL="0">
                        <a:buNone/>
                      </a:pPr>
                      <a:r>
                        <a:rPr lang="en-US" sz="950" dirty="0">
                          <a:solidFill>
                            <a:schemeClr val="tx1"/>
                          </a:solidFill>
                        </a:rPr>
                        <a:t>October</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29</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19,58,110</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1,39,154</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18,18,956</a:t>
                      </a:r>
                      <a:endParaRPr lang="en-US" sz="950" dirty="0"/>
                    </a:p>
                  </a:txBody>
                  <a:tcPr marL="73152" marR="73152" marT="27432" marB="27432" anchor="ctr">
                    <a:lnL w="6350" cap="flat" cmpd="sng" algn="ctr">
                      <a:solidFill>
                        <a:srgbClr val="D9E2F5"/>
                      </a:solidFill>
                      <a:prstDash val="solid"/>
                      <a:round/>
                      <a:headEnd type="none" w="med" len="med"/>
                      <a:tailEnd type="none" w="med" len="med"/>
                    </a:lnL>
                    <a:lnR w="6350" cap="flat" cmpd="sng" algn="ctr">
                      <a:solidFill>
                        <a:srgbClr val="D9E2F5"/>
                      </a:solidFill>
                      <a:prstDash val="solid"/>
                      <a:round/>
                      <a:headEnd type="none" w="med" len="med"/>
                      <a:tailEnd type="none" w="med" len="med"/>
                    </a:lnR>
                    <a:lnT w="6350" cap="flat" cmpd="sng" algn="ctr">
                      <a:solidFill>
                        <a:srgbClr val="D9E2F5"/>
                      </a:solidFill>
                      <a:prstDash val="solid"/>
                      <a:round/>
                      <a:headEnd type="none" w="med" len="med"/>
                      <a:tailEnd type="none" w="med" len="med"/>
                    </a:lnT>
                    <a:lnB w="6350" cap="flat" cmpd="sng" algn="ctr">
                      <a:solidFill>
                        <a:srgbClr val="D9E2F5"/>
                      </a:solidFill>
                      <a:prstDash val="solid"/>
                      <a:round/>
                      <a:headEnd type="none" w="med" len="med"/>
                      <a:tailEnd type="none" w="med" len="med"/>
                    </a:lnB>
                    <a:solidFill>
                      <a:schemeClr val="bg1"/>
                    </a:solidFill>
                  </a:tcPr>
                </a:tc>
              </a:tr>
            </a:tbl>
          </a:graphicData>
        </a:graphic>
      </p:graphicFrame>
      <p:sp>
        <p:nvSpPr>
          <p:cNvPr id="8" name="Shape 2"/>
          <p:cNvSpPr/>
          <p:nvPr/>
        </p:nvSpPr>
        <p:spPr>
          <a:xfrm>
            <a:off x="5394960" y="2560320"/>
            <a:ext cx="3291840" cy="1554480"/>
          </a:xfrm>
          <a:prstGeom prst="roundRect">
            <a:avLst>
              <a:gd name="adj" fmla="val 4706"/>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9" name="Text 3"/>
          <p:cNvSpPr txBox="1"/>
          <p:nvPr/>
        </p:nvSpPr>
        <p:spPr>
          <a:xfrm>
            <a:off x="5532120" y="2651760"/>
            <a:ext cx="3017520" cy="1417320"/>
          </a:xfrm>
          <a:prstGeom prst="rect">
            <a:avLst/>
          </a:prstGeom>
          <a:noFill/>
          <a:ln/>
        </p:spPr>
        <p:txBody>
          <a:bodyPr wrap="square" lIns="0" tIns="0" rIns="0" bIns="0" rtlCol="0" anchor="t"/>
          <a:lstStyle/>
          <a:p>
            <a:pPr marL="177800" indent="-177800">
              <a:spcAft>
                <a:spcPts val="700"/>
              </a:spcAft>
              <a:buSzPct val="100000"/>
              <a:buChar char="•"/>
            </a:pPr>
            <a:r>
              <a:rPr lang="en-US" sz="1200" b="1" dirty="0">
                <a:solidFill>
                  <a:schemeClr val="tx2"/>
                </a:solidFill>
              </a:rPr>
              <a:t>29 paid </a:t>
            </a:r>
            <a:pPr indent="0" marL="0">
              <a:spcAft>
                <a:spcPts val="700"/>
              </a:spcAft>
              <a:buNone/>
            </a:pPr>
            <a:r>
              <a:rPr lang="en-US" sz="1200" dirty="0">
                <a:solidFill>
                  <a:schemeClr val="tx1"/>
                </a:solidFill>
              </a:rPr>
              <a:t>each month; employee 30 is inactive</a:t>
            </a:r>
            <a:endParaRPr lang="en-US" sz="1200" dirty="0"/>
          </a:p>
          <a:p>
            <a:pPr marL="177800" indent="-177800">
              <a:spcAft>
                <a:spcPts val="700"/>
              </a:spcAft>
              <a:buSzPct val="100000"/>
              <a:buChar char="•"/>
            </a:pPr>
            <a:r>
              <a:rPr lang="en-US" sz="1200" b="1" dirty="0">
                <a:solidFill>
                  <a:schemeClr val="tx2"/>
                </a:solidFill>
              </a:rPr>
              <a:t>Rs figures </a:t>
            </a:r>
            <a:pPr indent="0" marL="0">
              <a:spcAft>
                <a:spcPts val="700"/>
              </a:spcAft>
              <a:buNone/>
            </a:pPr>
            <a:r>
              <a:rPr lang="en-US" sz="1200" dirty="0">
                <a:solidFill>
                  <a:schemeClr val="tx1"/>
                </a:solidFill>
              </a:rPr>
              <a:t>rounded to whole rupees</a:t>
            </a:r>
            <a:endParaRPr lang="en-US" sz="1200" dirty="0"/>
          </a:p>
          <a:p>
            <a:pPr marL="177800" indent="-177800">
              <a:spcAft>
                <a:spcPts val="700"/>
              </a:spcAft>
              <a:buSzPct val="100000"/>
              <a:buChar char="•"/>
            </a:pPr>
            <a:r>
              <a:rPr lang="en-US" sz="1200" b="1" dirty="0">
                <a:solidFill>
                  <a:schemeClr val="tx2"/>
                </a:solidFill>
              </a:rPr>
              <a:t>Synthetic </a:t>
            </a:r>
            <a:pPr indent="0" marL="0">
              <a:spcAft>
                <a:spcPts val="700"/>
              </a:spcAft>
              <a:buNone/>
            </a:pPr>
            <a:r>
              <a:rPr lang="en-US" sz="1200" dirty="0">
                <a:solidFill>
                  <a:schemeClr val="tx1"/>
                </a:solidFill>
              </a:rPr>
              <a:t>demonstration data</a:t>
            </a:r>
            <a:endParaRPr lang="en-US" sz="1200" dirty="0"/>
          </a:p>
        </p:txBody>
      </p:sp>
      <p:sp>
        <p:nvSpPr>
          <p:cNvPr id="10" name="Shape 4"/>
          <p:cNvSpPr/>
          <p:nvPr/>
        </p:nvSpPr>
        <p:spPr>
          <a:xfrm>
            <a:off x="457200" y="4206240"/>
            <a:ext cx="8229600" cy="457200"/>
          </a:xfrm>
          <a:prstGeom prst="roundRect">
            <a:avLst>
              <a:gd name="adj" fmla="val 16000"/>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1" name="Text 5"/>
          <p:cNvSpPr txBox="1"/>
          <p:nvPr/>
        </p:nvSpPr>
        <p:spPr>
          <a:xfrm>
            <a:off x="640080" y="4224528"/>
            <a:ext cx="7863840" cy="420624"/>
          </a:xfrm>
          <a:prstGeom prst="rect">
            <a:avLst/>
          </a:prstGeom>
          <a:noFill/>
          <a:ln/>
        </p:spPr>
        <p:txBody>
          <a:bodyPr wrap="square" lIns="0" tIns="0" rIns="0" bIns="0" rtlCol="0" anchor="ctr"/>
          <a:lstStyle/>
          <a:p>
            <a:pPr indent="0" marL="0">
              <a:buNone/>
            </a:pPr>
            <a:r>
              <a:rPr lang="en-US" sz="1150" dirty="0">
                <a:solidFill>
                  <a:schemeClr val="tx1"/>
                </a:solidFill>
              </a:rPr>
              <a:t>Source: payroll_detail totals per period, read from the demo database (scripts/collect_facts.py).</a:t>
            </a:r>
            <a:endParaRPr lang="en-US" sz="11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Data Integrity in Action</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20624" y="1152144"/>
            <a:ext cx="4096512" cy="2336570"/>
          </a:xfrm>
          <a:prstGeom prst="rect">
            <a:avLst/>
          </a:prstGeom>
          <a:solidFill>
            <a:schemeClr val="bg1"/>
          </a:solidFill>
          <a:ln w="12700">
            <a:solidFill>
              <a:srgbClr val="D9E2F5"/>
            </a:solidFill>
            <a:prstDash val="solid"/>
          </a:ln>
          <a:effectLst>
            <a:outerShdw sx="100000" sy="100000" kx="0" ky="0" algn="bl" rotWithShape="0" blurRad="76200" dist="25400" dir="5400000">
              <a:srgbClr val="141B41">
                <a:alpha val="12000"/>
              </a:srgbClr>
            </a:outerShdw>
          </a:effectLst>
        </p:spPr>
      </p:sp>
      <p:pic>
        <p:nvPicPr>
          <p:cNvPr id="7" name="Image 1" descr="Screenshot of the running application: constraint duplicate code">    </p:cNvPr>
          <p:cNvPicPr>
            <a:picLocks noChangeAspect="1"/>
          </p:cNvPicPr>
          <p:nvPr/>
        </p:nvPicPr>
        <p:blipFill>
          <a:blip r:embed="rId2"/>
          <a:stretch>
            <a:fillRect/>
          </a:stretch>
        </p:blipFill>
        <p:spPr>
          <a:xfrm>
            <a:off x="457200" y="1188720"/>
            <a:ext cx="4023360" cy="2263418"/>
          </a:xfrm>
          <a:prstGeom prst="rect">
            <a:avLst/>
          </a:prstGeom>
        </p:spPr>
      </p:pic>
      <p:sp>
        <p:nvSpPr>
          <p:cNvPr id="8" name="Shape 3"/>
          <p:cNvSpPr/>
          <p:nvPr/>
        </p:nvSpPr>
        <p:spPr>
          <a:xfrm>
            <a:off x="4626864" y="1152144"/>
            <a:ext cx="4096512" cy="2336570"/>
          </a:xfrm>
          <a:prstGeom prst="rect">
            <a:avLst/>
          </a:prstGeom>
          <a:solidFill>
            <a:schemeClr val="bg1"/>
          </a:solidFill>
          <a:ln w="12700">
            <a:solidFill>
              <a:srgbClr val="D9E2F5"/>
            </a:solidFill>
            <a:prstDash val="solid"/>
          </a:ln>
          <a:effectLst>
            <a:outerShdw sx="100000" sy="100000" kx="0" ky="0" algn="bl" rotWithShape="0" blurRad="76200" dist="25400" dir="5400000">
              <a:srgbClr val="141B41">
                <a:alpha val="12000"/>
              </a:srgbClr>
            </a:outerShdw>
          </a:effectLst>
        </p:spPr>
      </p:sp>
      <p:pic>
        <p:nvPicPr>
          <p:cNvPr id="9" name="Image 2" descr="Screenshot of the running application: period locked error">    </p:cNvPr>
          <p:cNvPicPr>
            <a:picLocks noChangeAspect="1"/>
          </p:cNvPicPr>
          <p:nvPr/>
        </p:nvPicPr>
        <p:blipFill>
          <a:blip r:embed="rId3"/>
          <a:stretch>
            <a:fillRect/>
          </a:stretch>
        </p:blipFill>
        <p:spPr>
          <a:xfrm>
            <a:off x="4663440" y="1188720"/>
            <a:ext cx="4023360" cy="2263418"/>
          </a:xfrm>
          <a:prstGeom prst="rect">
            <a:avLst/>
          </a:prstGeom>
        </p:spPr>
      </p:pic>
      <p:sp>
        <p:nvSpPr>
          <p:cNvPr id="10" name="Text 4"/>
          <p:cNvSpPr txBox="1"/>
          <p:nvPr/>
        </p:nvSpPr>
        <p:spPr>
          <a:xfrm>
            <a:off x="457200" y="3611880"/>
            <a:ext cx="4023360" cy="256032"/>
          </a:xfrm>
          <a:prstGeom prst="rect">
            <a:avLst/>
          </a:prstGeom>
          <a:noFill/>
          <a:ln/>
        </p:spPr>
        <p:txBody>
          <a:bodyPr wrap="square" lIns="0" tIns="0" rIns="0" bIns="0" rtlCol="0" anchor="t"/>
          <a:lstStyle/>
          <a:p>
            <a:pPr algn="ctr" indent="0" marL="0">
              <a:buNone/>
            </a:pPr>
            <a:r>
              <a:rPr lang="en-US" sz="1200" b="1" dirty="0">
                <a:solidFill>
                  <a:schemeClr val="tx2"/>
                </a:solidFill>
              </a:rPr>
              <a:t>Duplicate employee code rejected (UNIQUE)</a:t>
            </a:r>
            <a:endParaRPr lang="en-US" sz="1200" dirty="0"/>
          </a:p>
        </p:txBody>
      </p:sp>
      <p:sp>
        <p:nvSpPr>
          <p:cNvPr id="11" name="Text 5"/>
          <p:cNvSpPr txBox="1"/>
          <p:nvPr/>
        </p:nvSpPr>
        <p:spPr>
          <a:xfrm>
            <a:off x="4663440" y="3611880"/>
            <a:ext cx="4023360" cy="256032"/>
          </a:xfrm>
          <a:prstGeom prst="rect">
            <a:avLst/>
          </a:prstGeom>
          <a:noFill/>
          <a:ln/>
        </p:spPr>
        <p:txBody>
          <a:bodyPr wrap="square" lIns="0" tIns="0" rIns="0" bIns="0" rtlCol="0" anchor="t"/>
          <a:lstStyle/>
          <a:p>
            <a:pPr algn="ctr" indent="0" marL="0">
              <a:buNone/>
            </a:pPr>
            <a:r>
              <a:rPr lang="en-US" sz="1200" b="1" dirty="0">
                <a:solidFill>
                  <a:schemeClr val="tx2"/>
                </a:solidFill>
              </a:rPr>
              <a:t>Edit to a paid period refused (lock)</a:t>
            </a:r>
            <a:endParaRPr lang="en-US" sz="1200" dirty="0"/>
          </a:p>
        </p:txBody>
      </p:sp>
      <p:sp>
        <p:nvSpPr>
          <p:cNvPr id="12" name="Shape 6"/>
          <p:cNvSpPr/>
          <p:nvPr/>
        </p:nvSpPr>
        <p:spPr>
          <a:xfrm>
            <a:off x="457200" y="4023360"/>
            <a:ext cx="8229600" cy="640080"/>
          </a:xfrm>
          <a:prstGeom prst="roundRect">
            <a:avLst>
              <a:gd name="adj" fmla="val 11429"/>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3" name="Text 7"/>
          <p:cNvSpPr txBox="1"/>
          <p:nvPr/>
        </p:nvSpPr>
        <p:spPr>
          <a:xfrm>
            <a:off x="640080" y="4050792"/>
            <a:ext cx="7863840" cy="585216"/>
          </a:xfrm>
          <a:prstGeom prst="rect">
            <a:avLst/>
          </a:prstGeom>
          <a:noFill/>
          <a:ln/>
        </p:spPr>
        <p:txBody>
          <a:bodyPr wrap="square" lIns="0" tIns="0" rIns="0" bIns="0" rtlCol="0" anchor="ctr"/>
          <a:lstStyle/>
          <a:p>
            <a:pPr indent="0" marL="0">
              <a:buNone/>
            </a:pPr>
            <a:r>
              <a:rPr lang="en-US" sz="1250" dirty="0">
                <a:solidFill>
                  <a:schemeClr val="tx1"/>
                </a:solidFill>
              </a:rPr>
              <a:t>PK, FK, UNIQUE, CHECK and ON DELETE RESTRICT/CASCADE are enforced by the database, not only by the Python code.</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Testing Results</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graphicFrame>
        <p:nvGraphicFramePr>
          <p:cNvPr id="6" name="Chart 0" descr=""/>
          <p:cNvGraphicFramePr/>
          <p:nvPr/>
        </p:nvGraphicFramePr>
        <p:xfrm>
          <a:off x="457200" y="1097280"/>
          <a:ext cx="4572000" cy="288036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5212080" y="1143000"/>
            <a:ext cx="1691640" cy="960120"/>
          </a:xfrm>
          <a:prstGeom prst="roundRect">
            <a:avLst>
              <a:gd name="adj" fmla="val 7619"/>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8" name="Text 3"/>
          <p:cNvSpPr txBox="1"/>
          <p:nvPr/>
        </p:nvSpPr>
        <p:spPr>
          <a:xfrm>
            <a:off x="5212080" y="1277417"/>
            <a:ext cx="1691640" cy="480060"/>
          </a:xfrm>
          <a:prstGeom prst="rect">
            <a:avLst/>
          </a:prstGeom>
          <a:noFill/>
          <a:ln/>
        </p:spPr>
        <p:txBody>
          <a:bodyPr wrap="square" lIns="0" tIns="0" rIns="0" bIns="0" rtlCol="0" anchor="ctr"/>
          <a:lstStyle/>
          <a:p>
            <a:pPr algn="ctr" indent="0" marL="0">
              <a:buNone/>
            </a:pPr>
            <a:r>
              <a:rPr lang="en-US" sz="2400" b="1" dirty="0">
                <a:solidFill>
                  <a:schemeClr val="accent3"/>
                </a:solidFill>
                <a:latin typeface="Cambria" pitchFamily="34" charset="0"/>
                <a:ea typeface="Cambria" pitchFamily="34" charset="-122"/>
                <a:cs typeface="Cambria" pitchFamily="34" charset="-120"/>
              </a:rPr>
              <a:t>74 / 74</a:t>
            </a:r>
            <a:endParaRPr lang="en-US" sz="2400" dirty="0"/>
          </a:p>
        </p:txBody>
      </p:sp>
      <p:sp>
        <p:nvSpPr>
          <p:cNvPr id="9" name="Text 4"/>
          <p:cNvSpPr txBox="1"/>
          <p:nvPr/>
        </p:nvSpPr>
        <p:spPr>
          <a:xfrm>
            <a:off x="5303520" y="1738274"/>
            <a:ext cx="1508760" cy="288036"/>
          </a:xfrm>
          <a:prstGeom prst="rect">
            <a:avLst/>
          </a:prstGeom>
          <a:noFill/>
          <a:ln/>
        </p:spPr>
        <p:txBody>
          <a:bodyPr wrap="square" lIns="0" tIns="0" rIns="0" bIns="0" rtlCol="0" anchor="t"/>
          <a:lstStyle/>
          <a:p>
            <a:pPr algn="ctr" indent="0" marL="0">
              <a:buNone/>
            </a:pPr>
            <a:r>
              <a:rPr lang="en-US" sz="1200" dirty="0">
                <a:solidFill>
                  <a:schemeClr val="tx1"/>
                </a:solidFill>
              </a:rPr>
              <a:t>SQLite tests passed</a:t>
            </a:r>
            <a:endParaRPr lang="en-US" sz="1200" dirty="0"/>
          </a:p>
        </p:txBody>
      </p:sp>
      <p:sp>
        <p:nvSpPr>
          <p:cNvPr id="10" name="Shape 5"/>
          <p:cNvSpPr/>
          <p:nvPr/>
        </p:nvSpPr>
        <p:spPr>
          <a:xfrm>
            <a:off x="6995160" y="1143000"/>
            <a:ext cx="1691640" cy="960120"/>
          </a:xfrm>
          <a:prstGeom prst="roundRect">
            <a:avLst>
              <a:gd name="adj" fmla="val 7619"/>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1" name="Text 6"/>
          <p:cNvSpPr txBox="1"/>
          <p:nvPr/>
        </p:nvSpPr>
        <p:spPr>
          <a:xfrm>
            <a:off x="6995160" y="1277417"/>
            <a:ext cx="1691640" cy="480060"/>
          </a:xfrm>
          <a:prstGeom prst="rect">
            <a:avLst/>
          </a:prstGeom>
          <a:noFill/>
          <a:ln/>
        </p:spPr>
        <p:txBody>
          <a:bodyPr wrap="square" lIns="0" tIns="0" rIns="0" bIns="0" rtlCol="0" anchor="ctr"/>
          <a:lstStyle/>
          <a:p>
            <a:pPr algn="ctr" indent="0" marL="0">
              <a:buNone/>
            </a:pPr>
            <a:r>
              <a:rPr lang="en-US" sz="2400" b="1" dirty="0">
                <a:solidFill>
                  <a:schemeClr val="accent3"/>
                </a:solidFill>
                <a:latin typeface="Cambria" pitchFamily="34" charset="0"/>
                <a:ea typeface="Cambria" pitchFamily="34" charset="-122"/>
                <a:cs typeface="Cambria" pitchFamily="34" charset="-120"/>
              </a:rPr>
              <a:t>11 / 11</a:t>
            </a:r>
            <a:endParaRPr lang="en-US" sz="2400" dirty="0"/>
          </a:p>
        </p:txBody>
      </p:sp>
      <p:sp>
        <p:nvSpPr>
          <p:cNvPr id="12" name="Text 7"/>
          <p:cNvSpPr txBox="1"/>
          <p:nvPr/>
        </p:nvSpPr>
        <p:spPr>
          <a:xfrm>
            <a:off x="7086600" y="1738274"/>
            <a:ext cx="1508760" cy="288036"/>
          </a:xfrm>
          <a:prstGeom prst="rect">
            <a:avLst/>
          </a:prstGeom>
          <a:noFill/>
          <a:ln/>
        </p:spPr>
        <p:txBody>
          <a:bodyPr wrap="square" lIns="0" tIns="0" rIns="0" bIns="0" rtlCol="0" anchor="t"/>
          <a:lstStyle/>
          <a:p>
            <a:pPr algn="ctr" indent="0" marL="0">
              <a:buNone/>
            </a:pPr>
            <a:r>
              <a:rPr lang="en-US" sz="1200" dirty="0">
                <a:solidFill>
                  <a:schemeClr val="tx1"/>
                </a:solidFill>
              </a:rPr>
              <a:t>MySQL 8.0.46 tests passed</a:t>
            </a:r>
            <a:endParaRPr lang="en-US" sz="1200" dirty="0"/>
          </a:p>
        </p:txBody>
      </p:sp>
      <p:sp>
        <p:nvSpPr>
          <p:cNvPr id="13" name="Shape 8"/>
          <p:cNvSpPr/>
          <p:nvPr/>
        </p:nvSpPr>
        <p:spPr>
          <a:xfrm>
            <a:off x="5212080" y="2240280"/>
            <a:ext cx="3474720" cy="1737360"/>
          </a:xfrm>
          <a:prstGeom prst="roundRect">
            <a:avLst>
              <a:gd name="adj" fmla="val 4211"/>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4" name="Text 9"/>
          <p:cNvSpPr txBox="1"/>
          <p:nvPr/>
        </p:nvSpPr>
        <p:spPr>
          <a:xfrm>
            <a:off x="5349240" y="2286000"/>
            <a:ext cx="3200400" cy="256032"/>
          </a:xfrm>
          <a:prstGeom prst="rect">
            <a:avLst/>
          </a:prstGeom>
          <a:noFill/>
          <a:ln/>
        </p:spPr>
        <p:txBody>
          <a:bodyPr wrap="square" lIns="0" tIns="0" rIns="0" bIns="0" rtlCol="0" anchor="t"/>
          <a:lstStyle/>
          <a:p>
            <a:pPr indent="0" marL="0">
              <a:buNone/>
            </a:pPr>
            <a:r>
              <a:rPr lang="en-US" sz="1300" b="1" dirty="0">
                <a:solidFill>
                  <a:schemeClr val="tx2"/>
                </a:solidFill>
              </a:rPr>
              <a:t>Verified</a:t>
            </a:r>
            <a:endParaRPr lang="en-US" sz="1300" dirty="0"/>
          </a:p>
        </p:txBody>
      </p:sp>
      <p:sp>
        <p:nvSpPr>
          <p:cNvPr id="15" name="Text 10"/>
          <p:cNvSpPr txBox="1"/>
          <p:nvPr/>
        </p:nvSpPr>
        <p:spPr>
          <a:xfrm>
            <a:off x="5349240" y="2560320"/>
            <a:ext cx="3246120" cy="1417320"/>
          </a:xfrm>
          <a:prstGeom prst="rect">
            <a:avLst/>
          </a:prstGeom>
          <a:noFill/>
          <a:ln/>
        </p:spPr>
        <p:txBody>
          <a:bodyPr wrap="square" lIns="0" tIns="0" rIns="0" bIns="0" rtlCol="0" anchor="t"/>
          <a:lstStyle/>
          <a:p>
            <a:pPr marL="177800" indent="-177800">
              <a:buSzPct val="100000"/>
              <a:buChar char="•"/>
            </a:pPr>
            <a:r>
              <a:rPr lang="en-US" sz="1050" dirty="0">
                <a:solidFill>
                  <a:schemeClr val="tx1"/>
                </a:solidFill>
              </a:rPr>
              <a:t>Formulas vs hand-computed values</a:t>
            </a:r>
            <a:endParaRPr lang="en-US" sz="1050" dirty="0"/>
          </a:p>
          <a:p>
            <a:pPr marL="177800" indent="-177800">
              <a:buSzPct val="100000"/>
              <a:buChar char="•"/>
            </a:pPr>
            <a:r>
              <a:rPr lang="en-US" sz="1050" dirty="0">
                <a:solidFill>
                  <a:schemeClr val="tx1"/>
                </a:solidFill>
              </a:rPr>
              <a:t>Constraints and triggers reject bad data</a:t>
            </a:r>
            <a:endParaRPr lang="en-US" sz="1050" dirty="0"/>
          </a:p>
          <a:p>
            <a:pPr marL="177800" indent="-177800">
              <a:buSzPct val="100000"/>
              <a:buChar char="•"/>
            </a:pPr>
            <a:r>
              <a:rPr lang="en-US" sz="1050" dirty="0">
                <a:solidFill>
                  <a:schemeClr val="tx1"/>
                </a:solidFill>
              </a:rPr>
              <a:t>Rollback and double-process guard</a:t>
            </a:r>
            <a:endParaRPr lang="en-US" sz="1050" dirty="0"/>
          </a:p>
          <a:p>
            <a:pPr marL="177800" indent="-177800">
              <a:buSzPct val="100000"/>
              <a:buChar char="•"/>
            </a:pPr>
            <a:r>
              <a:rPr lang="en-US" sz="1050" dirty="0">
                <a:solidFill>
                  <a:schemeClr val="tx1"/>
                </a:solidFill>
              </a:rPr>
              <a:t>Roles, CSRF, own-payslip rule</a:t>
            </a:r>
            <a:endParaRPr lang="en-US" sz="1050" dirty="0"/>
          </a:p>
          <a:p>
            <a:pPr marL="177800" indent="-177800">
              <a:buSzPct val="100000"/>
              <a:buChar char="•"/>
            </a:pPr>
            <a:r>
              <a:rPr lang="en-US" sz="1050" dirty="0">
                <a:solidFill>
                  <a:schemeClr val="tx1"/>
                </a:solidFill>
              </a:rPr>
              <a:t>Same payroll totals on SQLite and MySQL</a:t>
            </a:r>
            <a:endParaRPr lang="en-US" sz="1050" dirty="0"/>
          </a:p>
          <a:p>
            <a:pPr marL="177800" indent="-177800">
              <a:buSzPct val="100000"/>
              <a:buChar char="•"/>
            </a:pPr>
            <a:r>
              <a:rPr lang="en-US" sz="1050" dirty="0">
                <a:solidFill>
                  <a:schemeClr val="tx1"/>
                </a:solidFill>
              </a:rPr>
              <a:t>MySQL run found and fixed a real bug</a:t>
            </a:r>
            <a:endParaRPr lang="en-US" sz="1050" dirty="0"/>
          </a:p>
        </p:txBody>
      </p:sp>
      <p:sp>
        <p:nvSpPr>
          <p:cNvPr id="16" name="Shape 11"/>
          <p:cNvSpPr/>
          <p:nvPr/>
        </p:nvSpPr>
        <p:spPr>
          <a:xfrm>
            <a:off x="457200" y="4069080"/>
            <a:ext cx="8229600" cy="594360"/>
          </a:xfrm>
          <a:prstGeom prst="roundRect">
            <a:avLst>
              <a:gd name="adj" fmla="val 12308"/>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7" name="Text 12"/>
          <p:cNvSpPr txBox="1"/>
          <p:nvPr/>
        </p:nvSpPr>
        <p:spPr>
          <a:xfrm>
            <a:off x="640080" y="4087368"/>
            <a:ext cx="7863840" cy="548640"/>
          </a:xfrm>
          <a:prstGeom prst="rect">
            <a:avLst/>
          </a:prstGeom>
          <a:noFill/>
          <a:ln/>
        </p:spPr>
        <p:txBody>
          <a:bodyPr wrap="square" lIns="0" tIns="0" rIns="0" bIns="0" rtlCol="0" anchor="ctr"/>
          <a:lstStyle/>
          <a:p>
            <a:pPr indent="0" marL="0">
              <a:buNone/>
            </a:pPr>
            <a:r>
              <a:rPr lang="en-US" sz="1200" b="1" dirty="0">
                <a:solidFill>
                  <a:schemeClr val="accent2"/>
                </a:solidFill>
              </a:rPr>
              <a:t>Not tested: </a:t>
            </a:r>
            <a:pPr indent="0" marL="0">
              <a:buNone/>
            </a:pPr>
            <a:r>
              <a:rPr lang="en-US" sz="1200" dirty="0">
                <a:solidFill>
                  <a:schemeClr val="tx1"/>
                </a:solidFill>
              </a:rPr>
              <a:t>GitHub Actions run  |  other MySQL versions, MariaDB  |  browsers other than headless Chromium  |  concurrent users</a:t>
            </a:r>
            <a:endParaRPr lang="en-US" sz="12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Limitations</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57200" y="1188720"/>
            <a:ext cx="2651760" cy="1508760"/>
          </a:xfrm>
          <a:prstGeom prst="roundRect">
            <a:avLst>
              <a:gd name="adj" fmla="val 4848"/>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7" name="Shape 3"/>
          <p:cNvSpPr/>
          <p:nvPr/>
        </p:nvSpPr>
        <p:spPr>
          <a:xfrm>
            <a:off x="594360" y="1325880"/>
            <a:ext cx="457200" cy="457200"/>
          </a:xfrm>
          <a:prstGeom prst="ellipse">
            <a:avLst/>
          </a:prstGeom>
          <a:solidFill>
            <a:schemeClr val="accent2"/>
          </a:solidFill>
          <a:ln w="12700">
            <a:solidFill>
              <a:schemeClr val="accent2"/>
            </a:solidFill>
            <a:prstDash val="solid"/>
          </a:ln>
        </p:spPr>
      </p:sp>
      <p:pic>
        <p:nvPicPr>
          <p:cNvPr id="8" name="Image 1" descr="preencoded.png">    </p:cNvPr>
          <p:cNvPicPr>
            <a:picLocks noChangeAspect="1"/>
          </p:cNvPicPr>
          <p:nvPr/>
        </p:nvPicPr>
        <p:blipFill>
          <a:blip r:embed="rId2"/>
          <a:stretch>
            <a:fillRect/>
          </a:stretch>
        </p:blipFill>
        <p:spPr>
          <a:xfrm>
            <a:off x="713232" y="1444752"/>
            <a:ext cx="219456" cy="219456"/>
          </a:xfrm>
          <a:prstGeom prst="rect">
            <a:avLst/>
          </a:prstGeom>
        </p:spPr>
      </p:pic>
      <p:sp>
        <p:nvSpPr>
          <p:cNvPr id="9" name="Text 4"/>
          <p:cNvSpPr txBox="1"/>
          <p:nvPr/>
        </p:nvSpPr>
        <p:spPr>
          <a:xfrm>
            <a:off x="1170432" y="1325880"/>
            <a:ext cx="1828800" cy="457200"/>
          </a:xfrm>
          <a:prstGeom prst="rect">
            <a:avLst/>
          </a:prstGeom>
          <a:noFill/>
          <a:ln/>
        </p:spPr>
        <p:txBody>
          <a:bodyPr wrap="square" lIns="0" tIns="0" rIns="0" bIns="0" rtlCol="0" anchor="ctr"/>
          <a:lstStyle/>
          <a:p>
            <a:pPr indent="0" marL="0">
              <a:buNone/>
            </a:pPr>
            <a:r>
              <a:rPr lang="en-US" sz="1300" b="1" dirty="0">
                <a:solidFill>
                  <a:schemeClr val="tx2"/>
                </a:solidFill>
              </a:rPr>
              <a:t>Demo-grade security</a:t>
            </a:r>
            <a:endParaRPr lang="en-US" sz="1300" dirty="0"/>
          </a:p>
        </p:txBody>
      </p:sp>
      <p:sp>
        <p:nvSpPr>
          <p:cNvPr id="10" name="Text 5"/>
          <p:cNvSpPr txBox="1"/>
          <p:nvPr/>
        </p:nvSpPr>
        <p:spPr>
          <a:xfrm>
            <a:off x="594360" y="1920240"/>
            <a:ext cx="2377440" cy="731520"/>
          </a:xfrm>
          <a:prstGeom prst="rect">
            <a:avLst/>
          </a:prstGeom>
          <a:noFill/>
          <a:ln/>
        </p:spPr>
        <p:txBody>
          <a:bodyPr wrap="square" lIns="0" tIns="0" rIns="0" bIns="0" rtlCol="0" anchor="t"/>
          <a:lstStyle/>
          <a:p>
            <a:pPr indent="0" marL="0">
              <a:buNone/>
            </a:pPr>
            <a:r>
              <a:rPr lang="en-US" sz="1200" dirty="0">
                <a:solidFill>
                  <a:schemeClr val="tx1"/>
                </a:solidFill>
              </a:rPr>
              <a:t>Roles, hashes, CSRF done; but no HTTPS, in-memory login throttle</a:t>
            </a:r>
            <a:endParaRPr lang="en-US" sz="1200" dirty="0"/>
          </a:p>
        </p:txBody>
      </p:sp>
      <p:sp>
        <p:nvSpPr>
          <p:cNvPr id="11" name="Shape 6"/>
          <p:cNvSpPr/>
          <p:nvPr/>
        </p:nvSpPr>
        <p:spPr>
          <a:xfrm>
            <a:off x="3246120" y="1188720"/>
            <a:ext cx="2651760" cy="1508760"/>
          </a:xfrm>
          <a:prstGeom prst="roundRect">
            <a:avLst>
              <a:gd name="adj" fmla="val 4848"/>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2" name="Shape 7"/>
          <p:cNvSpPr/>
          <p:nvPr/>
        </p:nvSpPr>
        <p:spPr>
          <a:xfrm>
            <a:off x="3383280" y="1325880"/>
            <a:ext cx="457200" cy="457200"/>
          </a:xfrm>
          <a:prstGeom prst="ellipse">
            <a:avLst/>
          </a:prstGeom>
          <a:solidFill>
            <a:schemeClr val="accent2"/>
          </a:solidFill>
          <a:ln w="12700">
            <a:solidFill>
              <a:schemeClr val="accent2"/>
            </a:solidFill>
            <a:prstDash val="solid"/>
          </a:ln>
        </p:spPr>
      </p:sp>
      <p:pic>
        <p:nvPicPr>
          <p:cNvPr id="13" name="Image 2" descr="preencoded.png">    </p:cNvPr>
          <p:cNvPicPr>
            <a:picLocks noChangeAspect="1"/>
          </p:cNvPicPr>
          <p:nvPr/>
        </p:nvPicPr>
        <p:blipFill>
          <a:blip r:embed="rId3"/>
          <a:stretch>
            <a:fillRect/>
          </a:stretch>
        </p:blipFill>
        <p:spPr>
          <a:xfrm>
            <a:off x="3502152" y="1444752"/>
            <a:ext cx="219456" cy="219456"/>
          </a:xfrm>
          <a:prstGeom prst="rect">
            <a:avLst/>
          </a:prstGeom>
        </p:spPr>
      </p:pic>
      <p:sp>
        <p:nvSpPr>
          <p:cNvPr id="14" name="Text 8"/>
          <p:cNvSpPr txBox="1"/>
          <p:nvPr/>
        </p:nvSpPr>
        <p:spPr>
          <a:xfrm>
            <a:off x="3959352" y="1325880"/>
            <a:ext cx="1828800" cy="457200"/>
          </a:xfrm>
          <a:prstGeom prst="rect">
            <a:avLst/>
          </a:prstGeom>
          <a:noFill/>
          <a:ln/>
        </p:spPr>
        <p:txBody>
          <a:bodyPr wrap="square" lIns="0" tIns="0" rIns="0" bIns="0" rtlCol="0" anchor="ctr"/>
          <a:lstStyle/>
          <a:p>
            <a:pPr indent="0" marL="0">
              <a:buNone/>
            </a:pPr>
            <a:r>
              <a:rPr lang="en-US" sz="1300" b="1" dirty="0">
                <a:solidFill>
                  <a:schemeClr val="tx2"/>
                </a:solidFill>
              </a:rPr>
              <a:t>Simulated transfers</a:t>
            </a:r>
            <a:endParaRPr lang="en-US" sz="1300" dirty="0"/>
          </a:p>
        </p:txBody>
      </p:sp>
      <p:sp>
        <p:nvSpPr>
          <p:cNvPr id="15" name="Text 9"/>
          <p:cNvSpPr txBox="1"/>
          <p:nvPr/>
        </p:nvSpPr>
        <p:spPr>
          <a:xfrm>
            <a:off x="3383280" y="1920240"/>
            <a:ext cx="2377440" cy="731520"/>
          </a:xfrm>
          <a:prstGeom prst="rect">
            <a:avLst/>
          </a:prstGeom>
          <a:noFill/>
          <a:ln/>
        </p:spPr>
        <p:txBody>
          <a:bodyPr wrap="square" lIns="0" tIns="0" rIns="0" bIns="0" rtlCol="0" anchor="t"/>
          <a:lstStyle/>
          <a:p>
            <a:pPr indent="0" marL="0">
              <a:buNone/>
            </a:pPr>
            <a:r>
              <a:rPr lang="en-US" sz="1200" dirty="0">
                <a:solidFill>
                  <a:schemeClr val="tx1"/>
                </a:solidFill>
              </a:rPr>
              <a:t>Records only; no real bank API</a:t>
            </a:r>
            <a:endParaRPr lang="en-US" sz="1200" dirty="0"/>
          </a:p>
        </p:txBody>
      </p:sp>
      <p:sp>
        <p:nvSpPr>
          <p:cNvPr id="16" name="Shape 10"/>
          <p:cNvSpPr/>
          <p:nvPr/>
        </p:nvSpPr>
        <p:spPr>
          <a:xfrm>
            <a:off x="6035040" y="1188720"/>
            <a:ext cx="2651760" cy="1508760"/>
          </a:xfrm>
          <a:prstGeom prst="roundRect">
            <a:avLst>
              <a:gd name="adj" fmla="val 4848"/>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7" name="Shape 11"/>
          <p:cNvSpPr/>
          <p:nvPr/>
        </p:nvSpPr>
        <p:spPr>
          <a:xfrm>
            <a:off x="6172200" y="1325880"/>
            <a:ext cx="457200" cy="457200"/>
          </a:xfrm>
          <a:prstGeom prst="ellipse">
            <a:avLst/>
          </a:prstGeom>
          <a:solidFill>
            <a:schemeClr val="accent2"/>
          </a:solidFill>
          <a:ln w="12700">
            <a:solidFill>
              <a:schemeClr val="accent2"/>
            </a:solidFill>
            <a:prstDash val="solid"/>
          </a:ln>
        </p:spPr>
      </p:sp>
      <p:pic>
        <p:nvPicPr>
          <p:cNvPr id="18" name="Image 3" descr="preencoded.png">    </p:cNvPr>
          <p:cNvPicPr>
            <a:picLocks noChangeAspect="1"/>
          </p:cNvPicPr>
          <p:nvPr/>
        </p:nvPicPr>
        <p:blipFill>
          <a:blip r:embed="rId4"/>
          <a:stretch>
            <a:fillRect/>
          </a:stretch>
        </p:blipFill>
        <p:spPr>
          <a:xfrm>
            <a:off x="6291072" y="1444752"/>
            <a:ext cx="219456" cy="219456"/>
          </a:xfrm>
          <a:prstGeom prst="rect">
            <a:avLst/>
          </a:prstGeom>
        </p:spPr>
      </p:pic>
      <p:sp>
        <p:nvSpPr>
          <p:cNvPr id="19" name="Text 12"/>
          <p:cNvSpPr txBox="1"/>
          <p:nvPr/>
        </p:nvSpPr>
        <p:spPr>
          <a:xfrm>
            <a:off x="6748272" y="1325880"/>
            <a:ext cx="1828800" cy="457200"/>
          </a:xfrm>
          <a:prstGeom prst="rect">
            <a:avLst/>
          </a:prstGeom>
          <a:noFill/>
          <a:ln/>
        </p:spPr>
        <p:txBody>
          <a:bodyPr wrap="square" lIns="0" tIns="0" rIns="0" bIns="0" rtlCol="0" anchor="ctr"/>
          <a:lstStyle/>
          <a:p>
            <a:pPr indent="0" marL="0">
              <a:buNone/>
            </a:pPr>
            <a:r>
              <a:rPr lang="en-US" sz="1300" b="1" dirty="0">
                <a:solidFill>
                  <a:schemeClr val="tx2"/>
                </a:solidFill>
              </a:rPr>
              <a:t>Illustrative rates</a:t>
            </a:r>
            <a:endParaRPr lang="en-US" sz="1300" dirty="0"/>
          </a:p>
        </p:txBody>
      </p:sp>
      <p:sp>
        <p:nvSpPr>
          <p:cNvPr id="20" name="Text 13"/>
          <p:cNvSpPr txBox="1"/>
          <p:nvPr/>
        </p:nvSpPr>
        <p:spPr>
          <a:xfrm>
            <a:off x="6172200" y="1920240"/>
            <a:ext cx="2377440" cy="731520"/>
          </a:xfrm>
          <a:prstGeom prst="rect">
            <a:avLst/>
          </a:prstGeom>
          <a:noFill/>
          <a:ln/>
        </p:spPr>
        <p:txBody>
          <a:bodyPr wrap="square" lIns="0" tIns="0" rIns="0" bIns="0" rtlCol="0" anchor="t"/>
          <a:lstStyle/>
          <a:p>
            <a:pPr indent="0" marL="0">
              <a:buNone/>
            </a:pPr>
            <a:r>
              <a:rPr lang="en-US" sz="1200" dirty="0">
                <a:solidFill>
                  <a:schemeClr val="tx1"/>
                </a:solidFill>
              </a:rPr>
              <a:t>Editable, not official statutory slabs</a:t>
            </a:r>
            <a:endParaRPr lang="en-US" sz="1200" dirty="0"/>
          </a:p>
        </p:txBody>
      </p:sp>
      <p:sp>
        <p:nvSpPr>
          <p:cNvPr id="21" name="Shape 14"/>
          <p:cNvSpPr/>
          <p:nvPr/>
        </p:nvSpPr>
        <p:spPr>
          <a:xfrm>
            <a:off x="457200" y="2880360"/>
            <a:ext cx="2651760" cy="1508760"/>
          </a:xfrm>
          <a:prstGeom prst="roundRect">
            <a:avLst>
              <a:gd name="adj" fmla="val 4848"/>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2" name="Shape 15"/>
          <p:cNvSpPr/>
          <p:nvPr/>
        </p:nvSpPr>
        <p:spPr>
          <a:xfrm>
            <a:off x="594360" y="3017520"/>
            <a:ext cx="457200" cy="457200"/>
          </a:xfrm>
          <a:prstGeom prst="ellipse">
            <a:avLst/>
          </a:prstGeom>
          <a:solidFill>
            <a:schemeClr val="accent2"/>
          </a:solidFill>
          <a:ln w="12700">
            <a:solidFill>
              <a:schemeClr val="accent2"/>
            </a:solidFill>
            <a:prstDash val="solid"/>
          </a:ln>
        </p:spPr>
      </p:sp>
      <p:pic>
        <p:nvPicPr>
          <p:cNvPr id="23" name="Image 4" descr="preencoded.png">    </p:cNvPr>
          <p:cNvPicPr>
            <a:picLocks noChangeAspect="1"/>
          </p:cNvPicPr>
          <p:nvPr/>
        </p:nvPicPr>
        <p:blipFill>
          <a:blip r:embed="rId5"/>
          <a:stretch>
            <a:fillRect/>
          </a:stretch>
        </p:blipFill>
        <p:spPr>
          <a:xfrm>
            <a:off x="713232" y="3136392"/>
            <a:ext cx="219456" cy="219456"/>
          </a:xfrm>
          <a:prstGeom prst="rect">
            <a:avLst/>
          </a:prstGeom>
        </p:spPr>
      </p:pic>
      <p:sp>
        <p:nvSpPr>
          <p:cNvPr id="24" name="Text 16"/>
          <p:cNvSpPr txBox="1"/>
          <p:nvPr/>
        </p:nvSpPr>
        <p:spPr>
          <a:xfrm>
            <a:off x="1170432" y="3017520"/>
            <a:ext cx="1828800" cy="457200"/>
          </a:xfrm>
          <a:prstGeom prst="rect">
            <a:avLst/>
          </a:prstGeom>
          <a:noFill/>
          <a:ln/>
        </p:spPr>
        <p:txBody>
          <a:bodyPr wrap="square" lIns="0" tIns="0" rIns="0" bIns="0" rtlCol="0" anchor="ctr"/>
          <a:lstStyle/>
          <a:p>
            <a:pPr indent="0" marL="0">
              <a:buNone/>
            </a:pPr>
            <a:r>
              <a:rPr lang="en-US" sz="1300" b="1" dirty="0">
                <a:solidFill>
                  <a:schemeClr val="tx2"/>
                </a:solidFill>
              </a:rPr>
              <a:t>One MySQL version</a:t>
            </a:r>
            <a:endParaRPr lang="en-US" sz="1300" dirty="0"/>
          </a:p>
        </p:txBody>
      </p:sp>
      <p:sp>
        <p:nvSpPr>
          <p:cNvPr id="25" name="Text 17"/>
          <p:cNvSpPr txBox="1"/>
          <p:nvPr/>
        </p:nvSpPr>
        <p:spPr>
          <a:xfrm>
            <a:off x="594360" y="3611880"/>
            <a:ext cx="2377440" cy="731520"/>
          </a:xfrm>
          <a:prstGeom prst="rect">
            <a:avLst/>
          </a:prstGeom>
          <a:noFill/>
          <a:ln/>
        </p:spPr>
        <p:txBody>
          <a:bodyPr wrap="square" lIns="0" tIns="0" rIns="0" bIns="0" rtlCol="0" anchor="t"/>
          <a:lstStyle/>
          <a:p>
            <a:pPr indent="0" marL="0">
              <a:buNone/>
            </a:pPr>
            <a:r>
              <a:rPr lang="en-US" sz="1200" dirty="0">
                <a:solidFill>
                  <a:schemeClr val="tx1"/>
                </a:solidFill>
              </a:rPr>
              <a:t>Tested on 8.0.46 only; MariaDB and others untested</a:t>
            </a:r>
            <a:endParaRPr lang="en-US" sz="1200" dirty="0"/>
          </a:p>
        </p:txBody>
      </p:sp>
      <p:sp>
        <p:nvSpPr>
          <p:cNvPr id="26" name="Shape 18"/>
          <p:cNvSpPr/>
          <p:nvPr/>
        </p:nvSpPr>
        <p:spPr>
          <a:xfrm>
            <a:off x="3246120" y="2880360"/>
            <a:ext cx="2651760" cy="1508760"/>
          </a:xfrm>
          <a:prstGeom prst="roundRect">
            <a:avLst>
              <a:gd name="adj" fmla="val 4848"/>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7" name="Shape 19"/>
          <p:cNvSpPr/>
          <p:nvPr/>
        </p:nvSpPr>
        <p:spPr>
          <a:xfrm>
            <a:off x="3383280" y="3017520"/>
            <a:ext cx="457200" cy="457200"/>
          </a:xfrm>
          <a:prstGeom prst="ellipse">
            <a:avLst/>
          </a:prstGeom>
          <a:solidFill>
            <a:schemeClr val="accent2"/>
          </a:solidFill>
          <a:ln w="12700">
            <a:solidFill>
              <a:schemeClr val="accent2"/>
            </a:solidFill>
            <a:prstDash val="solid"/>
          </a:ln>
        </p:spPr>
      </p:sp>
      <p:pic>
        <p:nvPicPr>
          <p:cNvPr id="28" name="Image 5" descr="preencoded.png">    </p:cNvPr>
          <p:cNvPicPr>
            <a:picLocks noChangeAspect="1"/>
          </p:cNvPicPr>
          <p:nvPr/>
        </p:nvPicPr>
        <p:blipFill>
          <a:blip r:embed="rId6"/>
          <a:stretch>
            <a:fillRect/>
          </a:stretch>
        </p:blipFill>
        <p:spPr>
          <a:xfrm>
            <a:off x="3502152" y="3136392"/>
            <a:ext cx="219456" cy="219456"/>
          </a:xfrm>
          <a:prstGeom prst="rect">
            <a:avLst/>
          </a:prstGeom>
        </p:spPr>
      </p:pic>
      <p:sp>
        <p:nvSpPr>
          <p:cNvPr id="29" name="Text 20"/>
          <p:cNvSpPr txBox="1"/>
          <p:nvPr/>
        </p:nvSpPr>
        <p:spPr>
          <a:xfrm>
            <a:off x="3959352" y="3017520"/>
            <a:ext cx="1828800" cy="457200"/>
          </a:xfrm>
          <a:prstGeom prst="rect">
            <a:avLst/>
          </a:prstGeom>
          <a:noFill/>
          <a:ln/>
        </p:spPr>
        <p:txBody>
          <a:bodyPr wrap="square" lIns="0" tIns="0" rIns="0" bIns="0" rtlCol="0" anchor="ctr"/>
          <a:lstStyle/>
          <a:p>
            <a:pPr indent="0" marL="0">
              <a:buNone/>
            </a:pPr>
            <a:r>
              <a:rPr lang="en-US" sz="1300" b="1" dirty="0">
                <a:solidFill>
                  <a:schemeClr val="tx2"/>
                </a:solidFill>
              </a:rPr>
              <a:t>Small scale</a:t>
            </a:r>
            <a:endParaRPr lang="en-US" sz="1300" dirty="0"/>
          </a:p>
        </p:txBody>
      </p:sp>
      <p:sp>
        <p:nvSpPr>
          <p:cNvPr id="30" name="Text 21"/>
          <p:cNvSpPr txBox="1"/>
          <p:nvPr/>
        </p:nvSpPr>
        <p:spPr>
          <a:xfrm>
            <a:off x="3383280" y="3611880"/>
            <a:ext cx="2377440" cy="731520"/>
          </a:xfrm>
          <a:prstGeom prst="rect">
            <a:avLst/>
          </a:prstGeom>
          <a:noFill/>
          <a:ln/>
        </p:spPr>
        <p:txBody>
          <a:bodyPr wrap="square" lIns="0" tIns="0" rIns="0" bIns="0" rtlCol="0" anchor="t"/>
          <a:lstStyle/>
          <a:p>
            <a:pPr indent="0" marL="0">
              <a:buNone/>
            </a:pPr>
            <a:r>
              <a:rPr lang="en-US" sz="1200" dirty="0">
                <a:solidFill>
                  <a:schemeClr val="tx1"/>
                </a:solidFill>
              </a:rPr>
              <a:t>30 synthetic employees, local single server</a:t>
            </a:r>
            <a:endParaRPr lang="en-US" sz="1200" dirty="0"/>
          </a:p>
        </p:txBody>
      </p:sp>
      <p:sp>
        <p:nvSpPr>
          <p:cNvPr id="31" name="Shape 22"/>
          <p:cNvSpPr/>
          <p:nvPr/>
        </p:nvSpPr>
        <p:spPr>
          <a:xfrm>
            <a:off x="6035040" y="2880360"/>
            <a:ext cx="2651760" cy="1508760"/>
          </a:xfrm>
          <a:prstGeom prst="roundRect">
            <a:avLst>
              <a:gd name="adj" fmla="val 4848"/>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32" name="Shape 23"/>
          <p:cNvSpPr/>
          <p:nvPr/>
        </p:nvSpPr>
        <p:spPr>
          <a:xfrm>
            <a:off x="6172200" y="3017520"/>
            <a:ext cx="457200" cy="457200"/>
          </a:xfrm>
          <a:prstGeom prst="ellipse">
            <a:avLst/>
          </a:prstGeom>
          <a:solidFill>
            <a:schemeClr val="accent2"/>
          </a:solidFill>
          <a:ln w="12700">
            <a:solidFill>
              <a:schemeClr val="accent2"/>
            </a:solidFill>
            <a:prstDash val="solid"/>
          </a:ln>
        </p:spPr>
      </p:sp>
      <p:pic>
        <p:nvPicPr>
          <p:cNvPr id="33" name="Image 6" descr="preencoded.png">    </p:cNvPr>
          <p:cNvPicPr>
            <a:picLocks noChangeAspect="1"/>
          </p:cNvPicPr>
          <p:nvPr/>
        </p:nvPicPr>
        <p:blipFill>
          <a:blip r:embed="rId7"/>
          <a:stretch>
            <a:fillRect/>
          </a:stretch>
        </p:blipFill>
        <p:spPr>
          <a:xfrm>
            <a:off x="6291072" y="3136392"/>
            <a:ext cx="219456" cy="219456"/>
          </a:xfrm>
          <a:prstGeom prst="rect">
            <a:avLst/>
          </a:prstGeom>
        </p:spPr>
      </p:pic>
      <p:sp>
        <p:nvSpPr>
          <p:cNvPr id="34" name="Text 24"/>
          <p:cNvSpPr txBox="1"/>
          <p:nvPr/>
        </p:nvSpPr>
        <p:spPr>
          <a:xfrm>
            <a:off x="6748272" y="3017520"/>
            <a:ext cx="1828800" cy="457200"/>
          </a:xfrm>
          <a:prstGeom prst="rect">
            <a:avLst/>
          </a:prstGeom>
          <a:noFill/>
          <a:ln/>
        </p:spPr>
        <p:txBody>
          <a:bodyPr wrap="square" lIns="0" tIns="0" rIns="0" bIns="0" rtlCol="0" anchor="ctr"/>
          <a:lstStyle/>
          <a:p>
            <a:pPr indent="0" marL="0">
              <a:buNone/>
            </a:pPr>
            <a:r>
              <a:rPr lang="en-US" sz="1300" b="1" dirty="0">
                <a:solidFill>
                  <a:schemeClr val="tx2"/>
                </a:solidFill>
              </a:rPr>
              <a:t>Audit lacks user name</a:t>
            </a:r>
            <a:endParaRPr lang="en-US" sz="1300" dirty="0"/>
          </a:p>
        </p:txBody>
      </p:sp>
      <p:sp>
        <p:nvSpPr>
          <p:cNvPr id="35" name="Text 25"/>
          <p:cNvSpPr txBox="1"/>
          <p:nvPr/>
        </p:nvSpPr>
        <p:spPr>
          <a:xfrm>
            <a:off x="6172200" y="3611880"/>
            <a:ext cx="2377440" cy="731520"/>
          </a:xfrm>
          <a:prstGeom prst="rect">
            <a:avLst/>
          </a:prstGeom>
          <a:noFill/>
          <a:ln/>
        </p:spPr>
        <p:txBody>
          <a:bodyPr wrap="square" lIns="0" tIns="0" rIns="0" bIns="0" rtlCol="0" anchor="t"/>
          <a:lstStyle/>
          <a:p>
            <a:pPr indent="0" marL="0">
              <a:buNone/>
            </a:pPr>
            <a:r>
              <a:rPr lang="en-US" sz="1200" dirty="0">
                <a:solidFill>
                  <a:schemeClr val="tx1"/>
                </a:solidFill>
              </a:rPr>
              <a:t>Triggers cannot see the web user who made the change</a:t>
            </a:r>
            <a:endParaRPr lang="en-US" sz="12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bg1"/>
                </a:solidFill>
              </a:rPr>
              <a:t>Conclusion</a:t>
            </a:r>
            <a:endParaRPr lang="en-US" sz="3000" dirty="0"/>
          </a:p>
        </p:txBody>
      </p:sp>
      <p:sp>
        <p:nvSpPr>
          <p:cNvPr id="4" name="Shape 1"/>
          <p:cNvSpPr/>
          <p:nvPr/>
        </p:nvSpPr>
        <p:spPr>
          <a:xfrm>
            <a:off x="457200" y="274320"/>
            <a:ext cx="603504" cy="603504"/>
          </a:xfrm>
          <a:prstGeom prst="ellipse">
            <a:avLst/>
          </a:prstGeom>
          <a:solidFill>
            <a:schemeClr val="accent2"/>
          </a:solidFill>
          <a:ln w="12700">
            <a:solidFill>
              <a:schemeClr val="accent2"/>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57200" y="1188720"/>
            <a:ext cx="1920240" cy="1097280"/>
          </a:xfrm>
          <a:prstGeom prst="roundRect">
            <a:avLst>
              <a:gd name="adj" fmla="val 6667"/>
            </a:avLst>
          </a:prstGeom>
          <a:solidFill>
            <a:schemeClr val="accent3"/>
          </a:solidFill>
          <a:ln w="12700">
            <a:solidFill>
              <a:schemeClr val="accent3"/>
            </a:solidFill>
            <a:prstDash val="solid"/>
          </a:ln>
        </p:spPr>
      </p:sp>
      <p:sp>
        <p:nvSpPr>
          <p:cNvPr id="7" name="Text 3"/>
          <p:cNvSpPr txBox="1"/>
          <p:nvPr/>
        </p:nvSpPr>
        <p:spPr>
          <a:xfrm>
            <a:off x="457200" y="1280160"/>
            <a:ext cx="1920240" cy="548640"/>
          </a:xfrm>
          <a:prstGeom prst="rect">
            <a:avLst/>
          </a:prstGeom>
          <a:noFill/>
          <a:ln/>
        </p:spPr>
        <p:txBody>
          <a:bodyPr wrap="square" lIns="0" tIns="0" rIns="0" bIns="0" rtlCol="0" anchor="ctr"/>
          <a:lstStyle/>
          <a:p>
            <a:pPr algn="ctr" indent="0" marL="0">
              <a:buNone/>
            </a:pPr>
            <a:r>
              <a:rPr lang="en-US" sz="2800" b="1" dirty="0">
                <a:solidFill>
                  <a:schemeClr val="accent2"/>
                </a:solidFill>
                <a:latin typeface="Cambria" pitchFamily="34" charset="0"/>
                <a:ea typeface="Cambria" pitchFamily="34" charset="-122"/>
                <a:cs typeface="Cambria" pitchFamily="34" charset="-120"/>
              </a:rPr>
              <a:t>16</a:t>
            </a:r>
            <a:endParaRPr lang="en-US" sz="2800" dirty="0"/>
          </a:p>
        </p:txBody>
      </p:sp>
      <p:sp>
        <p:nvSpPr>
          <p:cNvPr id="8" name="Text 4"/>
          <p:cNvSpPr txBox="1"/>
          <p:nvPr/>
        </p:nvSpPr>
        <p:spPr>
          <a:xfrm>
            <a:off x="548640" y="1847088"/>
            <a:ext cx="1737360" cy="365760"/>
          </a:xfrm>
          <a:prstGeom prst="rect">
            <a:avLst/>
          </a:prstGeom>
          <a:noFill/>
          <a:ln/>
        </p:spPr>
        <p:txBody>
          <a:bodyPr wrap="square" lIns="0" tIns="0" rIns="0" bIns="0" rtlCol="0" anchor="t"/>
          <a:lstStyle/>
          <a:p>
            <a:pPr algn="ctr" indent="0" marL="0">
              <a:buNone/>
            </a:pPr>
            <a:r>
              <a:rPr lang="en-US" sz="1150" dirty="0">
                <a:solidFill>
                  <a:schemeClr val="bg1"/>
                </a:solidFill>
              </a:rPr>
              <a:t>tables, 17 foreign keys</a:t>
            </a:r>
            <a:endParaRPr lang="en-US" sz="1150" dirty="0"/>
          </a:p>
        </p:txBody>
      </p:sp>
      <p:sp>
        <p:nvSpPr>
          <p:cNvPr id="9" name="Shape 5"/>
          <p:cNvSpPr/>
          <p:nvPr/>
        </p:nvSpPr>
        <p:spPr>
          <a:xfrm>
            <a:off x="2542032" y="1188720"/>
            <a:ext cx="1920240" cy="1097280"/>
          </a:xfrm>
          <a:prstGeom prst="roundRect">
            <a:avLst>
              <a:gd name="adj" fmla="val 6667"/>
            </a:avLst>
          </a:prstGeom>
          <a:solidFill>
            <a:schemeClr val="accent3"/>
          </a:solidFill>
          <a:ln w="12700">
            <a:solidFill>
              <a:schemeClr val="accent3"/>
            </a:solidFill>
            <a:prstDash val="solid"/>
          </a:ln>
        </p:spPr>
      </p:sp>
      <p:sp>
        <p:nvSpPr>
          <p:cNvPr id="10" name="Text 6"/>
          <p:cNvSpPr txBox="1"/>
          <p:nvPr/>
        </p:nvSpPr>
        <p:spPr>
          <a:xfrm>
            <a:off x="2542032" y="1280160"/>
            <a:ext cx="1920240" cy="548640"/>
          </a:xfrm>
          <a:prstGeom prst="rect">
            <a:avLst/>
          </a:prstGeom>
          <a:noFill/>
          <a:ln/>
        </p:spPr>
        <p:txBody>
          <a:bodyPr wrap="square" lIns="0" tIns="0" rIns="0" bIns="0" rtlCol="0" anchor="ctr"/>
          <a:lstStyle/>
          <a:p>
            <a:pPr algn="ctr" indent="0" marL="0">
              <a:buNone/>
            </a:pPr>
            <a:r>
              <a:rPr lang="en-US" sz="2800" b="1" dirty="0">
                <a:solidFill>
                  <a:schemeClr val="accent2"/>
                </a:solidFill>
                <a:latin typeface="Cambria" pitchFamily="34" charset="0"/>
                <a:ea typeface="Cambria" pitchFamily="34" charset="-122"/>
                <a:cs typeface="Cambria" pitchFamily="34" charset="-120"/>
              </a:rPr>
              <a:t>12 / 12</a:t>
            </a:r>
            <a:endParaRPr lang="en-US" sz="2800" dirty="0"/>
          </a:p>
        </p:txBody>
      </p:sp>
      <p:sp>
        <p:nvSpPr>
          <p:cNvPr id="11" name="Text 7"/>
          <p:cNvSpPr txBox="1"/>
          <p:nvPr/>
        </p:nvSpPr>
        <p:spPr>
          <a:xfrm>
            <a:off x="2633472" y="1847088"/>
            <a:ext cx="1737360" cy="365760"/>
          </a:xfrm>
          <a:prstGeom prst="rect">
            <a:avLst/>
          </a:prstGeom>
          <a:noFill/>
          <a:ln/>
        </p:spPr>
        <p:txBody>
          <a:bodyPr wrap="square" lIns="0" tIns="0" rIns="0" bIns="0" rtlCol="0" anchor="t"/>
          <a:lstStyle/>
          <a:p>
            <a:pPr algn="ctr" indent="0" marL="0">
              <a:buNone/>
            </a:pPr>
            <a:r>
              <a:rPr lang="en-US" sz="1150" dirty="0">
                <a:solidFill>
                  <a:schemeClr val="bg1"/>
                </a:solidFill>
              </a:rPr>
              <a:t>requirements delivered</a:t>
            </a:r>
            <a:endParaRPr lang="en-US" sz="1150" dirty="0"/>
          </a:p>
        </p:txBody>
      </p:sp>
      <p:sp>
        <p:nvSpPr>
          <p:cNvPr id="12" name="Shape 8"/>
          <p:cNvSpPr/>
          <p:nvPr/>
        </p:nvSpPr>
        <p:spPr>
          <a:xfrm>
            <a:off x="4626864" y="1188720"/>
            <a:ext cx="1920240" cy="1097280"/>
          </a:xfrm>
          <a:prstGeom prst="roundRect">
            <a:avLst>
              <a:gd name="adj" fmla="val 6667"/>
            </a:avLst>
          </a:prstGeom>
          <a:solidFill>
            <a:schemeClr val="accent3"/>
          </a:solidFill>
          <a:ln w="12700">
            <a:solidFill>
              <a:schemeClr val="accent3"/>
            </a:solidFill>
            <a:prstDash val="solid"/>
          </a:ln>
        </p:spPr>
      </p:sp>
      <p:sp>
        <p:nvSpPr>
          <p:cNvPr id="13" name="Text 9"/>
          <p:cNvSpPr txBox="1"/>
          <p:nvPr/>
        </p:nvSpPr>
        <p:spPr>
          <a:xfrm>
            <a:off x="4626864" y="1280160"/>
            <a:ext cx="1920240" cy="548640"/>
          </a:xfrm>
          <a:prstGeom prst="rect">
            <a:avLst/>
          </a:prstGeom>
          <a:noFill/>
          <a:ln/>
        </p:spPr>
        <p:txBody>
          <a:bodyPr wrap="square" lIns="0" tIns="0" rIns="0" bIns="0" rtlCol="0" anchor="ctr"/>
          <a:lstStyle/>
          <a:p>
            <a:pPr algn="ctr" indent="0" marL="0">
              <a:buNone/>
            </a:pPr>
            <a:r>
              <a:rPr lang="en-US" sz="2800" b="1" dirty="0">
                <a:solidFill>
                  <a:schemeClr val="accent2"/>
                </a:solidFill>
                <a:latin typeface="Cambria" pitchFamily="34" charset="0"/>
                <a:ea typeface="Cambria" pitchFamily="34" charset="-122"/>
                <a:cs typeface="Cambria" pitchFamily="34" charset="-120"/>
              </a:rPr>
              <a:t>74 + 11</a:t>
            </a:r>
            <a:endParaRPr lang="en-US" sz="2800" dirty="0"/>
          </a:p>
        </p:txBody>
      </p:sp>
      <p:sp>
        <p:nvSpPr>
          <p:cNvPr id="14" name="Text 10"/>
          <p:cNvSpPr txBox="1"/>
          <p:nvPr/>
        </p:nvSpPr>
        <p:spPr>
          <a:xfrm>
            <a:off x="4718304" y="1847088"/>
            <a:ext cx="1737360" cy="365760"/>
          </a:xfrm>
          <a:prstGeom prst="rect">
            <a:avLst/>
          </a:prstGeom>
          <a:noFill/>
          <a:ln/>
        </p:spPr>
        <p:txBody>
          <a:bodyPr wrap="square" lIns="0" tIns="0" rIns="0" bIns="0" rtlCol="0" anchor="t"/>
          <a:lstStyle/>
          <a:p>
            <a:pPr algn="ctr" indent="0" marL="0">
              <a:buNone/>
            </a:pPr>
            <a:r>
              <a:rPr lang="en-US" sz="1150" dirty="0">
                <a:solidFill>
                  <a:schemeClr val="bg1"/>
                </a:solidFill>
              </a:rPr>
              <a:t>tests: SQLite + MySQL</a:t>
            </a:r>
            <a:endParaRPr lang="en-US" sz="1150" dirty="0"/>
          </a:p>
        </p:txBody>
      </p:sp>
      <p:sp>
        <p:nvSpPr>
          <p:cNvPr id="15" name="Shape 11"/>
          <p:cNvSpPr/>
          <p:nvPr/>
        </p:nvSpPr>
        <p:spPr>
          <a:xfrm>
            <a:off x="6711696" y="1188720"/>
            <a:ext cx="1920240" cy="1097280"/>
          </a:xfrm>
          <a:prstGeom prst="roundRect">
            <a:avLst>
              <a:gd name="adj" fmla="val 6667"/>
            </a:avLst>
          </a:prstGeom>
          <a:solidFill>
            <a:schemeClr val="accent3"/>
          </a:solidFill>
          <a:ln w="12700">
            <a:solidFill>
              <a:schemeClr val="accent3"/>
            </a:solidFill>
            <a:prstDash val="solid"/>
          </a:ln>
        </p:spPr>
      </p:sp>
      <p:sp>
        <p:nvSpPr>
          <p:cNvPr id="16" name="Text 12"/>
          <p:cNvSpPr txBox="1"/>
          <p:nvPr/>
        </p:nvSpPr>
        <p:spPr>
          <a:xfrm>
            <a:off x="6711696" y="1280160"/>
            <a:ext cx="1920240" cy="548640"/>
          </a:xfrm>
          <a:prstGeom prst="rect">
            <a:avLst/>
          </a:prstGeom>
          <a:noFill/>
          <a:ln/>
        </p:spPr>
        <p:txBody>
          <a:bodyPr wrap="square" lIns="0" tIns="0" rIns="0" bIns="0" rtlCol="0" anchor="ctr"/>
          <a:lstStyle/>
          <a:p>
            <a:pPr algn="ctr" indent="0" marL="0">
              <a:buNone/>
            </a:pPr>
            <a:r>
              <a:rPr lang="en-US" sz="2800" b="1" dirty="0">
                <a:solidFill>
                  <a:schemeClr val="accent2"/>
                </a:solidFill>
                <a:latin typeface="Cambria" pitchFamily="34" charset="0"/>
                <a:ea typeface="Cambria" pitchFamily="34" charset="-122"/>
                <a:cs typeface="Cambria" pitchFamily="34" charset="-120"/>
              </a:rPr>
              <a:t>6</a:t>
            </a:r>
            <a:endParaRPr lang="en-US" sz="2800" dirty="0"/>
          </a:p>
        </p:txBody>
      </p:sp>
      <p:sp>
        <p:nvSpPr>
          <p:cNvPr id="17" name="Text 13"/>
          <p:cNvSpPr txBox="1"/>
          <p:nvPr/>
        </p:nvSpPr>
        <p:spPr>
          <a:xfrm>
            <a:off x="6803136" y="1847088"/>
            <a:ext cx="1737360" cy="365760"/>
          </a:xfrm>
          <a:prstGeom prst="rect">
            <a:avLst/>
          </a:prstGeom>
          <a:noFill/>
          <a:ln/>
        </p:spPr>
        <p:txBody>
          <a:bodyPr wrap="square" lIns="0" tIns="0" rIns="0" bIns="0" rtlCol="0" anchor="t"/>
          <a:lstStyle/>
          <a:p>
            <a:pPr algn="ctr" indent="0" marL="0">
              <a:buNone/>
            </a:pPr>
            <a:r>
              <a:rPr lang="en-US" sz="1150" dirty="0">
                <a:solidFill>
                  <a:schemeClr val="bg1"/>
                </a:solidFill>
              </a:rPr>
              <a:t>triggers, 3 views</a:t>
            </a:r>
            <a:endParaRPr lang="en-US" sz="1150" dirty="0"/>
          </a:p>
        </p:txBody>
      </p:sp>
      <p:sp>
        <p:nvSpPr>
          <p:cNvPr id="18" name="Text 14"/>
          <p:cNvSpPr txBox="1"/>
          <p:nvPr/>
        </p:nvSpPr>
        <p:spPr>
          <a:xfrm>
            <a:off x="457200" y="2514600"/>
            <a:ext cx="4023360" cy="274320"/>
          </a:xfrm>
          <a:prstGeom prst="rect">
            <a:avLst/>
          </a:prstGeom>
          <a:noFill/>
          <a:ln/>
        </p:spPr>
        <p:txBody>
          <a:bodyPr wrap="square" lIns="0" tIns="0" rIns="0" bIns="0" rtlCol="0" anchor="t"/>
          <a:lstStyle/>
          <a:p>
            <a:pPr indent="0" marL="0">
              <a:buNone/>
            </a:pPr>
            <a:r>
              <a:rPr lang="en-US" sz="1500" b="1" dirty="0">
                <a:solidFill>
                  <a:schemeClr val="accent2"/>
                </a:solidFill>
                <a:latin typeface="Cambria" pitchFamily="34" charset="0"/>
                <a:ea typeface="Cambria" pitchFamily="34" charset="-122"/>
                <a:cs typeface="Cambria" pitchFamily="34" charset="-120"/>
              </a:rPr>
              <a:t>What was achieved</a:t>
            </a:r>
            <a:endParaRPr lang="en-US" sz="1500" dirty="0"/>
          </a:p>
        </p:txBody>
      </p:sp>
      <p:sp>
        <p:nvSpPr>
          <p:cNvPr id="19" name="Text 15"/>
          <p:cNvSpPr txBox="1"/>
          <p:nvPr/>
        </p:nvSpPr>
        <p:spPr>
          <a:xfrm>
            <a:off x="457200" y="2834640"/>
            <a:ext cx="4023360" cy="10972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Schema enforced by constraints and triggers</a:t>
            </a:r>
            <a:endParaRPr lang="en-US" sz="1300" dirty="0"/>
          </a:p>
          <a:p>
            <a:pPr marL="177800" indent="-177800">
              <a:spcAft>
                <a:spcPts val="500"/>
              </a:spcAft>
              <a:buSzPct val="100000"/>
              <a:buChar char="•"/>
            </a:pPr>
            <a:r>
              <a:rPr lang="en-US" sz="1300" dirty="0">
                <a:solidFill>
                  <a:schemeClr val="bg1"/>
                </a:solidFill>
              </a:rPr>
              <a:t>Transaction-safe payroll with audit trail</a:t>
            </a:r>
            <a:endParaRPr lang="en-US" sz="1300" dirty="0"/>
          </a:p>
          <a:p>
            <a:pPr marL="177800" indent="-177800">
              <a:spcAft>
                <a:spcPts val="500"/>
              </a:spcAft>
              <a:buSzPct val="100000"/>
              <a:buChar char="•"/>
            </a:pPr>
            <a:r>
              <a:rPr lang="en-US" sz="1300" dirty="0">
                <a:solidFill>
                  <a:schemeClr val="bg1"/>
                </a:solidFill>
              </a:rPr>
              <a:t>Roles, payslips, transfers, reports</a:t>
            </a:r>
            <a:endParaRPr lang="en-US" sz="1300" dirty="0"/>
          </a:p>
        </p:txBody>
      </p:sp>
      <p:sp>
        <p:nvSpPr>
          <p:cNvPr id="20" name="Shape 16"/>
          <p:cNvSpPr/>
          <p:nvPr/>
        </p:nvSpPr>
        <p:spPr>
          <a:xfrm>
            <a:off x="457200" y="4023360"/>
            <a:ext cx="8229600" cy="548640"/>
          </a:xfrm>
          <a:prstGeom prst="roundRect">
            <a:avLst>
              <a:gd name="adj" fmla="val 13333"/>
            </a:avLst>
          </a:prstGeom>
          <a:solidFill>
            <a:schemeClr val="accent3"/>
          </a:solidFill>
          <a:ln w="12700">
            <a:solidFill>
              <a:schemeClr val="accent3"/>
            </a:solidFill>
            <a:prstDash val="solid"/>
          </a:ln>
        </p:spPr>
      </p:sp>
      <p:sp>
        <p:nvSpPr>
          <p:cNvPr id="21" name="Text 17"/>
          <p:cNvSpPr txBox="1"/>
          <p:nvPr/>
        </p:nvSpPr>
        <p:spPr>
          <a:xfrm>
            <a:off x="640080" y="4050792"/>
            <a:ext cx="7863840" cy="493776"/>
          </a:xfrm>
          <a:prstGeom prst="rect">
            <a:avLst/>
          </a:prstGeom>
          <a:noFill/>
          <a:ln/>
        </p:spPr>
        <p:txBody>
          <a:bodyPr wrap="square" lIns="0" tIns="0" rIns="0" bIns="0" rtlCol="0" anchor="ctr"/>
          <a:lstStyle/>
          <a:p>
            <a:pPr indent="0" marL="0">
              <a:buNone/>
            </a:pPr>
            <a:r>
              <a:rPr lang="en-US" sz="1400" i="1" dirty="0">
                <a:solidFill>
                  <a:schemeClr val="bg1"/>
                </a:solidFill>
              </a:rPr>
              <a:t>Lesson learned: let the database enforce the rules, not only the application.</a:t>
            </a:r>
            <a:endParaRPr lang="en-US" sz="1400" dirty="0"/>
          </a:p>
        </p:txBody>
      </p:sp>
      <p:sp>
        <p:nvSpPr>
          <p:cNvPr id="22" name="Text 18"/>
          <p:cNvSpPr txBox="1"/>
          <p:nvPr/>
        </p:nvSpPr>
        <p:spPr>
          <a:xfrm>
            <a:off x="4663440" y="2514600"/>
            <a:ext cx="4023360" cy="274320"/>
          </a:xfrm>
          <a:prstGeom prst="rect">
            <a:avLst/>
          </a:prstGeom>
          <a:noFill/>
          <a:ln/>
        </p:spPr>
        <p:txBody>
          <a:bodyPr wrap="square" lIns="0" tIns="0" rIns="0" bIns="0" rtlCol="0" anchor="t"/>
          <a:lstStyle/>
          <a:p>
            <a:pPr indent="0" marL="0">
              <a:buNone/>
            </a:pPr>
            <a:r>
              <a:rPr lang="en-US" sz="1500" b="1" dirty="0">
                <a:solidFill>
                  <a:schemeClr val="accent2"/>
                </a:solidFill>
                <a:latin typeface="Cambria" pitchFamily="34" charset="0"/>
                <a:ea typeface="Cambria" pitchFamily="34" charset="-122"/>
                <a:cs typeface="Cambria" pitchFamily="34" charset="-120"/>
              </a:rPr>
              <a:t>Future work</a:t>
            </a:r>
            <a:endParaRPr lang="en-US" sz="1500" dirty="0"/>
          </a:p>
        </p:txBody>
      </p:sp>
      <p:sp>
        <p:nvSpPr>
          <p:cNvPr id="23" name="Text 19"/>
          <p:cNvSpPr txBox="1"/>
          <p:nvPr/>
        </p:nvSpPr>
        <p:spPr>
          <a:xfrm>
            <a:off x="4663440" y="2834640"/>
            <a:ext cx="4023360" cy="14630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Official tax slabs and statutory rules</a:t>
            </a:r>
            <a:endParaRPr lang="en-US" sz="1300" dirty="0"/>
          </a:p>
          <a:p>
            <a:pPr marL="177800" indent="-177800">
              <a:spcAft>
                <a:spcPts val="500"/>
              </a:spcAft>
              <a:buSzPct val="100000"/>
              <a:buChar char="•"/>
            </a:pPr>
            <a:r>
              <a:rPr lang="en-US" sz="1300" dirty="0">
                <a:solidFill>
                  <a:schemeClr val="bg1"/>
                </a:solidFill>
              </a:rPr>
              <a:t>PDF / e-mail payslips, bank file export</a:t>
            </a:r>
            <a:endParaRPr lang="en-US" sz="1300" dirty="0"/>
          </a:p>
          <a:p>
            <a:pPr marL="177800" indent="-177800">
              <a:spcAft>
                <a:spcPts val="500"/>
              </a:spcAft>
              <a:buSzPct val="100000"/>
              <a:buChar char="•"/>
            </a:pPr>
            <a:r>
              <a:rPr lang="en-US" sz="1300" dirty="0">
                <a:solidFill>
                  <a:schemeClr val="bg1"/>
                </a:solidFill>
              </a:rPr>
              <a:t>Audit with user name; HTTPS deployment</a:t>
            </a:r>
            <a:endParaRPr lang="en-US" sz="13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Viva Readiness: Key Concepts</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57200" y="1143000"/>
            <a:ext cx="2651760" cy="1005840"/>
          </a:xfrm>
          <a:prstGeom prst="roundRect">
            <a:avLst>
              <a:gd name="adj" fmla="val 7273"/>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7" name="Shape 3"/>
          <p:cNvSpPr/>
          <p:nvPr/>
        </p:nvSpPr>
        <p:spPr>
          <a:xfrm>
            <a:off x="457200" y="1252728"/>
            <a:ext cx="64008" cy="786384"/>
          </a:xfrm>
          <a:prstGeom prst="rect">
            <a:avLst/>
          </a:prstGeom>
          <a:solidFill>
            <a:schemeClr val="accent2"/>
          </a:solidFill>
          <a:ln w="12700">
            <a:solidFill>
              <a:schemeClr val="accent2"/>
            </a:solidFill>
            <a:prstDash val="solid"/>
          </a:ln>
        </p:spPr>
      </p:sp>
      <p:sp>
        <p:nvSpPr>
          <p:cNvPr id="8" name="Text 4"/>
          <p:cNvSpPr txBox="1"/>
          <p:nvPr/>
        </p:nvSpPr>
        <p:spPr>
          <a:xfrm>
            <a:off x="640080" y="1234440"/>
            <a:ext cx="2377440" cy="274320"/>
          </a:xfrm>
          <a:prstGeom prst="rect">
            <a:avLst/>
          </a:prstGeom>
          <a:noFill/>
          <a:ln/>
        </p:spPr>
        <p:txBody>
          <a:bodyPr wrap="square" lIns="0" tIns="0" rIns="0" bIns="0" rtlCol="0" anchor="t"/>
          <a:lstStyle/>
          <a:p>
            <a:pPr indent="0" marL="0">
              <a:buNone/>
            </a:pPr>
            <a:r>
              <a:rPr lang="en-US" sz="1350" b="1" dirty="0">
                <a:solidFill>
                  <a:schemeClr val="tx2"/>
                </a:solidFill>
              </a:rPr>
              <a:t>Normalisation</a:t>
            </a:r>
            <a:endParaRPr lang="en-US" sz="1350" dirty="0"/>
          </a:p>
        </p:txBody>
      </p:sp>
      <p:sp>
        <p:nvSpPr>
          <p:cNvPr id="9" name="Text 5"/>
          <p:cNvSpPr txBox="1"/>
          <p:nvPr/>
        </p:nvSpPr>
        <p:spPr>
          <a:xfrm>
            <a:off x="640080" y="1554480"/>
            <a:ext cx="2377440" cy="548640"/>
          </a:xfrm>
          <a:prstGeom prst="rect">
            <a:avLst/>
          </a:prstGeom>
          <a:noFill/>
          <a:ln/>
        </p:spPr>
        <p:txBody>
          <a:bodyPr wrap="square" lIns="0" tIns="0" rIns="0" bIns="0" rtlCol="0" anchor="t"/>
          <a:lstStyle/>
          <a:p>
            <a:pPr indent="0" marL="0">
              <a:buNone/>
            </a:pPr>
            <a:r>
              <a:rPr lang="en-US" sz="1150" dirty="0">
                <a:solidFill>
                  <a:schemeClr val="tx1"/>
                </a:solidFill>
              </a:rPr>
              <a:t>3NF; payroll_detail is a deliberate snapshot</a:t>
            </a:r>
            <a:endParaRPr lang="en-US" sz="1150" dirty="0"/>
          </a:p>
        </p:txBody>
      </p:sp>
      <p:sp>
        <p:nvSpPr>
          <p:cNvPr id="10" name="Shape 6"/>
          <p:cNvSpPr/>
          <p:nvPr/>
        </p:nvSpPr>
        <p:spPr>
          <a:xfrm>
            <a:off x="3246120" y="1143000"/>
            <a:ext cx="2651760" cy="1005840"/>
          </a:xfrm>
          <a:prstGeom prst="roundRect">
            <a:avLst>
              <a:gd name="adj" fmla="val 7273"/>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1" name="Shape 7"/>
          <p:cNvSpPr/>
          <p:nvPr/>
        </p:nvSpPr>
        <p:spPr>
          <a:xfrm>
            <a:off x="3246120" y="1252728"/>
            <a:ext cx="64008" cy="786384"/>
          </a:xfrm>
          <a:prstGeom prst="rect">
            <a:avLst/>
          </a:prstGeom>
          <a:solidFill>
            <a:schemeClr val="accent2"/>
          </a:solidFill>
          <a:ln w="12700">
            <a:solidFill>
              <a:schemeClr val="accent2"/>
            </a:solidFill>
            <a:prstDash val="solid"/>
          </a:ln>
        </p:spPr>
      </p:sp>
      <p:sp>
        <p:nvSpPr>
          <p:cNvPr id="12" name="Text 8"/>
          <p:cNvSpPr txBox="1"/>
          <p:nvPr/>
        </p:nvSpPr>
        <p:spPr>
          <a:xfrm>
            <a:off x="3429000" y="1234440"/>
            <a:ext cx="2377440" cy="274320"/>
          </a:xfrm>
          <a:prstGeom prst="rect">
            <a:avLst/>
          </a:prstGeom>
          <a:noFill/>
          <a:ln/>
        </p:spPr>
        <p:txBody>
          <a:bodyPr wrap="square" lIns="0" tIns="0" rIns="0" bIns="0" rtlCol="0" anchor="t"/>
          <a:lstStyle/>
          <a:p>
            <a:pPr indent="0" marL="0">
              <a:buNone/>
            </a:pPr>
            <a:r>
              <a:rPr lang="en-US" sz="1350" b="1" dirty="0">
                <a:solidFill>
                  <a:schemeClr val="tx2"/>
                </a:solidFill>
              </a:rPr>
              <a:t>Keys</a:t>
            </a:r>
            <a:endParaRPr lang="en-US" sz="1350" dirty="0"/>
          </a:p>
        </p:txBody>
      </p:sp>
      <p:sp>
        <p:nvSpPr>
          <p:cNvPr id="13" name="Text 9"/>
          <p:cNvSpPr txBox="1"/>
          <p:nvPr/>
        </p:nvSpPr>
        <p:spPr>
          <a:xfrm>
            <a:off x="3429000" y="1554480"/>
            <a:ext cx="2377440" cy="548640"/>
          </a:xfrm>
          <a:prstGeom prst="rect">
            <a:avLst/>
          </a:prstGeom>
          <a:noFill/>
          <a:ln/>
        </p:spPr>
        <p:txBody>
          <a:bodyPr wrap="square" lIns="0" tIns="0" rIns="0" bIns="0" rtlCol="0" anchor="t"/>
          <a:lstStyle/>
          <a:p>
            <a:pPr indent="0" marL="0">
              <a:buNone/>
            </a:pPr>
            <a:r>
              <a:rPr lang="en-US" sz="1150" dirty="0">
                <a:solidFill>
                  <a:schemeClr val="tx1"/>
                </a:solidFill>
              </a:rPr>
              <a:t>16 primary keys, 17 foreign keys</a:t>
            </a:r>
            <a:endParaRPr lang="en-US" sz="1150" dirty="0"/>
          </a:p>
        </p:txBody>
      </p:sp>
      <p:sp>
        <p:nvSpPr>
          <p:cNvPr id="14" name="Shape 10"/>
          <p:cNvSpPr/>
          <p:nvPr/>
        </p:nvSpPr>
        <p:spPr>
          <a:xfrm>
            <a:off x="6035040" y="1143000"/>
            <a:ext cx="2651760" cy="1005840"/>
          </a:xfrm>
          <a:prstGeom prst="roundRect">
            <a:avLst>
              <a:gd name="adj" fmla="val 7273"/>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5" name="Shape 11"/>
          <p:cNvSpPr/>
          <p:nvPr/>
        </p:nvSpPr>
        <p:spPr>
          <a:xfrm>
            <a:off x="6035040" y="1252728"/>
            <a:ext cx="64008" cy="786384"/>
          </a:xfrm>
          <a:prstGeom prst="rect">
            <a:avLst/>
          </a:prstGeom>
          <a:solidFill>
            <a:schemeClr val="accent2"/>
          </a:solidFill>
          <a:ln w="12700">
            <a:solidFill>
              <a:schemeClr val="accent2"/>
            </a:solidFill>
            <a:prstDash val="solid"/>
          </a:ln>
        </p:spPr>
      </p:sp>
      <p:sp>
        <p:nvSpPr>
          <p:cNvPr id="16" name="Text 12"/>
          <p:cNvSpPr txBox="1"/>
          <p:nvPr/>
        </p:nvSpPr>
        <p:spPr>
          <a:xfrm>
            <a:off x="6217920" y="1234440"/>
            <a:ext cx="2377440" cy="274320"/>
          </a:xfrm>
          <a:prstGeom prst="rect">
            <a:avLst/>
          </a:prstGeom>
          <a:noFill/>
          <a:ln/>
        </p:spPr>
        <p:txBody>
          <a:bodyPr wrap="square" lIns="0" tIns="0" rIns="0" bIns="0" rtlCol="0" anchor="t"/>
          <a:lstStyle/>
          <a:p>
            <a:pPr indent="0" marL="0">
              <a:buNone/>
            </a:pPr>
            <a:r>
              <a:rPr lang="en-US" sz="1350" b="1" dirty="0">
                <a:solidFill>
                  <a:schemeClr val="tx2"/>
                </a:solidFill>
              </a:rPr>
              <a:t>Constraints</a:t>
            </a:r>
            <a:endParaRPr lang="en-US" sz="1350" dirty="0"/>
          </a:p>
        </p:txBody>
      </p:sp>
      <p:sp>
        <p:nvSpPr>
          <p:cNvPr id="17" name="Text 13"/>
          <p:cNvSpPr txBox="1"/>
          <p:nvPr/>
        </p:nvSpPr>
        <p:spPr>
          <a:xfrm>
            <a:off x="6217920" y="1554480"/>
            <a:ext cx="2377440" cy="548640"/>
          </a:xfrm>
          <a:prstGeom prst="rect">
            <a:avLst/>
          </a:prstGeom>
          <a:noFill/>
          <a:ln/>
        </p:spPr>
        <p:txBody>
          <a:bodyPr wrap="square" lIns="0" tIns="0" rIns="0" bIns="0" rtlCol="0" anchor="t"/>
          <a:lstStyle/>
          <a:p>
            <a:pPr indent="0" marL="0">
              <a:buNone/>
            </a:pPr>
            <a:r>
              <a:rPr lang="en-US" sz="1150" dirty="0">
                <a:solidFill>
                  <a:schemeClr val="tx1"/>
                </a:solidFill>
              </a:rPr>
              <a:t>UNIQUE, CHECK, NOT NULL, DEFAULT</a:t>
            </a:r>
            <a:endParaRPr lang="en-US" sz="1150" dirty="0"/>
          </a:p>
        </p:txBody>
      </p:sp>
      <p:sp>
        <p:nvSpPr>
          <p:cNvPr id="18" name="Shape 14"/>
          <p:cNvSpPr/>
          <p:nvPr/>
        </p:nvSpPr>
        <p:spPr>
          <a:xfrm>
            <a:off x="457200" y="2286000"/>
            <a:ext cx="2651760" cy="1005840"/>
          </a:xfrm>
          <a:prstGeom prst="roundRect">
            <a:avLst>
              <a:gd name="adj" fmla="val 7273"/>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9" name="Shape 15"/>
          <p:cNvSpPr/>
          <p:nvPr/>
        </p:nvSpPr>
        <p:spPr>
          <a:xfrm>
            <a:off x="457200" y="2395728"/>
            <a:ext cx="64008" cy="786384"/>
          </a:xfrm>
          <a:prstGeom prst="rect">
            <a:avLst/>
          </a:prstGeom>
          <a:solidFill>
            <a:schemeClr val="accent2"/>
          </a:solidFill>
          <a:ln w="12700">
            <a:solidFill>
              <a:schemeClr val="accent2"/>
            </a:solidFill>
            <a:prstDash val="solid"/>
          </a:ln>
        </p:spPr>
      </p:sp>
      <p:sp>
        <p:nvSpPr>
          <p:cNvPr id="20" name="Text 16"/>
          <p:cNvSpPr txBox="1"/>
          <p:nvPr/>
        </p:nvSpPr>
        <p:spPr>
          <a:xfrm>
            <a:off x="640080" y="2377440"/>
            <a:ext cx="2377440" cy="274320"/>
          </a:xfrm>
          <a:prstGeom prst="rect">
            <a:avLst/>
          </a:prstGeom>
          <a:noFill/>
          <a:ln/>
        </p:spPr>
        <p:txBody>
          <a:bodyPr wrap="square" lIns="0" tIns="0" rIns="0" bIns="0" rtlCol="0" anchor="t"/>
          <a:lstStyle/>
          <a:p>
            <a:pPr indent="0" marL="0">
              <a:buNone/>
            </a:pPr>
            <a:r>
              <a:rPr lang="en-US" sz="1350" b="1" dirty="0">
                <a:solidFill>
                  <a:schemeClr val="tx2"/>
                </a:solidFill>
              </a:rPr>
              <a:t>Referential actions</a:t>
            </a:r>
            <a:endParaRPr lang="en-US" sz="1350" dirty="0"/>
          </a:p>
        </p:txBody>
      </p:sp>
      <p:sp>
        <p:nvSpPr>
          <p:cNvPr id="21" name="Text 17"/>
          <p:cNvSpPr txBox="1"/>
          <p:nvPr/>
        </p:nvSpPr>
        <p:spPr>
          <a:xfrm>
            <a:off x="640080" y="2697480"/>
            <a:ext cx="2377440" cy="548640"/>
          </a:xfrm>
          <a:prstGeom prst="rect">
            <a:avLst/>
          </a:prstGeom>
          <a:noFill/>
          <a:ln/>
        </p:spPr>
        <p:txBody>
          <a:bodyPr wrap="square" lIns="0" tIns="0" rIns="0" bIns="0" rtlCol="0" anchor="t"/>
          <a:lstStyle/>
          <a:p>
            <a:pPr indent="0" marL="0">
              <a:buNone/>
            </a:pPr>
            <a:r>
              <a:rPr lang="en-US" sz="1150" dirty="0">
                <a:solidFill>
                  <a:schemeClr val="tx1"/>
                </a:solidFill>
              </a:rPr>
              <a:t>RESTRICT for history, CASCADE for inputs</a:t>
            </a:r>
            <a:endParaRPr lang="en-US" sz="1150" dirty="0"/>
          </a:p>
        </p:txBody>
      </p:sp>
      <p:sp>
        <p:nvSpPr>
          <p:cNvPr id="22" name="Shape 18"/>
          <p:cNvSpPr/>
          <p:nvPr/>
        </p:nvSpPr>
        <p:spPr>
          <a:xfrm>
            <a:off x="3246120" y="2286000"/>
            <a:ext cx="2651760" cy="1005840"/>
          </a:xfrm>
          <a:prstGeom prst="roundRect">
            <a:avLst>
              <a:gd name="adj" fmla="val 7273"/>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3" name="Shape 19"/>
          <p:cNvSpPr/>
          <p:nvPr/>
        </p:nvSpPr>
        <p:spPr>
          <a:xfrm>
            <a:off x="3246120" y="2395728"/>
            <a:ext cx="64008" cy="786384"/>
          </a:xfrm>
          <a:prstGeom prst="rect">
            <a:avLst/>
          </a:prstGeom>
          <a:solidFill>
            <a:schemeClr val="accent2"/>
          </a:solidFill>
          <a:ln w="12700">
            <a:solidFill>
              <a:schemeClr val="accent2"/>
            </a:solidFill>
            <a:prstDash val="solid"/>
          </a:ln>
        </p:spPr>
      </p:sp>
      <p:sp>
        <p:nvSpPr>
          <p:cNvPr id="24" name="Text 20"/>
          <p:cNvSpPr txBox="1"/>
          <p:nvPr/>
        </p:nvSpPr>
        <p:spPr>
          <a:xfrm>
            <a:off x="3429000" y="2377440"/>
            <a:ext cx="2377440" cy="274320"/>
          </a:xfrm>
          <a:prstGeom prst="rect">
            <a:avLst/>
          </a:prstGeom>
          <a:noFill/>
          <a:ln/>
        </p:spPr>
        <p:txBody>
          <a:bodyPr wrap="square" lIns="0" tIns="0" rIns="0" bIns="0" rtlCol="0" anchor="t"/>
          <a:lstStyle/>
          <a:p>
            <a:pPr indent="0" marL="0">
              <a:buNone/>
            </a:pPr>
            <a:r>
              <a:rPr lang="en-US" sz="1350" b="1" dirty="0">
                <a:solidFill>
                  <a:schemeClr val="tx2"/>
                </a:solidFill>
              </a:rPr>
              <a:t>Transactions</a:t>
            </a:r>
            <a:endParaRPr lang="en-US" sz="1350" dirty="0"/>
          </a:p>
        </p:txBody>
      </p:sp>
      <p:sp>
        <p:nvSpPr>
          <p:cNvPr id="25" name="Text 21"/>
          <p:cNvSpPr txBox="1"/>
          <p:nvPr/>
        </p:nvSpPr>
        <p:spPr>
          <a:xfrm>
            <a:off x="3429000" y="2697480"/>
            <a:ext cx="2377440" cy="548640"/>
          </a:xfrm>
          <a:prstGeom prst="rect">
            <a:avLst/>
          </a:prstGeom>
          <a:noFill/>
          <a:ln/>
        </p:spPr>
        <p:txBody>
          <a:bodyPr wrap="square" lIns="0" tIns="0" rIns="0" bIns="0" rtlCol="0" anchor="t"/>
          <a:lstStyle/>
          <a:p>
            <a:pPr indent="0" marL="0">
              <a:buNone/>
            </a:pPr>
            <a:r>
              <a:rPr lang="en-US" sz="1150" dirty="0">
                <a:solidFill>
                  <a:schemeClr val="tx1"/>
                </a:solidFill>
              </a:rPr>
              <a:t>atomic payroll run: commit or rollback</a:t>
            </a:r>
            <a:endParaRPr lang="en-US" sz="1150" dirty="0"/>
          </a:p>
        </p:txBody>
      </p:sp>
      <p:sp>
        <p:nvSpPr>
          <p:cNvPr id="26" name="Shape 22"/>
          <p:cNvSpPr/>
          <p:nvPr/>
        </p:nvSpPr>
        <p:spPr>
          <a:xfrm>
            <a:off x="6035040" y="2286000"/>
            <a:ext cx="2651760" cy="1005840"/>
          </a:xfrm>
          <a:prstGeom prst="roundRect">
            <a:avLst>
              <a:gd name="adj" fmla="val 7273"/>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7" name="Shape 23"/>
          <p:cNvSpPr/>
          <p:nvPr/>
        </p:nvSpPr>
        <p:spPr>
          <a:xfrm>
            <a:off x="6035040" y="2395728"/>
            <a:ext cx="64008" cy="786384"/>
          </a:xfrm>
          <a:prstGeom prst="rect">
            <a:avLst/>
          </a:prstGeom>
          <a:solidFill>
            <a:schemeClr val="accent2"/>
          </a:solidFill>
          <a:ln w="12700">
            <a:solidFill>
              <a:schemeClr val="accent2"/>
            </a:solidFill>
            <a:prstDash val="solid"/>
          </a:ln>
        </p:spPr>
      </p:sp>
      <p:sp>
        <p:nvSpPr>
          <p:cNvPr id="28" name="Text 24"/>
          <p:cNvSpPr txBox="1"/>
          <p:nvPr/>
        </p:nvSpPr>
        <p:spPr>
          <a:xfrm>
            <a:off x="6217920" y="2377440"/>
            <a:ext cx="2377440" cy="274320"/>
          </a:xfrm>
          <a:prstGeom prst="rect">
            <a:avLst/>
          </a:prstGeom>
          <a:noFill/>
          <a:ln/>
        </p:spPr>
        <p:txBody>
          <a:bodyPr wrap="square" lIns="0" tIns="0" rIns="0" bIns="0" rtlCol="0" anchor="t"/>
          <a:lstStyle/>
          <a:p>
            <a:pPr indent="0" marL="0">
              <a:buNone/>
            </a:pPr>
            <a:r>
              <a:rPr lang="en-US" sz="1350" b="1" dirty="0">
                <a:solidFill>
                  <a:schemeClr val="tx2"/>
                </a:solidFill>
              </a:rPr>
              <a:t>Joins</a:t>
            </a:r>
            <a:endParaRPr lang="en-US" sz="1350" dirty="0"/>
          </a:p>
        </p:txBody>
      </p:sp>
      <p:sp>
        <p:nvSpPr>
          <p:cNvPr id="29" name="Text 25"/>
          <p:cNvSpPr txBox="1"/>
          <p:nvPr/>
        </p:nvSpPr>
        <p:spPr>
          <a:xfrm>
            <a:off x="6217920" y="2697480"/>
            <a:ext cx="2377440" cy="548640"/>
          </a:xfrm>
          <a:prstGeom prst="rect">
            <a:avLst/>
          </a:prstGeom>
          <a:noFill/>
          <a:ln/>
        </p:spPr>
        <p:txBody>
          <a:bodyPr wrap="square" lIns="0" tIns="0" rIns="0" bIns="0" rtlCol="0" anchor="t"/>
          <a:lstStyle/>
          <a:p>
            <a:pPr indent="0" marL="0">
              <a:buNone/>
            </a:pPr>
            <a:r>
              <a:rPr lang="en-US" sz="1150" dirty="0">
                <a:solidFill>
                  <a:schemeClr val="tx1"/>
                </a:solidFill>
              </a:rPr>
              <a:t>INNER, LEFT, multi-table payslip join</a:t>
            </a:r>
            <a:endParaRPr lang="en-US" sz="1150" dirty="0"/>
          </a:p>
        </p:txBody>
      </p:sp>
      <p:sp>
        <p:nvSpPr>
          <p:cNvPr id="30" name="Shape 26"/>
          <p:cNvSpPr/>
          <p:nvPr/>
        </p:nvSpPr>
        <p:spPr>
          <a:xfrm>
            <a:off x="457200" y="3429000"/>
            <a:ext cx="2651760" cy="1005840"/>
          </a:xfrm>
          <a:prstGeom prst="roundRect">
            <a:avLst>
              <a:gd name="adj" fmla="val 7273"/>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31" name="Shape 27"/>
          <p:cNvSpPr/>
          <p:nvPr/>
        </p:nvSpPr>
        <p:spPr>
          <a:xfrm>
            <a:off x="457200" y="3538728"/>
            <a:ext cx="64008" cy="786384"/>
          </a:xfrm>
          <a:prstGeom prst="rect">
            <a:avLst/>
          </a:prstGeom>
          <a:solidFill>
            <a:schemeClr val="accent2"/>
          </a:solidFill>
          <a:ln w="12700">
            <a:solidFill>
              <a:schemeClr val="accent2"/>
            </a:solidFill>
            <a:prstDash val="solid"/>
          </a:ln>
        </p:spPr>
      </p:sp>
      <p:sp>
        <p:nvSpPr>
          <p:cNvPr id="32" name="Text 28"/>
          <p:cNvSpPr txBox="1"/>
          <p:nvPr/>
        </p:nvSpPr>
        <p:spPr>
          <a:xfrm>
            <a:off x="640080" y="3520440"/>
            <a:ext cx="2377440" cy="274320"/>
          </a:xfrm>
          <a:prstGeom prst="rect">
            <a:avLst/>
          </a:prstGeom>
          <a:noFill/>
          <a:ln/>
        </p:spPr>
        <p:txBody>
          <a:bodyPr wrap="square" lIns="0" tIns="0" rIns="0" bIns="0" rtlCol="0" anchor="t"/>
          <a:lstStyle/>
          <a:p>
            <a:pPr indent="0" marL="0">
              <a:buNone/>
            </a:pPr>
            <a:r>
              <a:rPr lang="en-US" sz="1350" b="1" dirty="0">
                <a:solidFill>
                  <a:schemeClr val="tx2"/>
                </a:solidFill>
              </a:rPr>
              <a:t>Subqueries</a:t>
            </a:r>
            <a:endParaRPr lang="en-US" sz="1350" dirty="0"/>
          </a:p>
        </p:txBody>
      </p:sp>
      <p:sp>
        <p:nvSpPr>
          <p:cNvPr id="33" name="Text 29"/>
          <p:cNvSpPr txBox="1"/>
          <p:nvPr/>
        </p:nvSpPr>
        <p:spPr>
          <a:xfrm>
            <a:off x="640080" y="3840480"/>
            <a:ext cx="2377440" cy="548640"/>
          </a:xfrm>
          <a:prstGeom prst="rect">
            <a:avLst/>
          </a:prstGeom>
          <a:noFill/>
          <a:ln/>
        </p:spPr>
        <p:txBody>
          <a:bodyPr wrap="square" lIns="0" tIns="0" rIns="0" bIns="0" rtlCol="0" anchor="t"/>
          <a:lstStyle/>
          <a:p>
            <a:pPr indent="0" marL="0">
              <a:buNone/>
            </a:pPr>
            <a:r>
              <a:rPr lang="en-US" sz="1150" dirty="0">
                <a:solidFill>
                  <a:schemeClr val="tx1"/>
                </a:solidFill>
              </a:rPr>
              <a:t>scalar, IN, EXISTS, correlated, derived</a:t>
            </a:r>
            <a:endParaRPr lang="en-US" sz="1150" dirty="0"/>
          </a:p>
        </p:txBody>
      </p:sp>
      <p:sp>
        <p:nvSpPr>
          <p:cNvPr id="34" name="Shape 30"/>
          <p:cNvSpPr/>
          <p:nvPr/>
        </p:nvSpPr>
        <p:spPr>
          <a:xfrm>
            <a:off x="3246120" y="3429000"/>
            <a:ext cx="2651760" cy="1005840"/>
          </a:xfrm>
          <a:prstGeom prst="roundRect">
            <a:avLst>
              <a:gd name="adj" fmla="val 7273"/>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35" name="Shape 31"/>
          <p:cNvSpPr/>
          <p:nvPr/>
        </p:nvSpPr>
        <p:spPr>
          <a:xfrm>
            <a:off x="3246120" y="3538728"/>
            <a:ext cx="64008" cy="786384"/>
          </a:xfrm>
          <a:prstGeom prst="rect">
            <a:avLst/>
          </a:prstGeom>
          <a:solidFill>
            <a:schemeClr val="accent2"/>
          </a:solidFill>
          <a:ln w="12700">
            <a:solidFill>
              <a:schemeClr val="accent2"/>
            </a:solidFill>
            <a:prstDash val="solid"/>
          </a:ln>
        </p:spPr>
      </p:sp>
      <p:sp>
        <p:nvSpPr>
          <p:cNvPr id="36" name="Text 32"/>
          <p:cNvSpPr txBox="1"/>
          <p:nvPr/>
        </p:nvSpPr>
        <p:spPr>
          <a:xfrm>
            <a:off x="3429000" y="3520440"/>
            <a:ext cx="2377440" cy="274320"/>
          </a:xfrm>
          <a:prstGeom prst="rect">
            <a:avLst/>
          </a:prstGeom>
          <a:noFill/>
          <a:ln/>
        </p:spPr>
        <p:txBody>
          <a:bodyPr wrap="square" lIns="0" tIns="0" rIns="0" bIns="0" rtlCol="0" anchor="t"/>
          <a:lstStyle/>
          <a:p>
            <a:pPr indent="0" marL="0">
              <a:buNone/>
            </a:pPr>
            <a:r>
              <a:rPr lang="en-US" sz="1350" b="1" dirty="0">
                <a:solidFill>
                  <a:schemeClr val="tx2"/>
                </a:solidFill>
              </a:rPr>
              <a:t>Aggregates</a:t>
            </a:r>
            <a:endParaRPr lang="en-US" sz="1350" dirty="0"/>
          </a:p>
        </p:txBody>
      </p:sp>
      <p:sp>
        <p:nvSpPr>
          <p:cNvPr id="37" name="Text 33"/>
          <p:cNvSpPr txBox="1"/>
          <p:nvPr/>
        </p:nvSpPr>
        <p:spPr>
          <a:xfrm>
            <a:off x="3429000" y="3840480"/>
            <a:ext cx="2377440" cy="548640"/>
          </a:xfrm>
          <a:prstGeom prst="rect">
            <a:avLst/>
          </a:prstGeom>
          <a:noFill/>
          <a:ln/>
        </p:spPr>
        <p:txBody>
          <a:bodyPr wrap="square" lIns="0" tIns="0" rIns="0" bIns="0" rtlCol="0" anchor="t"/>
          <a:lstStyle/>
          <a:p>
            <a:pPr indent="0" marL="0">
              <a:buNone/>
            </a:pPr>
            <a:r>
              <a:rPr lang="en-US" sz="1150" dirty="0">
                <a:solidFill>
                  <a:schemeClr val="tx1"/>
                </a:solidFill>
              </a:rPr>
              <a:t>SUM, COUNT, AVG with GROUP BY, HAVING</a:t>
            </a:r>
            <a:endParaRPr lang="en-US" sz="1150" dirty="0"/>
          </a:p>
        </p:txBody>
      </p:sp>
      <p:sp>
        <p:nvSpPr>
          <p:cNvPr id="38" name="Shape 34"/>
          <p:cNvSpPr/>
          <p:nvPr/>
        </p:nvSpPr>
        <p:spPr>
          <a:xfrm>
            <a:off x="6035040" y="3429000"/>
            <a:ext cx="2651760" cy="1005840"/>
          </a:xfrm>
          <a:prstGeom prst="roundRect">
            <a:avLst>
              <a:gd name="adj" fmla="val 7273"/>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39" name="Shape 35"/>
          <p:cNvSpPr/>
          <p:nvPr/>
        </p:nvSpPr>
        <p:spPr>
          <a:xfrm>
            <a:off x="6035040" y="3538728"/>
            <a:ext cx="64008" cy="786384"/>
          </a:xfrm>
          <a:prstGeom prst="rect">
            <a:avLst/>
          </a:prstGeom>
          <a:solidFill>
            <a:schemeClr val="accent2"/>
          </a:solidFill>
          <a:ln w="12700">
            <a:solidFill>
              <a:schemeClr val="accent2"/>
            </a:solidFill>
            <a:prstDash val="solid"/>
          </a:ln>
        </p:spPr>
      </p:sp>
      <p:sp>
        <p:nvSpPr>
          <p:cNvPr id="40" name="Text 36"/>
          <p:cNvSpPr txBox="1"/>
          <p:nvPr/>
        </p:nvSpPr>
        <p:spPr>
          <a:xfrm>
            <a:off x="6217920" y="3520440"/>
            <a:ext cx="2377440" cy="274320"/>
          </a:xfrm>
          <a:prstGeom prst="rect">
            <a:avLst/>
          </a:prstGeom>
          <a:noFill/>
          <a:ln/>
        </p:spPr>
        <p:txBody>
          <a:bodyPr wrap="square" lIns="0" tIns="0" rIns="0" bIns="0" rtlCol="0" anchor="t"/>
          <a:lstStyle/>
          <a:p>
            <a:pPr indent="0" marL="0">
              <a:buNone/>
            </a:pPr>
            <a:r>
              <a:rPr lang="en-US" sz="1350" b="1" dirty="0">
                <a:solidFill>
                  <a:schemeClr val="tx2"/>
                </a:solidFill>
              </a:rPr>
              <a:t>Triggers, views, indexes</a:t>
            </a:r>
            <a:endParaRPr lang="en-US" sz="1350" dirty="0"/>
          </a:p>
        </p:txBody>
      </p:sp>
      <p:sp>
        <p:nvSpPr>
          <p:cNvPr id="41" name="Text 37"/>
          <p:cNvSpPr txBox="1"/>
          <p:nvPr/>
        </p:nvSpPr>
        <p:spPr>
          <a:xfrm>
            <a:off x="6217920" y="3840480"/>
            <a:ext cx="2377440" cy="548640"/>
          </a:xfrm>
          <a:prstGeom prst="rect">
            <a:avLst/>
          </a:prstGeom>
          <a:noFill/>
          <a:ln/>
        </p:spPr>
        <p:txBody>
          <a:bodyPr wrap="square" lIns="0" tIns="0" rIns="0" bIns="0" rtlCol="0" anchor="t"/>
          <a:lstStyle/>
          <a:p>
            <a:pPr indent="0" marL="0">
              <a:buNone/>
            </a:pPr>
            <a:r>
              <a:rPr lang="en-US" sz="1150" dirty="0">
                <a:solidFill>
                  <a:schemeClr val="tx1"/>
                </a:solidFill>
              </a:rPr>
              <a:t>6 triggers, 3 views, 8 indexes</a:t>
            </a:r>
            <a:endParaRPr lang="en-US" sz="11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Viva Readiness: Likely Questions</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57200" y="1097280"/>
            <a:ext cx="8229600" cy="621792"/>
          </a:xfrm>
          <a:prstGeom prst="roundRect">
            <a:avLst>
              <a:gd name="adj" fmla="val 11765"/>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7" name="Shape 3"/>
          <p:cNvSpPr/>
          <p:nvPr/>
        </p:nvSpPr>
        <p:spPr>
          <a:xfrm>
            <a:off x="457200" y="1188720"/>
            <a:ext cx="64008" cy="438912"/>
          </a:xfrm>
          <a:prstGeom prst="rect">
            <a:avLst/>
          </a:prstGeom>
          <a:solidFill>
            <a:schemeClr val="accent2"/>
          </a:solidFill>
          <a:ln w="12700">
            <a:solidFill>
              <a:schemeClr val="accent2"/>
            </a:solidFill>
            <a:prstDash val="solid"/>
          </a:ln>
        </p:spPr>
      </p:sp>
      <p:sp>
        <p:nvSpPr>
          <p:cNvPr id="8" name="Text 4"/>
          <p:cNvSpPr txBox="1"/>
          <p:nvPr/>
        </p:nvSpPr>
        <p:spPr>
          <a:xfrm>
            <a:off x="658368" y="1133856"/>
            <a:ext cx="3200400" cy="548640"/>
          </a:xfrm>
          <a:prstGeom prst="rect">
            <a:avLst/>
          </a:prstGeom>
          <a:noFill/>
          <a:ln/>
        </p:spPr>
        <p:txBody>
          <a:bodyPr wrap="square" lIns="0" tIns="0" rIns="0" bIns="0" rtlCol="0" anchor="ctr"/>
          <a:lstStyle/>
          <a:p>
            <a:pPr indent="0" marL="0">
              <a:buNone/>
            </a:pPr>
            <a:r>
              <a:rPr lang="en-US" sz="1200" b="1" dirty="0">
                <a:solidFill>
                  <a:schemeClr val="tx2"/>
                </a:solidFill>
              </a:rPr>
              <a:t>Why store payroll_detail if it can be calculated?</a:t>
            </a:r>
            <a:endParaRPr lang="en-US" sz="1200" dirty="0"/>
          </a:p>
        </p:txBody>
      </p:sp>
      <p:sp>
        <p:nvSpPr>
          <p:cNvPr id="9" name="Text 5"/>
          <p:cNvSpPr txBox="1"/>
          <p:nvPr/>
        </p:nvSpPr>
        <p:spPr>
          <a:xfrm>
            <a:off x="3931920" y="1133856"/>
            <a:ext cx="4663440" cy="548640"/>
          </a:xfrm>
          <a:prstGeom prst="rect">
            <a:avLst/>
          </a:prstGeom>
          <a:noFill/>
          <a:ln/>
        </p:spPr>
        <p:txBody>
          <a:bodyPr wrap="square" lIns="0" tIns="0" rIns="0" bIns="0" rtlCol="0" anchor="ctr"/>
          <a:lstStyle/>
          <a:p>
            <a:pPr indent="0" marL="0">
              <a:buNone/>
            </a:pPr>
            <a:r>
              <a:rPr lang="en-US" sz="1150" dirty="0">
                <a:solidFill>
                  <a:schemeClr val="tx1"/>
                </a:solidFill>
              </a:rPr>
              <a:t>A payslip must not change when salaries or rates are edited later: it is a deliberate snapshot.</a:t>
            </a:r>
            <a:endParaRPr lang="en-US" sz="1150" dirty="0"/>
          </a:p>
        </p:txBody>
      </p:sp>
      <p:sp>
        <p:nvSpPr>
          <p:cNvPr id="10" name="Shape 6"/>
          <p:cNvSpPr/>
          <p:nvPr/>
        </p:nvSpPr>
        <p:spPr>
          <a:xfrm>
            <a:off x="457200" y="1810512"/>
            <a:ext cx="8229600" cy="621792"/>
          </a:xfrm>
          <a:prstGeom prst="roundRect">
            <a:avLst>
              <a:gd name="adj" fmla="val 11765"/>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1" name="Shape 7"/>
          <p:cNvSpPr/>
          <p:nvPr/>
        </p:nvSpPr>
        <p:spPr>
          <a:xfrm>
            <a:off x="457200" y="1901952"/>
            <a:ext cx="64008" cy="438912"/>
          </a:xfrm>
          <a:prstGeom prst="rect">
            <a:avLst/>
          </a:prstGeom>
          <a:solidFill>
            <a:schemeClr val="accent2"/>
          </a:solidFill>
          <a:ln w="12700">
            <a:solidFill>
              <a:schemeClr val="accent2"/>
            </a:solidFill>
            <a:prstDash val="solid"/>
          </a:ln>
        </p:spPr>
      </p:sp>
      <p:sp>
        <p:nvSpPr>
          <p:cNvPr id="12" name="Text 8"/>
          <p:cNvSpPr txBox="1"/>
          <p:nvPr/>
        </p:nvSpPr>
        <p:spPr>
          <a:xfrm>
            <a:off x="658368" y="1847088"/>
            <a:ext cx="3200400" cy="548640"/>
          </a:xfrm>
          <a:prstGeom prst="rect">
            <a:avLst/>
          </a:prstGeom>
          <a:noFill/>
          <a:ln/>
        </p:spPr>
        <p:txBody>
          <a:bodyPr wrap="square" lIns="0" tIns="0" rIns="0" bIns="0" rtlCol="0" anchor="ctr"/>
          <a:lstStyle/>
          <a:p>
            <a:pPr indent="0" marL="0">
              <a:buNone/>
            </a:pPr>
            <a:r>
              <a:rPr lang="en-US" sz="1200" b="1" dirty="0">
                <a:solidFill>
                  <a:schemeClr val="tx2"/>
                </a:solidFill>
              </a:rPr>
              <a:t>Why triggers if the app already locks periods?</a:t>
            </a:r>
            <a:endParaRPr lang="en-US" sz="1200" dirty="0"/>
          </a:p>
        </p:txBody>
      </p:sp>
      <p:sp>
        <p:nvSpPr>
          <p:cNvPr id="13" name="Text 9"/>
          <p:cNvSpPr txBox="1"/>
          <p:nvPr/>
        </p:nvSpPr>
        <p:spPr>
          <a:xfrm>
            <a:off x="3931920" y="1847088"/>
            <a:ext cx="4663440" cy="548640"/>
          </a:xfrm>
          <a:prstGeom prst="rect">
            <a:avLst/>
          </a:prstGeom>
          <a:noFill/>
          <a:ln/>
        </p:spPr>
        <p:txBody>
          <a:bodyPr wrap="square" lIns="0" tIns="0" rIns="0" bIns="0" rtlCol="0" anchor="ctr"/>
          <a:lstStyle/>
          <a:p>
            <a:pPr indent="0" marL="0">
              <a:buNone/>
            </a:pPr>
            <a:r>
              <a:rPr lang="en-US" sz="1150" dirty="0">
                <a:solidFill>
                  <a:schemeClr val="tx1"/>
                </a:solidFill>
              </a:rPr>
              <a:t>The database stays protected even if someone bypasses the app: paid payroll rows cannot be changed.</a:t>
            </a:r>
            <a:endParaRPr lang="en-US" sz="1150" dirty="0"/>
          </a:p>
        </p:txBody>
      </p:sp>
      <p:sp>
        <p:nvSpPr>
          <p:cNvPr id="14" name="Shape 10"/>
          <p:cNvSpPr/>
          <p:nvPr/>
        </p:nvSpPr>
        <p:spPr>
          <a:xfrm>
            <a:off x="457200" y="2523744"/>
            <a:ext cx="8229600" cy="621792"/>
          </a:xfrm>
          <a:prstGeom prst="roundRect">
            <a:avLst>
              <a:gd name="adj" fmla="val 11765"/>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5" name="Shape 11"/>
          <p:cNvSpPr/>
          <p:nvPr/>
        </p:nvSpPr>
        <p:spPr>
          <a:xfrm>
            <a:off x="457200" y="2615184"/>
            <a:ext cx="64008" cy="438912"/>
          </a:xfrm>
          <a:prstGeom prst="rect">
            <a:avLst/>
          </a:prstGeom>
          <a:solidFill>
            <a:schemeClr val="accent2"/>
          </a:solidFill>
          <a:ln w="12700">
            <a:solidFill>
              <a:schemeClr val="accent2"/>
            </a:solidFill>
            <a:prstDash val="solid"/>
          </a:ln>
        </p:spPr>
      </p:sp>
      <p:sp>
        <p:nvSpPr>
          <p:cNvPr id="16" name="Text 12"/>
          <p:cNvSpPr txBox="1"/>
          <p:nvPr/>
        </p:nvSpPr>
        <p:spPr>
          <a:xfrm>
            <a:off x="658368" y="2560320"/>
            <a:ext cx="3200400" cy="548640"/>
          </a:xfrm>
          <a:prstGeom prst="rect">
            <a:avLst/>
          </a:prstGeom>
          <a:noFill/>
          <a:ln/>
        </p:spPr>
        <p:txBody>
          <a:bodyPr wrap="square" lIns="0" tIns="0" rIns="0" bIns="0" rtlCol="0" anchor="ctr"/>
          <a:lstStyle/>
          <a:p>
            <a:pPr indent="0" marL="0">
              <a:buNone/>
            </a:pPr>
            <a:r>
              <a:rPr lang="en-US" sz="1200" b="1" dirty="0">
                <a:solidFill>
                  <a:schemeClr val="tx2"/>
                </a:solidFill>
              </a:rPr>
              <a:t>How do you avoid a half-finished payroll?</a:t>
            </a:r>
            <a:endParaRPr lang="en-US" sz="1200" dirty="0"/>
          </a:p>
        </p:txBody>
      </p:sp>
      <p:sp>
        <p:nvSpPr>
          <p:cNvPr id="17" name="Text 13"/>
          <p:cNvSpPr txBox="1"/>
          <p:nvPr/>
        </p:nvSpPr>
        <p:spPr>
          <a:xfrm>
            <a:off x="3931920" y="2560320"/>
            <a:ext cx="4663440" cy="548640"/>
          </a:xfrm>
          <a:prstGeom prst="rect">
            <a:avLst/>
          </a:prstGeom>
          <a:noFill/>
          <a:ln/>
        </p:spPr>
        <p:txBody>
          <a:bodyPr wrap="square" lIns="0" tIns="0" rIns="0" bIns="0" rtlCol="0" anchor="ctr"/>
          <a:lstStyle/>
          <a:p>
            <a:pPr indent="0" marL="0">
              <a:buNone/>
            </a:pPr>
            <a:r>
              <a:rPr lang="en-US" sz="1150" dirty="0">
                <a:solidFill>
                  <a:schemeClr val="tx1"/>
                </a:solidFill>
              </a:rPr>
              <a:t>The whole run is one transaction; any error rolls back.</a:t>
            </a:r>
            <a:endParaRPr lang="en-US" sz="1150" dirty="0"/>
          </a:p>
        </p:txBody>
      </p:sp>
      <p:sp>
        <p:nvSpPr>
          <p:cNvPr id="18" name="Shape 14"/>
          <p:cNvSpPr/>
          <p:nvPr/>
        </p:nvSpPr>
        <p:spPr>
          <a:xfrm>
            <a:off x="457200" y="3236976"/>
            <a:ext cx="8229600" cy="621792"/>
          </a:xfrm>
          <a:prstGeom prst="roundRect">
            <a:avLst>
              <a:gd name="adj" fmla="val 11765"/>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19" name="Shape 15"/>
          <p:cNvSpPr/>
          <p:nvPr/>
        </p:nvSpPr>
        <p:spPr>
          <a:xfrm>
            <a:off x="457200" y="3328416"/>
            <a:ext cx="64008" cy="438912"/>
          </a:xfrm>
          <a:prstGeom prst="rect">
            <a:avLst/>
          </a:prstGeom>
          <a:solidFill>
            <a:schemeClr val="accent2"/>
          </a:solidFill>
          <a:ln w="12700">
            <a:solidFill>
              <a:schemeClr val="accent2"/>
            </a:solidFill>
            <a:prstDash val="solid"/>
          </a:ln>
        </p:spPr>
      </p:sp>
      <p:sp>
        <p:nvSpPr>
          <p:cNvPr id="20" name="Text 16"/>
          <p:cNvSpPr txBox="1"/>
          <p:nvPr/>
        </p:nvSpPr>
        <p:spPr>
          <a:xfrm>
            <a:off x="658368" y="3273552"/>
            <a:ext cx="3200400" cy="548640"/>
          </a:xfrm>
          <a:prstGeom prst="rect">
            <a:avLst/>
          </a:prstGeom>
          <a:noFill/>
          <a:ln/>
        </p:spPr>
        <p:txBody>
          <a:bodyPr wrap="square" lIns="0" tIns="0" rIns="0" bIns="0" rtlCol="0" anchor="ctr"/>
          <a:lstStyle/>
          <a:p>
            <a:pPr indent="0" marL="0">
              <a:buNone/>
            </a:pPr>
            <a:r>
              <a:rPr lang="en-US" sz="1200" b="1" dirty="0">
                <a:solidFill>
                  <a:schemeClr val="tx2"/>
                </a:solidFill>
              </a:rPr>
              <a:t>Are the rates official? Is the transfer real?</a:t>
            </a:r>
            <a:endParaRPr lang="en-US" sz="1200" dirty="0"/>
          </a:p>
        </p:txBody>
      </p:sp>
      <p:sp>
        <p:nvSpPr>
          <p:cNvPr id="21" name="Text 17"/>
          <p:cNvSpPr txBox="1"/>
          <p:nvPr/>
        </p:nvSpPr>
        <p:spPr>
          <a:xfrm>
            <a:off x="3931920" y="3273552"/>
            <a:ext cx="4663440" cy="548640"/>
          </a:xfrm>
          <a:prstGeom prst="rect">
            <a:avLst/>
          </a:prstGeom>
          <a:noFill/>
          <a:ln/>
        </p:spPr>
        <p:txBody>
          <a:bodyPr wrap="square" lIns="0" tIns="0" rIns="0" bIns="0" rtlCol="0" anchor="ctr"/>
          <a:lstStyle/>
          <a:p>
            <a:pPr indent="0" marL="0">
              <a:buNone/>
            </a:pPr>
            <a:r>
              <a:rPr lang="en-US" sz="1150" dirty="0">
                <a:solidFill>
                  <a:schemeClr val="tx1"/>
                </a:solidFill>
              </a:rPr>
              <a:t>No. Rates are illustrative and editable; transfers are simulated records.</a:t>
            </a:r>
            <a:endParaRPr lang="en-US" sz="1150" dirty="0"/>
          </a:p>
        </p:txBody>
      </p:sp>
      <p:sp>
        <p:nvSpPr>
          <p:cNvPr id="22" name="Shape 18"/>
          <p:cNvSpPr/>
          <p:nvPr/>
        </p:nvSpPr>
        <p:spPr>
          <a:xfrm>
            <a:off x="457200" y="3950208"/>
            <a:ext cx="8229600" cy="621792"/>
          </a:xfrm>
          <a:prstGeom prst="roundRect">
            <a:avLst>
              <a:gd name="adj" fmla="val 11765"/>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23" name="Shape 19"/>
          <p:cNvSpPr/>
          <p:nvPr/>
        </p:nvSpPr>
        <p:spPr>
          <a:xfrm>
            <a:off x="457200" y="4041648"/>
            <a:ext cx="64008" cy="438912"/>
          </a:xfrm>
          <a:prstGeom prst="rect">
            <a:avLst/>
          </a:prstGeom>
          <a:solidFill>
            <a:schemeClr val="accent2"/>
          </a:solidFill>
          <a:ln w="12700">
            <a:solidFill>
              <a:schemeClr val="accent2"/>
            </a:solidFill>
            <a:prstDash val="solid"/>
          </a:ln>
        </p:spPr>
      </p:sp>
      <p:sp>
        <p:nvSpPr>
          <p:cNvPr id="24" name="Text 20"/>
          <p:cNvSpPr txBox="1"/>
          <p:nvPr/>
        </p:nvSpPr>
        <p:spPr>
          <a:xfrm>
            <a:off x="658368" y="3986784"/>
            <a:ext cx="3200400" cy="548640"/>
          </a:xfrm>
          <a:prstGeom prst="rect">
            <a:avLst/>
          </a:prstGeom>
          <a:noFill/>
          <a:ln/>
        </p:spPr>
        <p:txBody>
          <a:bodyPr wrap="square" lIns="0" tIns="0" rIns="0" bIns="0" rtlCol="0" anchor="ctr"/>
          <a:lstStyle/>
          <a:p>
            <a:pPr indent="0" marL="0">
              <a:buNone/>
            </a:pPr>
            <a:r>
              <a:rPr lang="en-US" sz="1200" b="1" dirty="0">
                <a:solidFill>
                  <a:schemeClr val="tx2"/>
                </a:solidFill>
              </a:rPr>
              <a:t>MySQL or SQLite?</a:t>
            </a:r>
            <a:endParaRPr lang="en-US" sz="1200" dirty="0"/>
          </a:p>
        </p:txBody>
      </p:sp>
      <p:sp>
        <p:nvSpPr>
          <p:cNvPr id="25" name="Text 21"/>
          <p:cNvSpPr txBox="1"/>
          <p:nvPr/>
        </p:nvSpPr>
        <p:spPr>
          <a:xfrm>
            <a:off x="3931920" y="3986784"/>
            <a:ext cx="4663440" cy="548640"/>
          </a:xfrm>
          <a:prstGeom prst="rect">
            <a:avLst/>
          </a:prstGeom>
          <a:noFill/>
          <a:ln/>
        </p:spPr>
        <p:txBody>
          <a:bodyPr wrap="square" lIns="0" tIns="0" rIns="0" bIns="0" rtlCol="0" anchor="ctr"/>
          <a:lstStyle/>
          <a:p>
            <a:pPr indent="0" marL="0">
              <a:buNone/>
            </a:pPr>
            <a:r>
              <a:rPr lang="en-US" sz="1150" dirty="0">
                <a:solidFill>
                  <a:schemeClr val="tx1"/>
                </a:solidFill>
              </a:rPr>
              <a:t>Both: 74 tests on SQLite and 11 on a real MySQL 8.0.46. The app defaults to SQLite.</a:t>
            </a:r>
            <a:endParaRPr lang="en-US" sz="11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tx2"/>
                </a:solidFill>
              </a:rPr>
              <a:t>References</a:t>
            </a:r>
            <a:endParaRPr lang="en-US" sz="3000" dirty="0"/>
          </a:p>
        </p:txBody>
      </p:sp>
      <p:sp>
        <p:nvSpPr>
          <p:cNvPr id="4" name="Shape 1"/>
          <p:cNvSpPr/>
          <p:nvPr/>
        </p:nvSpPr>
        <p:spPr>
          <a:xfrm>
            <a:off x="457200" y="274320"/>
            <a:ext cx="603504" cy="603504"/>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Shape 2"/>
          <p:cNvSpPr/>
          <p:nvPr/>
        </p:nvSpPr>
        <p:spPr>
          <a:xfrm>
            <a:off x="457200" y="1143000"/>
            <a:ext cx="8229600" cy="2926080"/>
          </a:xfrm>
          <a:prstGeom prst="roundRect">
            <a:avLst>
              <a:gd name="adj" fmla="val 2500"/>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7" name="Text 3"/>
          <p:cNvSpPr txBox="1"/>
          <p:nvPr/>
        </p:nvSpPr>
        <p:spPr>
          <a:xfrm>
            <a:off x="685800" y="1234440"/>
            <a:ext cx="7772400" cy="274320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250" dirty="0">
                <a:solidFill>
                  <a:schemeClr val="tx1"/>
                </a:solidFill>
              </a:rPr>
              <a:t>Flask documentation, Pallets Projects: flask.palletsprojects.com</a:t>
            </a:r>
            <a:endParaRPr lang="en-US" sz="1250" dirty="0"/>
          </a:p>
          <a:p>
            <a:pPr marL="342900" indent="-342900">
              <a:spcAft>
                <a:spcPts val="400"/>
              </a:spcAft>
              <a:buSzPct val="100000"/>
              <a:buFont typeface="+mj-lt"/>
              <a:buAutoNum type="arabicPeriod" startAt="1"/>
            </a:pPr>
            <a:r>
              <a:rPr lang="en-US" sz="1250" dirty="0">
                <a:solidFill>
                  <a:schemeClr val="tx1"/>
                </a:solidFill>
              </a:rPr>
              <a:t>SQLite documentation: sqlite.org/docs.html</a:t>
            </a:r>
            <a:endParaRPr lang="en-US" sz="1250" dirty="0"/>
          </a:p>
          <a:p>
            <a:pPr marL="342900" indent="-342900">
              <a:spcAft>
                <a:spcPts val="400"/>
              </a:spcAft>
              <a:buSzPct val="100000"/>
              <a:buFont typeface="+mj-lt"/>
              <a:buAutoNum type="arabicPeriod" startAt="1"/>
            </a:pPr>
            <a:r>
              <a:rPr lang="en-US" sz="1250" dirty="0">
                <a:solidFill>
                  <a:schemeClr val="tx1"/>
                </a:solidFill>
              </a:rPr>
              <a:t>MySQL 8.0 Reference Manual, Oracle: dev.mysql.com/doc</a:t>
            </a:r>
            <a:endParaRPr lang="en-US" sz="1250" dirty="0"/>
          </a:p>
          <a:p>
            <a:pPr marL="342900" indent="-342900">
              <a:spcAft>
                <a:spcPts val="400"/>
              </a:spcAft>
              <a:buSzPct val="100000"/>
              <a:buFont typeface="+mj-lt"/>
              <a:buAutoNum type="arabicPeriod" startAt="1"/>
            </a:pPr>
            <a:r>
              <a:rPr lang="en-US" sz="1250" dirty="0">
                <a:solidFill>
                  <a:schemeClr val="tx1"/>
                </a:solidFill>
              </a:rPr>
              <a:t>PyMySQL documentation: pymysql.readthedocs.io</a:t>
            </a:r>
            <a:endParaRPr lang="en-US" sz="1250" dirty="0"/>
          </a:p>
          <a:p>
            <a:pPr marL="342900" indent="-342900">
              <a:spcAft>
                <a:spcPts val="400"/>
              </a:spcAft>
              <a:buSzPct val="100000"/>
              <a:buFont typeface="+mj-lt"/>
              <a:buAutoNum type="arabicPeriod" startAt="1"/>
            </a:pPr>
            <a:r>
              <a:rPr lang="en-US" sz="1250" dirty="0">
                <a:solidFill>
                  <a:schemeClr val="tx1"/>
                </a:solidFill>
              </a:rPr>
              <a:t>Bootstrap 5 and Bootstrap Icons documentation: getbootstrap.com</a:t>
            </a:r>
            <a:endParaRPr lang="en-US" sz="1250" dirty="0"/>
          </a:p>
          <a:p>
            <a:pPr marL="342900" indent="-342900">
              <a:spcAft>
                <a:spcPts val="400"/>
              </a:spcAft>
              <a:buSzPct val="100000"/>
              <a:buFont typeface="+mj-lt"/>
              <a:buAutoNum type="arabicPeriod" startAt="1"/>
            </a:pPr>
            <a:r>
              <a:rPr lang="en-US" sz="1250" dirty="0">
                <a:solidFill>
                  <a:schemeClr val="tx1"/>
                </a:solidFill>
              </a:rPr>
              <a:t>Chart.js documentation: chartjs.org</a:t>
            </a:r>
            <a:endParaRPr lang="en-US" sz="1250" dirty="0"/>
          </a:p>
          <a:p>
            <a:pPr marL="342900" indent="-342900">
              <a:spcAft>
                <a:spcPts val="400"/>
              </a:spcAft>
              <a:buSzPct val="100000"/>
              <a:buFont typeface="+mj-lt"/>
              <a:buAutoNum type="arabicPeriod" startAt="1"/>
            </a:pPr>
            <a:r>
              <a:rPr lang="en-US" sz="1250" dirty="0">
                <a:solidFill>
                  <a:schemeClr val="tx1"/>
                </a:solidFill>
              </a:rPr>
              <a:t>R. Elmasri and S. Navathe, Fundamentals of Database Systems, Pearson</a:t>
            </a:r>
            <a:endParaRPr lang="en-US" sz="1250" dirty="0"/>
          </a:p>
          <a:p>
            <a:pPr marL="342900" indent="-342900">
              <a:spcAft>
                <a:spcPts val="400"/>
              </a:spcAft>
              <a:buSzPct val="100000"/>
              <a:buFont typeface="+mj-lt"/>
              <a:buAutoNum type="arabicPeriod" startAt="1"/>
            </a:pPr>
            <a:r>
              <a:rPr lang="en-US" sz="1250" dirty="0">
                <a:solidFill>
                  <a:schemeClr val="tx1"/>
                </a:solidFill>
              </a:rPr>
              <a:t>A. Silberschatz, H. Korth and S. Sudarshan, Database System Concepts, McGraw-Hill</a:t>
            </a:r>
            <a:endParaRPr lang="en-US" sz="1250" dirty="0"/>
          </a:p>
          <a:p>
            <a:pPr marL="342900" indent="-342900">
              <a:spcAft>
                <a:spcPts val="400"/>
              </a:spcAft>
              <a:buSzPct val="100000"/>
              <a:buFont typeface="+mj-lt"/>
              <a:buAutoNum type="arabicPeriod" startAt="1"/>
            </a:pPr>
            <a:r>
              <a:rPr lang="en-US" sz="1250" dirty="0">
                <a:solidFill>
                  <a:schemeClr val="tx1"/>
                </a:solidFill>
              </a:rPr>
              <a:t>Project 36 Review 1 presentation (problem, objectives, ER, initial schema)</a:t>
            </a:r>
            <a:endParaRPr lang="en-US" sz="1250" dirty="0"/>
          </a:p>
        </p:txBody>
      </p:sp>
      <p:sp>
        <p:nvSpPr>
          <p:cNvPr id="8" name="Shape 4"/>
          <p:cNvSpPr/>
          <p:nvPr/>
        </p:nvSpPr>
        <p:spPr>
          <a:xfrm>
            <a:off x="457200" y="4160520"/>
            <a:ext cx="8229600" cy="502920"/>
          </a:xfrm>
          <a:prstGeom prst="roundRect">
            <a:avLst>
              <a:gd name="adj" fmla="val 14545"/>
            </a:avLst>
          </a:prstGeom>
          <a:solidFill>
            <a:schemeClr val="bg1"/>
          </a:solidFill>
          <a:ln w="9525">
            <a:solidFill>
              <a:srgbClr val="D9E2F5"/>
            </a:solidFill>
            <a:prstDash val="solid"/>
          </a:ln>
          <a:effectLst>
            <a:outerShdw sx="100000" sy="100000" kx="0" ky="0" algn="bl" rotWithShape="0" blurRad="76200" dist="25400" dir="5400000">
              <a:srgbClr val="141B41">
                <a:alpha val="12000"/>
              </a:srgbClr>
            </a:outerShdw>
          </a:effectLst>
        </p:spPr>
      </p:sp>
      <p:sp>
        <p:nvSpPr>
          <p:cNvPr id="9" name="Text 5"/>
          <p:cNvSpPr txBox="1"/>
          <p:nvPr/>
        </p:nvSpPr>
        <p:spPr>
          <a:xfrm>
            <a:off x="640080" y="4178808"/>
            <a:ext cx="7863840" cy="457200"/>
          </a:xfrm>
          <a:prstGeom prst="rect">
            <a:avLst/>
          </a:prstGeom>
          <a:noFill/>
          <a:ln/>
        </p:spPr>
        <p:txBody>
          <a:bodyPr wrap="square" lIns="0" tIns="0" rIns="0" bIns="0" rtlCol="0" anchor="ctr"/>
          <a:lstStyle/>
          <a:p>
            <a:pPr indent="0" marL="0">
              <a:buNone/>
            </a:pPr>
            <a:r>
              <a:rPr lang="en-US" sz="1200" i="1" dirty="0">
                <a:solidFill>
                  <a:schemeClr val="tx1"/>
                </a:solidFill>
              </a:rPr>
              <a:t>Deduction rates are illustrative and not sourced from statutory documents.</a:t>
            </a:r>
            <a:endParaRPr lang="en-US" sz="12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1188720" y="256032"/>
            <a:ext cx="7498080" cy="640080"/>
          </a:xfrm>
          <a:prstGeom prst="rect">
            <a:avLst/>
          </a:prstGeom>
          <a:noFill/>
          <a:ln/>
        </p:spPr>
        <p:txBody>
          <a:bodyPr wrap="square" lIns="0" tIns="0" rIns="0" bIns="0" rtlCol="0" anchor="ctr"/>
          <a:lstStyle/>
          <a:p>
            <a:pPr algn="l" indent="0" marL="0">
              <a:buNone/>
            </a:pPr>
            <a:r>
              <a:rPr lang="en-US" sz="3000" b="1" dirty="0">
                <a:solidFill>
                  <a:schemeClr val="bg1"/>
                </a:solidFill>
              </a:rPr>
              <a:t>Thank You</a:t>
            </a:r>
            <a:endParaRPr lang="en-US" sz="3000" dirty="0"/>
          </a:p>
        </p:txBody>
      </p:sp>
      <p:sp>
        <p:nvSpPr>
          <p:cNvPr id="4" name="Shape 1"/>
          <p:cNvSpPr/>
          <p:nvPr/>
        </p:nvSpPr>
        <p:spPr>
          <a:xfrm>
            <a:off x="457200" y="274320"/>
            <a:ext cx="603504" cy="603504"/>
          </a:xfrm>
          <a:prstGeom prst="ellipse">
            <a:avLst/>
          </a:prstGeom>
          <a:solidFill>
            <a:schemeClr val="accent2"/>
          </a:solidFill>
          <a:ln w="12700">
            <a:solidFill>
              <a:schemeClr val="accent2"/>
            </a:solidFill>
            <a:prstDash val="solid"/>
          </a:ln>
        </p:spPr>
      </p:sp>
      <p:pic>
        <p:nvPicPr>
          <p:cNvPr id="5" name="Image 0" descr="preencoded.png">    </p:cNvPr>
          <p:cNvPicPr>
            <a:picLocks noChangeAspect="1"/>
          </p:cNvPicPr>
          <p:nvPr/>
        </p:nvPicPr>
        <p:blipFill>
          <a:blip r:embed="rId1"/>
          <a:stretch>
            <a:fillRect/>
          </a:stretch>
        </p:blipFill>
        <p:spPr>
          <a:xfrm>
            <a:off x="614111" y="431231"/>
            <a:ext cx="289682" cy="289682"/>
          </a:xfrm>
          <a:prstGeom prst="rect">
            <a:avLst/>
          </a:prstGeom>
        </p:spPr>
      </p:pic>
      <p:sp>
        <p:nvSpPr>
          <p:cNvPr id="6" name="Text 2"/>
          <p:cNvSpPr txBox="1"/>
          <p:nvPr/>
        </p:nvSpPr>
        <p:spPr>
          <a:xfrm>
            <a:off x="457200" y="1371600"/>
            <a:ext cx="8229600" cy="1097280"/>
          </a:xfrm>
          <a:prstGeom prst="rect">
            <a:avLst/>
          </a:prstGeom>
          <a:noFill/>
          <a:ln/>
        </p:spPr>
        <p:txBody>
          <a:bodyPr wrap="square" lIns="0" tIns="0" rIns="0" bIns="0" rtlCol="0" anchor="ctr"/>
          <a:lstStyle/>
          <a:p>
            <a:pPr algn="ctr" indent="0" marL="0">
              <a:buNone/>
            </a:pPr>
            <a:r>
              <a:rPr lang="en-US" sz="5400" b="1" dirty="0">
                <a:solidFill>
                  <a:schemeClr val="bg1"/>
                </a:solidFill>
                <a:latin typeface="Cambria" pitchFamily="34" charset="0"/>
                <a:ea typeface="Cambria" pitchFamily="34" charset="-122"/>
                <a:cs typeface="Cambria" pitchFamily="34" charset="-120"/>
              </a:rPr>
              <a:t>Thank You</a:t>
            </a:r>
            <a:endParaRPr lang="en-US" sz="5400" dirty="0"/>
          </a:p>
        </p:txBody>
      </p:sp>
      <p:sp>
        <p:nvSpPr>
          <p:cNvPr id="7" name="Text 3"/>
          <p:cNvSpPr txBox="1"/>
          <p:nvPr/>
        </p:nvSpPr>
        <p:spPr>
          <a:xfrm>
            <a:off x="457200" y="2514600"/>
            <a:ext cx="8229600" cy="457200"/>
          </a:xfrm>
          <a:prstGeom prst="rect">
            <a:avLst/>
          </a:prstGeom>
          <a:noFill/>
          <a:ln/>
        </p:spPr>
        <p:txBody>
          <a:bodyPr wrap="square" lIns="0" tIns="0" rIns="0" bIns="0" rtlCol="0" anchor="t"/>
          <a:lstStyle/>
          <a:p>
            <a:pPr algn="ctr" indent="0" marL="0">
              <a:buNone/>
            </a:pPr>
            <a:r>
              <a:rPr lang="en-US" sz="2000" i="1" dirty="0">
                <a:solidFill>
                  <a:schemeClr val="accent2"/>
                </a:solidFill>
              </a:rPr>
              <a:t>Questions and live demonstration</a:t>
            </a:r>
            <a:endParaRPr lang="en-US" sz="2000" dirty="0"/>
          </a:p>
        </p:txBody>
      </p:sp>
      <p:sp>
        <p:nvSpPr>
          <p:cNvPr id="8" name="Shape 4"/>
          <p:cNvSpPr/>
          <p:nvPr/>
        </p:nvSpPr>
        <p:spPr>
          <a:xfrm>
            <a:off x="1828800" y="3291840"/>
            <a:ext cx="5486400" cy="1097280"/>
          </a:xfrm>
          <a:prstGeom prst="roundRect">
            <a:avLst>
              <a:gd name="adj" fmla="val 6667"/>
            </a:avLst>
          </a:prstGeom>
          <a:solidFill>
            <a:schemeClr val="accent3"/>
          </a:solidFill>
          <a:ln w="12700">
            <a:solidFill>
              <a:schemeClr val="accent3"/>
            </a:solidFill>
            <a:prstDash val="solid"/>
          </a:ln>
        </p:spPr>
      </p:sp>
      <p:sp>
        <p:nvSpPr>
          <p:cNvPr id="9" name="Text 5"/>
          <p:cNvSpPr txBox="1"/>
          <p:nvPr/>
        </p:nvSpPr>
        <p:spPr>
          <a:xfrm>
            <a:off x="1828800" y="3337560"/>
            <a:ext cx="5486400" cy="1005840"/>
          </a:xfrm>
          <a:prstGeom prst="rect">
            <a:avLst/>
          </a:prstGeom>
          <a:noFill/>
          <a:ln/>
        </p:spPr>
        <p:txBody>
          <a:bodyPr wrap="square" lIns="0" tIns="0" rIns="0" bIns="0" rtlCol="0" anchor="ctr"/>
          <a:lstStyle/>
          <a:p>
            <a:pPr algn="ctr" indent="0" marL="0">
              <a:buNone/>
            </a:pPr>
            <a:r>
              <a:rPr lang="en-US" sz="1800" b="1" dirty="0">
                <a:solidFill>
                  <a:schemeClr val="accent2"/>
                </a:solidFill>
              </a:rPr>
              <a:t>G MADHAN   25WU0102344</a:t>
            </a:r>
            <a:endParaRPr lang="en-US" sz="1800" dirty="0"/>
          </a:p>
          <a:p>
            <a:pPr algn="ctr" indent="0" marL="0">
              <a:buNone/>
            </a:pPr>
            <a:r>
              <a:rPr lang="en-US" sz="1400" dirty="0">
                <a:solidFill>
                  <a:schemeClr val="bg1"/>
                </a:solidFill>
              </a:rPr>
              <a:t>AI ML RHINOS</a:t>
            </a:r>
            <a:endParaRPr lang="en-US" sz="18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1" lang="en-US"/>
              <a:t>26</a:t>
            </a:fld>
            <a:endParaRPr lang="en-US"/>
          </a:p>
        </p:txBody>
      </p:sp>
    </p:spTree>
  </p:cSld>
  <p:clrMapOvr>
    <a:masterClrMapping/>
  </p:clrMapOvr>
</p:sld>
</file>

<file path=ppt/theme/theme1.xml><?xml version="1.0" encoding="utf-8"?>
<a:theme xmlns:a="http://schemas.openxmlformats.org/drawingml/2006/main" name="Payroll Review">
  <a:themeElements>
    <a:clrScheme name="Payroll Review">
      <a:dk1>
        <a:srgbClr val="1B2146"/>
      </a:dk1>
      <a:lt1>
        <a:srgbClr val="FFFFFF"/>
      </a:lt1>
      <a:dk2>
        <a:srgbClr val="141B41"/>
      </a:dk2>
      <a:lt2>
        <a:srgbClr val="F2F5FC"/>
      </a:lt2>
      <a:accent1>
        <a:srgbClr val="3D5A9B"/>
      </a:accent1>
      <a:accent2>
        <a:srgbClr val="C9971C"/>
      </a:accent2>
      <a:accent3>
        <a:srgbClr val="1E2761"/>
      </a:accent3>
      <a:accent4>
        <a:srgbClr val="8AA4D6"/>
      </a:accent4>
      <a:accent5>
        <a:srgbClr val="16643A"/>
      </a:accent5>
      <a:accent6>
        <a:srgbClr val="B3261E"/>
      </a:accent6>
      <a:hlink>
        <a:srgbClr val="3D5A9B"/>
      </a:hlink>
      <a:folHlink>
        <a:srgbClr val="1E2761"/>
      </a:folHlink>
    </a:clrScheme>
    <a:fontScheme name="Payroll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36 - DBMS Review 3</dc:title>
  <dc:subject>DBMS Project 36 - Employee Payroll and Statutory Deduction Management System</dc:subject>
  <dc:creator>G Madhan (25WU0102344)</dc:creator>
  <cp:lastModifiedBy>G Madhan (25WU0102344)</cp:lastModifiedBy>
  <cp:revision>1</cp:revision>
  <dcterms:created xsi:type="dcterms:W3CDTF">2026-10-15T07:50:38Z</dcterms:created>
  <dcterms:modified xsi:type="dcterms:W3CDTF">2026-10-15T07:50:38Z</dcterms:modified>
</cp:coreProperties>
</file>